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85" r:id="rId2"/>
  </p:sldMasterIdLst>
  <p:handoutMasterIdLst>
    <p:handoutMasterId r:id="rId23"/>
  </p:handoutMasterIdLst>
  <p:sldIdLst>
    <p:sldId id="256" r:id="rId3"/>
    <p:sldId id="269" r:id="rId4"/>
    <p:sldId id="270" r:id="rId5"/>
    <p:sldId id="279" r:id="rId6"/>
    <p:sldId id="278" r:id="rId7"/>
    <p:sldId id="271" r:id="rId8"/>
    <p:sldId id="272" r:id="rId9"/>
    <p:sldId id="273" r:id="rId10"/>
    <p:sldId id="274" r:id="rId11"/>
    <p:sldId id="275" r:id="rId12"/>
    <p:sldId id="276" r:id="rId13"/>
    <p:sldId id="277" r:id="rId14"/>
    <p:sldId id="257" r:id="rId15"/>
    <p:sldId id="280" r:id="rId16"/>
    <p:sldId id="281" r:id="rId17"/>
    <p:sldId id="262" r:id="rId18"/>
    <p:sldId id="258" r:id="rId19"/>
    <p:sldId id="263" r:id="rId20"/>
    <p:sldId id="264" r:id="rId21"/>
    <p:sldId id="266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ay 0" id="{1D16D1DA-ACAD-4E10-B283-AADBC3F5CDBD}">
          <p14:sldIdLst>
            <p14:sldId id="256"/>
          </p14:sldIdLst>
        </p14:section>
        <p14:section name="Introduction to Proteomics" id="{009DB6D5-D618-4EE1-9400-4D6CB9DB5524}">
          <p14:sldIdLst>
            <p14:sldId id="269"/>
            <p14:sldId id="270"/>
            <p14:sldId id="279"/>
            <p14:sldId id="278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Why R for Proteomics?" id="{BE54181E-1A31-4CBB-9345-522D443F5CD2}">
          <p14:sldIdLst>
            <p14:sldId id="257"/>
            <p14:sldId id="280"/>
            <p14:sldId id="281"/>
          </p14:sldIdLst>
        </p14:section>
        <p14:section name="Day 1" id="{DDFC6817-248C-4506-BF7B-72F113843825}">
          <p14:sldIdLst>
            <p14:sldId id="262"/>
          </p14:sldIdLst>
        </p14:section>
        <p14:section name="Day 2" id="{242C94B5-5723-4560-AC01-F8C2AEC294E4}">
          <p14:sldIdLst>
            <p14:sldId id="258"/>
          </p14:sldIdLst>
        </p14:section>
        <p14:section name="Day 3" id="{DBDF1725-7FEC-4A1C-9869-445A2D466A1E}">
          <p14:sldIdLst>
            <p14:sldId id="263"/>
          </p14:sldIdLst>
        </p14:section>
        <p14:section name="Day 4" id="{FCD4091A-B4AF-4ABB-B2D5-ACF1733E43E6}">
          <p14:sldIdLst>
            <p14:sldId id="264"/>
          </p14:sldIdLst>
        </p14:section>
        <p14:section name="Day 5" id="{0AEBB606-CEA4-4116-A7BE-9F75C924F278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99FF"/>
    <a:srgbClr val="CCFF66"/>
    <a:srgbClr val="6666FF"/>
    <a:srgbClr val="CCE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906" autoAdjust="0"/>
    <p:restoredTop sz="94660"/>
  </p:normalViewPr>
  <p:slideViewPr>
    <p:cSldViewPr snapToGrid="0" showGuides="1">
      <p:cViewPr varScale="1">
        <p:scale>
          <a:sx n="105" d="100"/>
          <a:sy n="105" d="100"/>
        </p:scale>
        <p:origin x="1122" y="9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84" d="100"/>
          <a:sy n="84" d="100"/>
        </p:scale>
        <p:origin x="391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theme" Target="theme/theme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presProps" Target="presProp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80C9003-8DC8-4681-8013-2E17C0F4D073}" type="doc">
      <dgm:prSet loTypeId="urn:microsoft.com/office/officeart/2005/8/layout/process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BF6A2854-6E66-4C4A-8EC7-2C1133BE5977}">
      <dgm:prSet phldrT="[Text]" phldr="0"/>
      <dgm:spPr/>
      <dgm:t>
        <a:bodyPr/>
        <a:lstStyle/>
        <a:p>
          <a:r>
            <a:rPr lang="en-US" dirty="0">
              <a:latin typeface="Fira Sans" panose="020B0503050000020004" pitchFamily="34" charset="0"/>
            </a:rPr>
            <a:t>Genomics</a:t>
          </a:r>
          <a:endParaRPr lang="en-GB" dirty="0">
            <a:latin typeface="Fira Sans" panose="020B0503050000020004" pitchFamily="34" charset="0"/>
          </a:endParaRPr>
        </a:p>
      </dgm:t>
    </dgm:pt>
    <dgm:pt modelId="{320780D8-1E72-4DF3-A83C-F61D33355BFF}" type="parTrans" cxnId="{4DA3DBA9-5AD6-4734-A5E2-25A2407B28E9}">
      <dgm:prSet/>
      <dgm:spPr/>
      <dgm:t>
        <a:bodyPr/>
        <a:lstStyle/>
        <a:p>
          <a:endParaRPr lang="en-GB">
            <a:latin typeface="Fira Sans" panose="020B0503050000020004" pitchFamily="34" charset="0"/>
          </a:endParaRPr>
        </a:p>
      </dgm:t>
    </dgm:pt>
    <dgm:pt modelId="{DA1C74D9-0D42-45A9-A41A-D1CA32E01369}" type="sibTrans" cxnId="{4DA3DBA9-5AD6-4734-A5E2-25A2407B28E9}">
      <dgm:prSet/>
      <dgm:spPr/>
      <dgm:t>
        <a:bodyPr/>
        <a:lstStyle/>
        <a:p>
          <a:endParaRPr lang="en-GB">
            <a:latin typeface="Fira Sans" panose="020B0503050000020004" pitchFamily="34" charset="0"/>
          </a:endParaRPr>
        </a:p>
      </dgm:t>
    </dgm:pt>
    <dgm:pt modelId="{F75F3B35-2872-470C-BFE2-BDEBD79CEA6C}">
      <dgm:prSet phldrT="[Text]" phldr="0"/>
      <dgm:spPr/>
      <dgm:t>
        <a:bodyPr/>
        <a:lstStyle/>
        <a:p>
          <a:r>
            <a:rPr lang="en-US" dirty="0">
              <a:latin typeface="Fira Sans" panose="020B0503050000020004" pitchFamily="34" charset="0"/>
            </a:rPr>
            <a:t>DNA Tells what is possible</a:t>
          </a:r>
          <a:endParaRPr lang="en-GB" dirty="0">
            <a:latin typeface="Fira Sans" panose="020B0503050000020004" pitchFamily="34" charset="0"/>
          </a:endParaRPr>
        </a:p>
      </dgm:t>
    </dgm:pt>
    <dgm:pt modelId="{AC8C69B5-B7A3-47F3-A086-8AB91389A4D7}" type="parTrans" cxnId="{6E848F5C-4253-448C-8D93-BFA9C46D3604}">
      <dgm:prSet/>
      <dgm:spPr/>
      <dgm:t>
        <a:bodyPr/>
        <a:lstStyle/>
        <a:p>
          <a:endParaRPr lang="en-GB">
            <a:latin typeface="Fira Sans" panose="020B0503050000020004" pitchFamily="34" charset="0"/>
          </a:endParaRPr>
        </a:p>
      </dgm:t>
    </dgm:pt>
    <dgm:pt modelId="{4B7463E8-3AAB-46F8-99A6-F9DEC4E731EB}" type="sibTrans" cxnId="{6E848F5C-4253-448C-8D93-BFA9C46D3604}">
      <dgm:prSet/>
      <dgm:spPr/>
      <dgm:t>
        <a:bodyPr/>
        <a:lstStyle/>
        <a:p>
          <a:endParaRPr lang="en-GB">
            <a:latin typeface="Fira Sans" panose="020B0503050000020004" pitchFamily="34" charset="0"/>
          </a:endParaRPr>
        </a:p>
      </dgm:t>
    </dgm:pt>
    <dgm:pt modelId="{11C83499-1F80-49D3-9D27-88787508EA5F}">
      <dgm:prSet phldrT="[Text]" phldr="0"/>
      <dgm:spPr/>
      <dgm:t>
        <a:bodyPr/>
        <a:lstStyle/>
        <a:p>
          <a:r>
            <a:rPr lang="en-US" dirty="0">
              <a:latin typeface="Fira Sans" panose="020B0503050000020004" pitchFamily="34" charset="0"/>
            </a:rPr>
            <a:t>Transcriptomics</a:t>
          </a:r>
          <a:endParaRPr lang="en-GB" dirty="0">
            <a:latin typeface="Fira Sans" panose="020B0503050000020004" pitchFamily="34" charset="0"/>
          </a:endParaRPr>
        </a:p>
      </dgm:t>
    </dgm:pt>
    <dgm:pt modelId="{245B8944-A5AF-4F05-A6C6-2A4EFF95D612}" type="parTrans" cxnId="{368A05F9-ADD3-4FF0-9F28-20D50D027450}">
      <dgm:prSet/>
      <dgm:spPr/>
      <dgm:t>
        <a:bodyPr/>
        <a:lstStyle/>
        <a:p>
          <a:endParaRPr lang="en-GB">
            <a:latin typeface="Fira Sans" panose="020B0503050000020004" pitchFamily="34" charset="0"/>
          </a:endParaRPr>
        </a:p>
      </dgm:t>
    </dgm:pt>
    <dgm:pt modelId="{4EFC835B-08D7-4BE1-BCDB-E685DE809400}" type="sibTrans" cxnId="{368A05F9-ADD3-4FF0-9F28-20D50D027450}">
      <dgm:prSet/>
      <dgm:spPr/>
      <dgm:t>
        <a:bodyPr/>
        <a:lstStyle/>
        <a:p>
          <a:endParaRPr lang="en-GB">
            <a:latin typeface="Fira Sans" panose="020B0503050000020004" pitchFamily="34" charset="0"/>
          </a:endParaRPr>
        </a:p>
      </dgm:t>
    </dgm:pt>
    <dgm:pt modelId="{9B061B92-BE56-40EB-980E-CD17CDAE9F53}">
      <dgm:prSet phldrT="[Text]" phldr="0"/>
      <dgm:spPr/>
      <dgm:t>
        <a:bodyPr/>
        <a:lstStyle/>
        <a:p>
          <a:r>
            <a:rPr lang="en-US" dirty="0">
              <a:latin typeface="Fira Sans" panose="020B0503050000020004" pitchFamily="34" charset="0"/>
            </a:rPr>
            <a:t>RNA  what is probable</a:t>
          </a:r>
          <a:endParaRPr lang="en-GB" dirty="0">
            <a:latin typeface="Fira Sans" panose="020B0503050000020004" pitchFamily="34" charset="0"/>
          </a:endParaRPr>
        </a:p>
      </dgm:t>
    </dgm:pt>
    <dgm:pt modelId="{44859338-67F5-4872-85FD-A4FF6035A095}" type="parTrans" cxnId="{0693DBF2-7AE0-460B-A528-FFE37743762A}">
      <dgm:prSet/>
      <dgm:spPr/>
      <dgm:t>
        <a:bodyPr/>
        <a:lstStyle/>
        <a:p>
          <a:endParaRPr lang="en-GB">
            <a:latin typeface="Fira Sans" panose="020B0503050000020004" pitchFamily="34" charset="0"/>
          </a:endParaRPr>
        </a:p>
      </dgm:t>
    </dgm:pt>
    <dgm:pt modelId="{BA4C8ECF-A61E-49A4-8312-46B124B7B9F9}" type="sibTrans" cxnId="{0693DBF2-7AE0-460B-A528-FFE37743762A}">
      <dgm:prSet/>
      <dgm:spPr/>
      <dgm:t>
        <a:bodyPr/>
        <a:lstStyle/>
        <a:p>
          <a:endParaRPr lang="en-GB">
            <a:latin typeface="Fira Sans" panose="020B0503050000020004" pitchFamily="34" charset="0"/>
          </a:endParaRPr>
        </a:p>
      </dgm:t>
    </dgm:pt>
    <dgm:pt modelId="{D9598EE5-A6F2-4162-8E7E-70198C2525A0}">
      <dgm:prSet phldrT="[Text]" phldr="0"/>
      <dgm:spPr/>
      <dgm:t>
        <a:bodyPr/>
        <a:lstStyle/>
        <a:p>
          <a:r>
            <a:rPr lang="en-US" dirty="0">
              <a:latin typeface="Fira Sans" panose="020B0503050000020004" pitchFamily="34" charset="0"/>
            </a:rPr>
            <a:t>Proteomics</a:t>
          </a:r>
          <a:endParaRPr lang="en-GB" dirty="0">
            <a:latin typeface="Fira Sans" panose="020B0503050000020004" pitchFamily="34" charset="0"/>
          </a:endParaRPr>
        </a:p>
      </dgm:t>
    </dgm:pt>
    <dgm:pt modelId="{53CE22DE-98ED-478B-BBC7-209165DC196B}" type="parTrans" cxnId="{32F17495-72AF-42C8-BE5A-B27E0A45CD57}">
      <dgm:prSet/>
      <dgm:spPr/>
      <dgm:t>
        <a:bodyPr/>
        <a:lstStyle/>
        <a:p>
          <a:endParaRPr lang="en-GB">
            <a:latin typeface="Fira Sans" panose="020B0503050000020004" pitchFamily="34" charset="0"/>
          </a:endParaRPr>
        </a:p>
      </dgm:t>
    </dgm:pt>
    <dgm:pt modelId="{72A63480-31DE-4FA6-8C6D-7B5C5A7D955F}" type="sibTrans" cxnId="{32F17495-72AF-42C8-BE5A-B27E0A45CD57}">
      <dgm:prSet/>
      <dgm:spPr/>
      <dgm:t>
        <a:bodyPr/>
        <a:lstStyle/>
        <a:p>
          <a:endParaRPr lang="en-GB">
            <a:latin typeface="Fira Sans" panose="020B0503050000020004" pitchFamily="34" charset="0"/>
          </a:endParaRPr>
        </a:p>
      </dgm:t>
    </dgm:pt>
    <dgm:pt modelId="{695EEA04-DF00-45BF-A788-AE540DAB38B8}">
      <dgm:prSet phldrT="[Text]" phldr="0"/>
      <dgm:spPr/>
      <dgm:t>
        <a:bodyPr/>
        <a:lstStyle/>
        <a:p>
          <a:r>
            <a:rPr lang="en-US" dirty="0">
              <a:latin typeface="Fira Sans" panose="020B0503050000020004" pitchFamily="34" charset="0"/>
            </a:rPr>
            <a:t>Proteins what actually happens</a:t>
          </a:r>
          <a:endParaRPr lang="en-GB" dirty="0">
            <a:latin typeface="Fira Sans" panose="020B0503050000020004" pitchFamily="34" charset="0"/>
          </a:endParaRPr>
        </a:p>
      </dgm:t>
    </dgm:pt>
    <dgm:pt modelId="{591D114B-C981-45B6-9B80-E6FEC23D2191}" type="parTrans" cxnId="{9F7C12D3-9EE2-48B9-BE81-B2DF6CAF7EC4}">
      <dgm:prSet/>
      <dgm:spPr/>
      <dgm:t>
        <a:bodyPr/>
        <a:lstStyle/>
        <a:p>
          <a:endParaRPr lang="en-GB">
            <a:latin typeface="Fira Sans" panose="020B0503050000020004" pitchFamily="34" charset="0"/>
          </a:endParaRPr>
        </a:p>
      </dgm:t>
    </dgm:pt>
    <dgm:pt modelId="{44B0C0EB-AC1B-4195-82C7-6302C7525DDD}" type="sibTrans" cxnId="{9F7C12D3-9EE2-48B9-BE81-B2DF6CAF7EC4}">
      <dgm:prSet/>
      <dgm:spPr/>
      <dgm:t>
        <a:bodyPr/>
        <a:lstStyle/>
        <a:p>
          <a:endParaRPr lang="en-GB">
            <a:latin typeface="Fira Sans" panose="020B0503050000020004" pitchFamily="34" charset="0"/>
          </a:endParaRPr>
        </a:p>
      </dgm:t>
    </dgm:pt>
    <dgm:pt modelId="{042FB214-D9E4-45A8-81A8-9F1D921F1D90}" type="pres">
      <dgm:prSet presAssocID="{680C9003-8DC8-4681-8013-2E17C0F4D073}" presName="linearFlow" presStyleCnt="0">
        <dgm:presLayoutVars>
          <dgm:dir/>
          <dgm:animLvl val="lvl"/>
          <dgm:resizeHandles val="exact"/>
        </dgm:presLayoutVars>
      </dgm:prSet>
      <dgm:spPr/>
    </dgm:pt>
    <dgm:pt modelId="{3758F734-819A-4914-AB3C-A15C3A5DC22A}" type="pres">
      <dgm:prSet presAssocID="{BF6A2854-6E66-4C4A-8EC7-2C1133BE5977}" presName="composite" presStyleCnt="0"/>
      <dgm:spPr/>
    </dgm:pt>
    <dgm:pt modelId="{4EDD6120-3400-4DD2-AC20-C7B3280247FE}" type="pres">
      <dgm:prSet presAssocID="{BF6A2854-6E66-4C4A-8EC7-2C1133BE5977}" presName="par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89A92D7F-2EC2-4868-A6DD-E8F6D118245B}" type="pres">
      <dgm:prSet presAssocID="{BF6A2854-6E66-4C4A-8EC7-2C1133BE5977}" presName="parSh" presStyleLbl="node1" presStyleIdx="0" presStyleCnt="3"/>
      <dgm:spPr/>
    </dgm:pt>
    <dgm:pt modelId="{6C3F27B8-E7BF-402A-89CF-43870D0760BA}" type="pres">
      <dgm:prSet presAssocID="{BF6A2854-6E66-4C4A-8EC7-2C1133BE5977}" presName="desTx" presStyleLbl="fgAcc1" presStyleIdx="0" presStyleCnt="3">
        <dgm:presLayoutVars>
          <dgm:bulletEnabled val="1"/>
        </dgm:presLayoutVars>
      </dgm:prSet>
      <dgm:spPr/>
    </dgm:pt>
    <dgm:pt modelId="{30D05494-0256-4685-B2E3-3972B43097D8}" type="pres">
      <dgm:prSet presAssocID="{DA1C74D9-0D42-45A9-A41A-D1CA32E01369}" presName="sibTrans" presStyleLbl="sibTrans2D1" presStyleIdx="0" presStyleCnt="2"/>
      <dgm:spPr/>
    </dgm:pt>
    <dgm:pt modelId="{9FADBCE9-B95E-4A1C-9331-16295022841F}" type="pres">
      <dgm:prSet presAssocID="{DA1C74D9-0D42-45A9-A41A-D1CA32E01369}" presName="connTx" presStyleLbl="sibTrans2D1" presStyleIdx="0" presStyleCnt="2"/>
      <dgm:spPr/>
    </dgm:pt>
    <dgm:pt modelId="{C930CB3D-3031-47E0-ADB9-71CA98CF6C31}" type="pres">
      <dgm:prSet presAssocID="{11C83499-1F80-49D3-9D27-88787508EA5F}" presName="composite" presStyleCnt="0"/>
      <dgm:spPr/>
    </dgm:pt>
    <dgm:pt modelId="{FD76CD0A-AB84-46CF-A02C-FAB241FB2DE1}" type="pres">
      <dgm:prSet presAssocID="{11C83499-1F80-49D3-9D27-88787508EA5F}" presName="par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9F5C4C2E-8FF3-4406-91AB-EAB07D1B1979}" type="pres">
      <dgm:prSet presAssocID="{11C83499-1F80-49D3-9D27-88787508EA5F}" presName="parSh" presStyleLbl="node1" presStyleIdx="1" presStyleCnt="3"/>
      <dgm:spPr/>
    </dgm:pt>
    <dgm:pt modelId="{85EDB52D-D114-40A6-8C94-B784F6E73FBF}" type="pres">
      <dgm:prSet presAssocID="{11C83499-1F80-49D3-9D27-88787508EA5F}" presName="desTx" presStyleLbl="fgAcc1" presStyleIdx="1" presStyleCnt="3">
        <dgm:presLayoutVars>
          <dgm:bulletEnabled val="1"/>
        </dgm:presLayoutVars>
      </dgm:prSet>
      <dgm:spPr/>
    </dgm:pt>
    <dgm:pt modelId="{C92655EA-F9BC-4810-8D5B-A5321AABFFF8}" type="pres">
      <dgm:prSet presAssocID="{4EFC835B-08D7-4BE1-BCDB-E685DE809400}" presName="sibTrans" presStyleLbl="sibTrans2D1" presStyleIdx="1" presStyleCnt="2"/>
      <dgm:spPr/>
    </dgm:pt>
    <dgm:pt modelId="{1E1F9C64-4C15-43B5-9C79-FF25C4AFF313}" type="pres">
      <dgm:prSet presAssocID="{4EFC835B-08D7-4BE1-BCDB-E685DE809400}" presName="connTx" presStyleLbl="sibTrans2D1" presStyleIdx="1" presStyleCnt="2"/>
      <dgm:spPr/>
    </dgm:pt>
    <dgm:pt modelId="{13BC6669-CDFF-4307-A0CD-D6A9D549A70E}" type="pres">
      <dgm:prSet presAssocID="{D9598EE5-A6F2-4162-8E7E-70198C2525A0}" presName="composite" presStyleCnt="0"/>
      <dgm:spPr/>
    </dgm:pt>
    <dgm:pt modelId="{7531D712-08E1-4CFD-9F99-5FC357CBF74E}" type="pres">
      <dgm:prSet presAssocID="{D9598EE5-A6F2-4162-8E7E-70198C2525A0}" presName="par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FF29BB00-53D8-4B85-AC11-2EAAAA084783}" type="pres">
      <dgm:prSet presAssocID="{D9598EE5-A6F2-4162-8E7E-70198C2525A0}" presName="parSh" presStyleLbl="node1" presStyleIdx="2" presStyleCnt="3"/>
      <dgm:spPr/>
    </dgm:pt>
    <dgm:pt modelId="{A3451F05-A3FE-4804-B721-F2F914896671}" type="pres">
      <dgm:prSet presAssocID="{D9598EE5-A6F2-4162-8E7E-70198C2525A0}" presName="desTx" presStyleLbl="fgAcc1" presStyleIdx="2" presStyleCnt="3">
        <dgm:presLayoutVars>
          <dgm:bulletEnabled val="1"/>
        </dgm:presLayoutVars>
      </dgm:prSet>
      <dgm:spPr/>
    </dgm:pt>
  </dgm:ptLst>
  <dgm:cxnLst>
    <dgm:cxn modelId="{AF3E6800-9189-4633-BBD9-8E4423A351A9}" type="presOf" srcId="{DA1C74D9-0D42-45A9-A41A-D1CA32E01369}" destId="{9FADBCE9-B95E-4A1C-9331-16295022841F}" srcOrd="1" destOrd="0" presId="urn:microsoft.com/office/officeart/2005/8/layout/process3"/>
    <dgm:cxn modelId="{D5DE4B00-770E-4CC0-A822-C8AB34FD303D}" type="presOf" srcId="{680C9003-8DC8-4681-8013-2E17C0F4D073}" destId="{042FB214-D9E4-45A8-81A8-9F1D921F1D90}" srcOrd="0" destOrd="0" presId="urn:microsoft.com/office/officeart/2005/8/layout/process3"/>
    <dgm:cxn modelId="{A0985902-79FC-4BE7-BF1E-1664CEBF2C2F}" type="presOf" srcId="{4EFC835B-08D7-4BE1-BCDB-E685DE809400}" destId="{1E1F9C64-4C15-43B5-9C79-FF25C4AFF313}" srcOrd="1" destOrd="0" presId="urn:microsoft.com/office/officeart/2005/8/layout/process3"/>
    <dgm:cxn modelId="{7964840B-C644-45D5-A0F6-35F7B997BEA8}" type="presOf" srcId="{11C83499-1F80-49D3-9D27-88787508EA5F}" destId="{FD76CD0A-AB84-46CF-A02C-FAB241FB2DE1}" srcOrd="0" destOrd="0" presId="urn:microsoft.com/office/officeart/2005/8/layout/process3"/>
    <dgm:cxn modelId="{6CADFA0F-7119-4159-9BA8-C46A0CCC6419}" type="presOf" srcId="{F75F3B35-2872-470C-BFE2-BDEBD79CEA6C}" destId="{6C3F27B8-E7BF-402A-89CF-43870D0760BA}" srcOrd="0" destOrd="0" presId="urn:microsoft.com/office/officeart/2005/8/layout/process3"/>
    <dgm:cxn modelId="{57456E1B-FA47-47D4-85E9-E1329710B74C}" type="presOf" srcId="{D9598EE5-A6F2-4162-8E7E-70198C2525A0}" destId="{FF29BB00-53D8-4B85-AC11-2EAAAA084783}" srcOrd="1" destOrd="0" presId="urn:microsoft.com/office/officeart/2005/8/layout/process3"/>
    <dgm:cxn modelId="{0254FC2D-FB19-451F-9829-C292634BBA69}" type="presOf" srcId="{695EEA04-DF00-45BF-A788-AE540DAB38B8}" destId="{A3451F05-A3FE-4804-B721-F2F914896671}" srcOrd="0" destOrd="0" presId="urn:microsoft.com/office/officeart/2005/8/layout/process3"/>
    <dgm:cxn modelId="{13F4FB3C-DE71-4479-942A-3154FD755682}" type="presOf" srcId="{DA1C74D9-0D42-45A9-A41A-D1CA32E01369}" destId="{30D05494-0256-4685-B2E3-3972B43097D8}" srcOrd="0" destOrd="0" presId="urn:microsoft.com/office/officeart/2005/8/layout/process3"/>
    <dgm:cxn modelId="{6E848F5C-4253-448C-8D93-BFA9C46D3604}" srcId="{BF6A2854-6E66-4C4A-8EC7-2C1133BE5977}" destId="{F75F3B35-2872-470C-BFE2-BDEBD79CEA6C}" srcOrd="0" destOrd="0" parTransId="{AC8C69B5-B7A3-47F3-A086-8AB91389A4D7}" sibTransId="{4B7463E8-3AAB-46F8-99A6-F9DEC4E731EB}"/>
    <dgm:cxn modelId="{E7506C41-9270-4DE6-B9F1-946D27D431A5}" type="presOf" srcId="{4EFC835B-08D7-4BE1-BCDB-E685DE809400}" destId="{C92655EA-F9BC-4810-8D5B-A5321AABFFF8}" srcOrd="0" destOrd="0" presId="urn:microsoft.com/office/officeart/2005/8/layout/process3"/>
    <dgm:cxn modelId="{FC2A3D42-9A59-4304-B8B3-E1348B6DF18D}" type="presOf" srcId="{11C83499-1F80-49D3-9D27-88787508EA5F}" destId="{9F5C4C2E-8FF3-4406-91AB-EAB07D1B1979}" srcOrd="1" destOrd="0" presId="urn:microsoft.com/office/officeart/2005/8/layout/process3"/>
    <dgm:cxn modelId="{8CF8A07D-9083-4887-A0D1-AFCD61189C38}" type="presOf" srcId="{D9598EE5-A6F2-4162-8E7E-70198C2525A0}" destId="{7531D712-08E1-4CFD-9F99-5FC357CBF74E}" srcOrd="0" destOrd="0" presId="urn:microsoft.com/office/officeart/2005/8/layout/process3"/>
    <dgm:cxn modelId="{98EAF589-96EB-46BC-82CC-EC97746F500E}" type="presOf" srcId="{BF6A2854-6E66-4C4A-8EC7-2C1133BE5977}" destId="{4EDD6120-3400-4DD2-AC20-C7B3280247FE}" srcOrd="0" destOrd="0" presId="urn:microsoft.com/office/officeart/2005/8/layout/process3"/>
    <dgm:cxn modelId="{32F17495-72AF-42C8-BE5A-B27E0A45CD57}" srcId="{680C9003-8DC8-4681-8013-2E17C0F4D073}" destId="{D9598EE5-A6F2-4162-8E7E-70198C2525A0}" srcOrd="2" destOrd="0" parTransId="{53CE22DE-98ED-478B-BBC7-209165DC196B}" sibTransId="{72A63480-31DE-4FA6-8C6D-7B5C5A7D955F}"/>
    <dgm:cxn modelId="{4DA3DBA9-5AD6-4734-A5E2-25A2407B28E9}" srcId="{680C9003-8DC8-4681-8013-2E17C0F4D073}" destId="{BF6A2854-6E66-4C4A-8EC7-2C1133BE5977}" srcOrd="0" destOrd="0" parTransId="{320780D8-1E72-4DF3-A83C-F61D33355BFF}" sibTransId="{DA1C74D9-0D42-45A9-A41A-D1CA32E01369}"/>
    <dgm:cxn modelId="{9F7C12D3-9EE2-48B9-BE81-B2DF6CAF7EC4}" srcId="{D9598EE5-A6F2-4162-8E7E-70198C2525A0}" destId="{695EEA04-DF00-45BF-A788-AE540DAB38B8}" srcOrd="0" destOrd="0" parTransId="{591D114B-C981-45B6-9B80-E6FEC23D2191}" sibTransId="{44B0C0EB-AC1B-4195-82C7-6302C7525DDD}"/>
    <dgm:cxn modelId="{A98D97D7-2223-4594-B649-252F74C5F2B0}" type="presOf" srcId="{BF6A2854-6E66-4C4A-8EC7-2C1133BE5977}" destId="{89A92D7F-2EC2-4868-A6DD-E8F6D118245B}" srcOrd="1" destOrd="0" presId="urn:microsoft.com/office/officeart/2005/8/layout/process3"/>
    <dgm:cxn modelId="{1C2F42E8-D3FA-43FC-B228-D212004C5DBB}" type="presOf" srcId="{9B061B92-BE56-40EB-980E-CD17CDAE9F53}" destId="{85EDB52D-D114-40A6-8C94-B784F6E73FBF}" srcOrd="0" destOrd="0" presId="urn:microsoft.com/office/officeart/2005/8/layout/process3"/>
    <dgm:cxn modelId="{0693DBF2-7AE0-460B-A528-FFE37743762A}" srcId="{11C83499-1F80-49D3-9D27-88787508EA5F}" destId="{9B061B92-BE56-40EB-980E-CD17CDAE9F53}" srcOrd="0" destOrd="0" parTransId="{44859338-67F5-4872-85FD-A4FF6035A095}" sibTransId="{BA4C8ECF-A61E-49A4-8312-46B124B7B9F9}"/>
    <dgm:cxn modelId="{368A05F9-ADD3-4FF0-9F28-20D50D027450}" srcId="{680C9003-8DC8-4681-8013-2E17C0F4D073}" destId="{11C83499-1F80-49D3-9D27-88787508EA5F}" srcOrd="1" destOrd="0" parTransId="{245B8944-A5AF-4F05-A6C6-2A4EFF95D612}" sibTransId="{4EFC835B-08D7-4BE1-BCDB-E685DE809400}"/>
    <dgm:cxn modelId="{6621C857-7721-421A-A651-D4AFA25ADDEE}" type="presParOf" srcId="{042FB214-D9E4-45A8-81A8-9F1D921F1D90}" destId="{3758F734-819A-4914-AB3C-A15C3A5DC22A}" srcOrd="0" destOrd="0" presId="urn:microsoft.com/office/officeart/2005/8/layout/process3"/>
    <dgm:cxn modelId="{019217B4-F22E-4528-9A92-E039D20E19A1}" type="presParOf" srcId="{3758F734-819A-4914-AB3C-A15C3A5DC22A}" destId="{4EDD6120-3400-4DD2-AC20-C7B3280247FE}" srcOrd="0" destOrd="0" presId="urn:microsoft.com/office/officeart/2005/8/layout/process3"/>
    <dgm:cxn modelId="{5A67833A-EE1F-4E66-A8CD-557F16117EBC}" type="presParOf" srcId="{3758F734-819A-4914-AB3C-A15C3A5DC22A}" destId="{89A92D7F-2EC2-4868-A6DD-E8F6D118245B}" srcOrd="1" destOrd="0" presId="urn:microsoft.com/office/officeart/2005/8/layout/process3"/>
    <dgm:cxn modelId="{D1317015-215F-43FB-AB0B-DA84E109ABB0}" type="presParOf" srcId="{3758F734-819A-4914-AB3C-A15C3A5DC22A}" destId="{6C3F27B8-E7BF-402A-89CF-43870D0760BA}" srcOrd="2" destOrd="0" presId="urn:microsoft.com/office/officeart/2005/8/layout/process3"/>
    <dgm:cxn modelId="{00A17745-1C52-4775-9515-63B989FA7718}" type="presParOf" srcId="{042FB214-D9E4-45A8-81A8-9F1D921F1D90}" destId="{30D05494-0256-4685-B2E3-3972B43097D8}" srcOrd="1" destOrd="0" presId="urn:microsoft.com/office/officeart/2005/8/layout/process3"/>
    <dgm:cxn modelId="{4411A21A-E50D-49BE-88D2-D704FCFD60FD}" type="presParOf" srcId="{30D05494-0256-4685-B2E3-3972B43097D8}" destId="{9FADBCE9-B95E-4A1C-9331-16295022841F}" srcOrd="0" destOrd="0" presId="urn:microsoft.com/office/officeart/2005/8/layout/process3"/>
    <dgm:cxn modelId="{77F1A0E2-DDA4-427A-984B-B4DBB227A389}" type="presParOf" srcId="{042FB214-D9E4-45A8-81A8-9F1D921F1D90}" destId="{C930CB3D-3031-47E0-ADB9-71CA98CF6C31}" srcOrd="2" destOrd="0" presId="urn:microsoft.com/office/officeart/2005/8/layout/process3"/>
    <dgm:cxn modelId="{92C34156-2504-4CDF-94B7-722BDC507A73}" type="presParOf" srcId="{C930CB3D-3031-47E0-ADB9-71CA98CF6C31}" destId="{FD76CD0A-AB84-46CF-A02C-FAB241FB2DE1}" srcOrd="0" destOrd="0" presId="urn:microsoft.com/office/officeart/2005/8/layout/process3"/>
    <dgm:cxn modelId="{0D69E788-5D31-4440-983D-BE328D88998E}" type="presParOf" srcId="{C930CB3D-3031-47E0-ADB9-71CA98CF6C31}" destId="{9F5C4C2E-8FF3-4406-91AB-EAB07D1B1979}" srcOrd="1" destOrd="0" presId="urn:microsoft.com/office/officeart/2005/8/layout/process3"/>
    <dgm:cxn modelId="{DCAE2106-145A-4B4B-AD9C-7F3A55F2BCC5}" type="presParOf" srcId="{C930CB3D-3031-47E0-ADB9-71CA98CF6C31}" destId="{85EDB52D-D114-40A6-8C94-B784F6E73FBF}" srcOrd="2" destOrd="0" presId="urn:microsoft.com/office/officeart/2005/8/layout/process3"/>
    <dgm:cxn modelId="{FA830340-D05C-494C-BCE2-F6EEF1C3E787}" type="presParOf" srcId="{042FB214-D9E4-45A8-81A8-9F1D921F1D90}" destId="{C92655EA-F9BC-4810-8D5B-A5321AABFFF8}" srcOrd="3" destOrd="0" presId="urn:microsoft.com/office/officeart/2005/8/layout/process3"/>
    <dgm:cxn modelId="{09AD054B-E29F-4C82-9E64-070DE6C7895C}" type="presParOf" srcId="{C92655EA-F9BC-4810-8D5B-A5321AABFFF8}" destId="{1E1F9C64-4C15-43B5-9C79-FF25C4AFF313}" srcOrd="0" destOrd="0" presId="urn:microsoft.com/office/officeart/2005/8/layout/process3"/>
    <dgm:cxn modelId="{42DDBA8F-111E-4352-B36C-AD532A82F7F8}" type="presParOf" srcId="{042FB214-D9E4-45A8-81A8-9F1D921F1D90}" destId="{13BC6669-CDFF-4307-A0CD-D6A9D549A70E}" srcOrd="4" destOrd="0" presId="urn:microsoft.com/office/officeart/2005/8/layout/process3"/>
    <dgm:cxn modelId="{E2131123-BA59-4115-AB6E-B42C6E021832}" type="presParOf" srcId="{13BC6669-CDFF-4307-A0CD-D6A9D549A70E}" destId="{7531D712-08E1-4CFD-9F99-5FC357CBF74E}" srcOrd="0" destOrd="0" presId="urn:microsoft.com/office/officeart/2005/8/layout/process3"/>
    <dgm:cxn modelId="{1D6DAB3A-1159-4BFE-B81A-56235469EF45}" type="presParOf" srcId="{13BC6669-CDFF-4307-A0CD-D6A9D549A70E}" destId="{FF29BB00-53D8-4B85-AC11-2EAAAA084783}" srcOrd="1" destOrd="0" presId="urn:microsoft.com/office/officeart/2005/8/layout/process3"/>
    <dgm:cxn modelId="{42A7ABA6-ACAD-45B8-879F-4001B7B89B37}" type="presParOf" srcId="{13BC6669-CDFF-4307-A0CD-D6A9D549A70E}" destId="{A3451F05-A3FE-4804-B721-F2F914896671}" srcOrd="2" destOrd="0" presId="urn:microsoft.com/office/officeart/2005/8/layout/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9A92D7F-2EC2-4868-A6DD-E8F6D118245B}">
      <dsp:nvSpPr>
        <dsp:cNvPr id="0" name=""/>
        <dsp:cNvSpPr/>
      </dsp:nvSpPr>
      <dsp:spPr>
        <a:xfrm>
          <a:off x="4707" y="1513728"/>
          <a:ext cx="2140222" cy="8640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atin typeface="Fira Sans" panose="020B0503050000020004" pitchFamily="34" charset="0"/>
            </a:rPr>
            <a:t>Genomics</a:t>
          </a:r>
          <a:endParaRPr lang="en-GB" sz="2000" kern="1200" dirty="0">
            <a:latin typeface="Fira Sans" panose="020B0503050000020004" pitchFamily="34" charset="0"/>
          </a:endParaRPr>
        </a:p>
      </dsp:txBody>
      <dsp:txXfrm>
        <a:off x="4707" y="1513728"/>
        <a:ext cx="2140222" cy="576000"/>
      </dsp:txXfrm>
    </dsp:sp>
    <dsp:sp modelId="{6C3F27B8-E7BF-402A-89CF-43870D0760BA}">
      <dsp:nvSpPr>
        <dsp:cNvPr id="0" name=""/>
        <dsp:cNvSpPr/>
      </dsp:nvSpPr>
      <dsp:spPr>
        <a:xfrm>
          <a:off x="443065" y="2089728"/>
          <a:ext cx="2140222" cy="11880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42240" rIns="142240" bIns="14224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>
              <a:latin typeface="Fira Sans" panose="020B0503050000020004" pitchFamily="34" charset="0"/>
            </a:rPr>
            <a:t>DNA Tells what is possible</a:t>
          </a:r>
          <a:endParaRPr lang="en-GB" sz="2000" kern="1200" dirty="0">
            <a:latin typeface="Fira Sans" panose="020B0503050000020004" pitchFamily="34" charset="0"/>
          </a:endParaRPr>
        </a:p>
      </dsp:txBody>
      <dsp:txXfrm>
        <a:off x="477860" y="2124523"/>
        <a:ext cx="2070632" cy="1118410"/>
      </dsp:txXfrm>
    </dsp:sp>
    <dsp:sp modelId="{30D05494-0256-4685-B2E3-3972B43097D8}">
      <dsp:nvSpPr>
        <dsp:cNvPr id="0" name=""/>
        <dsp:cNvSpPr/>
      </dsp:nvSpPr>
      <dsp:spPr>
        <a:xfrm>
          <a:off x="2469379" y="1535301"/>
          <a:ext cx="687833" cy="53285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600" kern="1200">
            <a:latin typeface="Fira Sans" panose="020B0503050000020004" pitchFamily="34" charset="0"/>
          </a:endParaRPr>
        </a:p>
      </dsp:txBody>
      <dsp:txXfrm>
        <a:off x="2469379" y="1641872"/>
        <a:ext cx="527977" cy="319711"/>
      </dsp:txXfrm>
    </dsp:sp>
    <dsp:sp modelId="{9F5C4C2E-8FF3-4406-91AB-EAB07D1B1979}">
      <dsp:nvSpPr>
        <dsp:cNvPr id="0" name=""/>
        <dsp:cNvSpPr/>
      </dsp:nvSpPr>
      <dsp:spPr>
        <a:xfrm>
          <a:off x="3442729" y="1513728"/>
          <a:ext cx="2140222" cy="8640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atin typeface="Fira Sans" panose="020B0503050000020004" pitchFamily="34" charset="0"/>
            </a:rPr>
            <a:t>Transcriptomics</a:t>
          </a:r>
          <a:endParaRPr lang="en-GB" sz="2000" kern="1200" dirty="0">
            <a:latin typeface="Fira Sans" panose="020B0503050000020004" pitchFamily="34" charset="0"/>
          </a:endParaRPr>
        </a:p>
      </dsp:txBody>
      <dsp:txXfrm>
        <a:off x="3442729" y="1513728"/>
        <a:ext cx="2140222" cy="576000"/>
      </dsp:txXfrm>
    </dsp:sp>
    <dsp:sp modelId="{85EDB52D-D114-40A6-8C94-B784F6E73FBF}">
      <dsp:nvSpPr>
        <dsp:cNvPr id="0" name=""/>
        <dsp:cNvSpPr/>
      </dsp:nvSpPr>
      <dsp:spPr>
        <a:xfrm>
          <a:off x="3881088" y="2089728"/>
          <a:ext cx="2140222" cy="11880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42240" rIns="142240" bIns="14224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>
              <a:latin typeface="Fira Sans" panose="020B0503050000020004" pitchFamily="34" charset="0"/>
            </a:rPr>
            <a:t>RNA  what is probable</a:t>
          </a:r>
          <a:endParaRPr lang="en-GB" sz="2000" kern="1200" dirty="0">
            <a:latin typeface="Fira Sans" panose="020B0503050000020004" pitchFamily="34" charset="0"/>
          </a:endParaRPr>
        </a:p>
      </dsp:txBody>
      <dsp:txXfrm>
        <a:off x="3915883" y="2124523"/>
        <a:ext cx="2070632" cy="1118410"/>
      </dsp:txXfrm>
    </dsp:sp>
    <dsp:sp modelId="{C92655EA-F9BC-4810-8D5B-A5321AABFFF8}">
      <dsp:nvSpPr>
        <dsp:cNvPr id="0" name=""/>
        <dsp:cNvSpPr/>
      </dsp:nvSpPr>
      <dsp:spPr>
        <a:xfrm>
          <a:off x="5907401" y="1535301"/>
          <a:ext cx="687833" cy="532853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600" kern="1200">
            <a:latin typeface="Fira Sans" panose="020B0503050000020004" pitchFamily="34" charset="0"/>
          </a:endParaRPr>
        </a:p>
      </dsp:txBody>
      <dsp:txXfrm>
        <a:off x="5907401" y="1641872"/>
        <a:ext cx="527977" cy="319711"/>
      </dsp:txXfrm>
    </dsp:sp>
    <dsp:sp modelId="{FF29BB00-53D8-4B85-AC11-2EAAAA084783}">
      <dsp:nvSpPr>
        <dsp:cNvPr id="0" name=""/>
        <dsp:cNvSpPr/>
      </dsp:nvSpPr>
      <dsp:spPr>
        <a:xfrm>
          <a:off x="6880751" y="1513728"/>
          <a:ext cx="2140222" cy="86400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2240" tIns="142240" rIns="142240" bIns="76200" numCol="1" spcCol="1270" anchor="t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latin typeface="Fira Sans" panose="020B0503050000020004" pitchFamily="34" charset="0"/>
            </a:rPr>
            <a:t>Proteomics</a:t>
          </a:r>
          <a:endParaRPr lang="en-GB" sz="2000" kern="1200" dirty="0">
            <a:latin typeface="Fira Sans" panose="020B0503050000020004" pitchFamily="34" charset="0"/>
          </a:endParaRPr>
        </a:p>
      </dsp:txBody>
      <dsp:txXfrm>
        <a:off x="6880751" y="1513728"/>
        <a:ext cx="2140222" cy="576000"/>
      </dsp:txXfrm>
    </dsp:sp>
    <dsp:sp modelId="{A3451F05-A3FE-4804-B721-F2F914896671}">
      <dsp:nvSpPr>
        <dsp:cNvPr id="0" name=""/>
        <dsp:cNvSpPr/>
      </dsp:nvSpPr>
      <dsp:spPr>
        <a:xfrm>
          <a:off x="7319110" y="2089728"/>
          <a:ext cx="2140222" cy="1188000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42240" tIns="142240" rIns="142240" bIns="14224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000" kern="1200" dirty="0">
              <a:latin typeface="Fira Sans" panose="020B0503050000020004" pitchFamily="34" charset="0"/>
            </a:rPr>
            <a:t>Proteins what actually happens</a:t>
          </a:r>
          <a:endParaRPr lang="en-GB" sz="2000" kern="1200" dirty="0">
            <a:latin typeface="Fira Sans" panose="020B0503050000020004" pitchFamily="34" charset="0"/>
          </a:endParaRPr>
        </a:p>
      </dsp:txBody>
      <dsp:txXfrm>
        <a:off x="7353905" y="2124523"/>
        <a:ext cx="2070632" cy="111841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3">
  <dgm:title val=""/>
  <dgm:desc val=""/>
  <dgm:catLst>
    <dgm:cat type="process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3" destOrd="0"/>
        <dgm:cxn modelId="12" srcId="1" destId="11" srcOrd="0" destOrd="0"/>
        <dgm:cxn modelId="23" srcId="2" destId="21" srcOrd="0" destOrd="0"/>
        <dgm:cxn modelId="34" srcId="3" destId="31" srcOrd="0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  <dgm:pt modelId="3">
          <dgm:prSet phldr="1"/>
        </dgm:pt>
        <dgm:pt modelId="31">
          <dgm:prSet phldr="1"/>
        </dgm:pt>
        <dgm:pt modelId="4">
          <dgm:prSet phldr="1"/>
        </dgm:pt>
        <dgm:pt modelId="41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w" for="ch" ptType="sibTrans" refType="w" refFor="ch" refForName="composite" fact="0.3333"/>
      <dgm:constr type="w" for="des" forName="parTx"/>
      <dgm:constr type="h" for="des" forName="parTx" op="equ"/>
      <dgm:constr type="h" for="des" forName="parSh" op="equ"/>
      <dgm:constr type="w" for="des" forName="desTx"/>
      <dgm:constr type="h" for="des" forName="desTx" op="equ"/>
      <dgm:constr type="w" for="des" forName="parSh"/>
      <dgm:constr type="primFontSz" for="des" forName="parTx" val="65"/>
      <dgm:constr type="secFontSz" for="des" forName="desTx" refType="primFontSz" refFor="des" refForName="parTx" op="equ"/>
      <dgm:constr type="primFontSz" for="des" forName="connTx" refType="primFontSz" refFor="des" refForName="parTx" fact="0.8"/>
      <dgm:constr type="primFontSz" for="des" forName="connTx" refType="primFontSz" refFor="des" refForName="parTx" op="lte" fact="0.8"/>
      <dgm:constr type="h" for="des" forName="parTx" refType="primFontSz" refFor="des" refForName="parTx" fact="0.8"/>
      <dgm:constr type="h" for="des" forName="parSh" refType="primFontSz" refFor="des" refForName="parTx" fact="1.2"/>
      <dgm:constr type="h" for="des" forName="desTx" refType="primFontSz" refFor="des" refForName="parTx" fact="1.6"/>
      <dgm:constr type="h" for="des" forName="parSh" refType="h" refFor="des" refForName="parTx" op="lte" fact="1.5"/>
      <dgm:constr type="h" for="des" forName="parSh" refType="h" refFor="des" refForName="parTx" op="gte" fact="1.5"/>
    </dgm:constrLst>
    <dgm:ruleLst>
      <dgm:rule type="w" for="ch" forName="composite" val="0" fact="NaN" max="NaN"/>
      <dgm:rule type="primFontSz" for="des" forName="parTx" val="5" fact="NaN" max="NaN"/>
    </dgm:ruleLst>
    <dgm:forEach name="Name3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4">
          <dgm:if name="Name5" func="var" arg="dir" op="equ" val="norm">
            <dgm:constrLst>
              <dgm:constr type="h" refType="w" fact="1000"/>
              <dgm:constr type="l" for="ch" forName="parTx"/>
              <dgm:constr type="w" for="ch" forName="parTx" refType="w" fact="0.83"/>
              <dgm:constr type="t" for="ch" forName="parTx"/>
              <dgm:constr type="l" for="ch" forName="parSh"/>
              <dgm:constr type="w" for="ch" forName="parSh" refType="w" refFor="ch" refForName="parTx"/>
              <dgm:constr type="t" for="ch" forName="parSh"/>
              <dgm:constr type="l" for="ch" forName="desTx" refType="w" fact="0.17"/>
              <dgm:constr type="w" for="ch" forName="desTx" refType="w" refFor="ch" refForName="parTx"/>
              <dgm:constr type="t" for="ch" forName="desTx" refType="h" refFor="ch" refForName="parTx"/>
            </dgm:constrLst>
          </dgm:if>
          <dgm:else name="Name6">
            <dgm:constrLst>
              <dgm:constr type="h" refType="w" fact="1000"/>
              <dgm:constr type="l" for="ch" forName="parTx" refType="w" fact="0.17"/>
              <dgm:constr type="w" for="ch" forName="parTx" refType="w" fact="0.83"/>
              <dgm:constr type="t" for="ch" forName="parTx"/>
              <dgm:constr type="l" for="ch" forName="parSh" refType="w" fact="0.15"/>
              <dgm:constr type="w" for="ch" forName="parSh" refType="w" refFor="ch" refForName="parTx"/>
              <dgm:constr type="t" for="ch" forName="parSh"/>
              <dgm:constr type="l" for="ch" forName="desTx"/>
              <dgm:constr type="w" for="ch" forName="desTx" refType="w" refFor="ch" refForName="parTx"/>
              <dgm:constr type="t" for="ch" forName="desTx" refType="h" refFor="ch" refForName="parTx"/>
            </dgm:constrLst>
          </dgm:else>
        </dgm:choose>
        <dgm:ruleLst>
          <dgm:rule type="h" val="INF" fact="NaN" max="NaN"/>
        </dgm:ruleLst>
        <dgm:layoutNode name="parTx">
          <dgm:varLst>
            <dgm:chMax val="0"/>
            <dgm:chPref val="0"/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zOrderOff="1" hideGeom="1">
            <dgm:adjLst>
              <dgm:adj idx="1" val="0.1"/>
            </dgm:adjLst>
          </dgm:shape>
          <dgm:presOf axis="self" ptType="node"/>
          <dgm:constrLst>
            <dgm:constr type="h" refType="w" op="lte" fact="0.4"/>
            <dgm:constr type="bMarg" refType="primFontSz" fact="0.3"/>
            <dgm:constr type="h"/>
          </dgm:constrLst>
          <dgm:ruleLst>
            <dgm:rule type="h" val="INF" fact="NaN" max="NaN"/>
          </dgm:ruleLst>
        </dgm:layoutNode>
        <dgm:layoutNode name="parSh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 ptType="node"/>
          <dgm:constrLst>
            <dgm:constr type="h"/>
          </dgm:constrLst>
          <dgm:ruleLst/>
        </dgm:layoutNode>
        <dgm:layoutNode name="desTx" styleLbl="fgAcc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oundRect" r:blip="">
            <dgm:adjLst>
              <dgm:adj idx="1" val="0.1"/>
            </dgm:adjLst>
          </dgm:shape>
          <dgm:presOf axis="des" ptType="node"/>
          <dgm:constrLst>
            <dgm:constr type="secFontSz" val="65"/>
            <dgm:constr type="primFontSz" refType="secFontSz"/>
            <dgm:constr type="h"/>
          </dgm:constrLst>
          <dgm:ruleLst>
            <dgm:rule type="h" val="INF" fact="NaN" max="NaN"/>
          </dgm:ruleLst>
        </dgm:layoutNode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  <dgm:param type="srcNode" val="parTx"/>
            <dgm:param type="dstNode" val="parTx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  <dgm:constr type="begPad" refType="connDist" fact="0.25"/>
            <dgm:constr type="endPad" refType="connDist" fact="0.22"/>
          </dgm:constrLst>
          <dgm:ruleLst/>
          <dgm:layoutNode name="connTx">
            <dgm:alg type="tx">
              <dgm:param type="autoTxRot" val="grav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1811C3A-C856-8E56-A361-5FE394F82E4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E9E1C0B-3932-59C0-4223-D1360A9D5A3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026D668-90A6-4547-97E8-9A0A42296A1B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2A79FD-2E89-9494-D82D-3873DF53E6A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24DBB4-BE94-3199-9671-8748230B2E5F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F6F5ED-71F6-45E5-82DF-65EBF20CB7A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606167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314EFA-8755-909F-D781-9856271C22A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C5202E-2CFC-EB67-1273-23945863F7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2F937A-FD08-00C3-8E65-300EE60402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3CD0A0-301E-3B0B-8759-B0307CAF69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00E1CE-3AE2-9015-ABB2-F69E6A70BF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1438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A6257-5DCB-61A4-75F9-B906668CAD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D46769-6A84-B1E6-5D04-35FC249382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B42F98-B003-6D5C-BFB8-48A2260F98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35C427-565B-F449-B5A1-E0A9E8D15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C8768A-AA2A-18E5-EE64-4CB4271744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997498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3F2E3-E103-3295-54BD-082FC49690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0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CEEAD7-B0FA-9057-FA62-9A7B1C9AF2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31DF24-2DB8-60D4-47A0-1B0EE7F29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7DE035-0A93-DC31-41A5-00DFCAB2D2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F1F62D-D748-37A7-506A-B00DF0EDE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36419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9491F-C18C-DE8D-B92C-305550F26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A1F15-F9F4-3DBE-B9FA-47DC566A5E7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626F5A2-0214-E15D-43A4-595407DCFE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584CCA-BC1A-30D3-CDDD-789D37E065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1BD09-A0FD-8063-5FF3-610F7147DF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AA27CD3-B41B-34C0-8E1A-4F77326E16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6288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18CC0-FE5C-9FC7-C3CA-D8D315582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7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AB43E3-924E-DAFF-937D-50DA8D8C4E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65B8C0-63BF-79EF-DE0D-7E27AD7A08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F1B9FB-E529-189A-73AF-1BF545595C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79CA2F-A1FF-2774-A945-AF560083BE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F02CD5-918E-67CC-F064-39BCF79CA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F2B903-4D0C-C0F5-AFC0-5D4448AB3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F601465-A4B5-A1DC-FA15-F010C83CF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09407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97AED-52B8-10A5-2C07-D8600CED96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1B7FD4-99FD-AEBE-5F01-E9E31DC5A8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F01B40-67F3-9CCC-52A7-7629E78CA1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DFC70C1-EDAB-4BA7-17AF-09E9FDCAA7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531330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CE18F8-9126-BBBF-A4FB-1BD98CAD19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CE2FC4-F558-D173-1D38-F0CB667144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B1FA29-9661-7EF7-2AFE-CBDA2402DE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47682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1F220-0CE9-86DD-E8D6-8C117A232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A324E7-EFBE-DCE2-745C-A161A5688D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DD762D-7A23-0922-D2B9-3EA5CB937A0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1066E6F-D672-6C51-112E-56C81C244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6EA04C-0975-029E-F1F5-E5CA7E59A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6776E9-C17C-6ECC-A4BF-0AAEDEDF9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19515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AAA2B0-FEA6-AEBE-7443-33430C52F8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D194663-319C-B848-593E-2FAC8612BC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DC5737-17ED-E2F6-06C1-896C7ADA964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9215F2-8EFC-5617-C453-F90D29B1F1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612E1B-D145-2BCD-B78B-745CB2F4A4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24796F-6AF2-46EC-679B-721883193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36744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09026-65E2-8CD1-929B-3D5F27856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AC81676-15A1-1299-6D38-5B1BFC68A5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4B340E-E4A6-DAFC-FA0D-64898C8EEB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E89099-47CE-2DC6-A608-FA022143C3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30EAE2-20C1-11D6-D7A8-8EE65D08D8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524745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125E57F-1C4E-D022-E7E6-A559DB6FD2C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D932FF7-96C4-2541-0A60-FC578F078C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553BAE-2CD6-0E70-210E-8ADB807804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761CF2-C4C9-4DEE-8992-FAB361DB7BD4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00FABD-E5FC-0C31-696C-F20AECD394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D9BF063-16D4-EE36-BAD8-BA8DB827E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121483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R4proteomics training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369133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R4proteomics training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23100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R4proteomics training</a:t>
            </a:r>
            <a:endParaRPr lang="en-GB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304746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R4proteomics training</a:t>
            </a:r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284873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R4proteomics training</a:t>
            </a:r>
            <a:endParaRPr lang="en-GB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194067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r4proteomics</a:t>
            </a:r>
            <a:endParaRPr lang="en-GB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87985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R4proteomics training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16637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R4proteomics training</a:t>
            </a:r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32910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R4proteomics training</a:t>
            </a:r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17353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899980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61248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24F07F-24C8-7322-A903-2FA6D9CEBC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AC8592E-A485-718A-8F3A-9EA7497B85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3ADCF0-A78D-4AB5-8D9E-D2EFF7703854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C2B1DF-8020-7DCD-4F60-8E4224B42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R4proteomics training</a:t>
            </a:r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942A22-9395-FFDC-E859-C300E9C30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29F5F-460F-49AE-87DA-1D95142FDB1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908525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4D1C31-EC50-EB4D-EAF6-19B203B33D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C9E7544-D756-6B37-688B-BFAA3307B9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BC584E-D936-8FBA-FF9F-41BBCFB95F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761CF2-C4C9-4DEE-8992-FAB361DB7BD4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B29722-6D9A-B35A-E425-2AB7F7172A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950808-0D33-E467-B60E-E55445E02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35389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B761CF2-C4C9-4DEE-8992-FAB361DB7BD4}" type="datetimeFigureOut">
              <a:rPr lang="en-GB" smtClean="0"/>
              <a:t>25/11/2025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B1CE529-1585-47F1-9CE6-8FC05A87608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504484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1" r:id="rId6"/>
    <p:sldLayoutId id="2147483692" r:id="rId7"/>
    <p:sldLayoutId id="2147483693" r:id="rId8"/>
    <p:sldLayoutId id="2147483694" r:id="rId9"/>
    <p:sldLayoutId id="2147483695" r:id="rId10"/>
    <p:sldLayoutId id="2147483696" r:id="rId11"/>
    <p:sldLayoutId id="214748368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lodiag-holocron.github.io/r4proteomics/" TargetMode="External"/><Relationship Id="rId1" Type="http://schemas.openxmlformats.org/officeDocument/2006/relationships/slideLayout" Target="../slideLayouts/slideLayout18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8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mgTlo_kndzQ" TargetMode="Externa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file:///C:\08_pkgs\r4proteomics\_book\day1.html" TargetMode="External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file:///C:\08_pkgs\r4proteomics\_book\day2.html" TargetMode="Externa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file:///C:\08_pkgs\r4proteomics\_book\day3.html" TargetMode="Externa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file:///C:\08_pkgs\r4proteomics\_book\day4.html" TargetMode="Externa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file:///C:\08_pkgs\r4proteomics\_book\day5.html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332D5630-14D6-1110-97A0-0B4473CFD2EB}"/>
              </a:ext>
            </a:extLst>
          </p:cNvPr>
          <p:cNvSpPr/>
          <p:nvPr/>
        </p:nvSpPr>
        <p:spPr>
          <a:xfrm>
            <a:off x="403075" y="1041061"/>
            <a:ext cx="6437746" cy="55810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Fira Sans" panose="020B0503050000020004" pitchFamily="34" charset="0"/>
              <a:cs typeface="Arial" panose="020B0604020202020204" pitchFamily="34" charset="0"/>
            </a:endParaRP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0B2404C-6DD2-560B-C6BF-C49A7258BEBC}"/>
              </a:ext>
            </a:extLst>
          </p:cNvPr>
          <p:cNvCxnSpPr>
            <a:endCxn id="31" idx="0"/>
          </p:cNvCxnSpPr>
          <p:nvPr/>
        </p:nvCxnSpPr>
        <p:spPr>
          <a:xfrm>
            <a:off x="1038165" y="1530668"/>
            <a:ext cx="1" cy="4039040"/>
          </a:xfrm>
          <a:prstGeom prst="line">
            <a:avLst/>
          </a:prstGeom>
          <a:ln>
            <a:solidFill>
              <a:schemeClr val="bg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DDCC7ED-73CF-5B87-8E7D-48D6AC68F436}"/>
              </a:ext>
            </a:extLst>
          </p:cNvPr>
          <p:cNvCxnSpPr>
            <a:stCxn id="3" idx="4"/>
            <a:endCxn id="30" idx="0"/>
          </p:cNvCxnSpPr>
          <p:nvPr/>
        </p:nvCxnSpPr>
        <p:spPr>
          <a:xfrm>
            <a:off x="-485835" y="1530670"/>
            <a:ext cx="0" cy="3989651"/>
          </a:xfrm>
          <a:prstGeom prst="line">
            <a:avLst/>
          </a:prstGeom>
          <a:ln w="19050">
            <a:solidFill>
              <a:schemeClr val="bg1"/>
            </a:solidFill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EAFDD196-F3B6-5B82-1124-065EA7402ACC}"/>
              </a:ext>
            </a:extLst>
          </p:cNvPr>
          <p:cNvGrpSpPr/>
          <p:nvPr/>
        </p:nvGrpSpPr>
        <p:grpSpPr>
          <a:xfrm>
            <a:off x="904815" y="1233428"/>
            <a:ext cx="3124438" cy="583388"/>
            <a:chOff x="2171462" y="1271528"/>
            <a:chExt cx="3124438" cy="5833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FF0BA193-91EC-8482-C54D-041E1FE32CA7}"/>
                </a:ext>
              </a:extLst>
            </p:cNvPr>
            <p:cNvGrpSpPr/>
            <p:nvPr/>
          </p:nvGrpSpPr>
          <p:grpSpPr>
            <a:xfrm>
              <a:off x="2171462" y="1296686"/>
              <a:ext cx="266700" cy="272082"/>
              <a:chOff x="1295162" y="847106"/>
              <a:chExt cx="266700" cy="272082"/>
            </a:xfrm>
          </p:grpSpPr>
          <p:sp>
            <p:nvSpPr>
              <p:cNvPr id="3" name="Oval 2">
                <a:extLst>
                  <a:ext uri="{FF2B5EF4-FFF2-40B4-BE49-F238E27FC236}">
                    <a16:creationId xmlns:a16="http://schemas.microsoft.com/office/drawing/2014/main" id="{19DE1701-0F7B-A227-6670-C72EDFC7FB64}"/>
                  </a:ext>
                </a:extLst>
              </p:cNvPr>
              <p:cNvSpPr/>
              <p:nvPr/>
            </p:nvSpPr>
            <p:spPr>
              <a:xfrm>
                <a:off x="1295162" y="847106"/>
                <a:ext cx="266700" cy="272082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Fira Sans" panose="020B05030500000200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" name="Oval 1">
                <a:extLst>
                  <a:ext uri="{FF2B5EF4-FFF2-40B4-BE49-F238E27FC236}">
                    <a16:creationId xmlns:a16="http://schemas.microsoft.com/office/drawing/2014/main" id="{DD971003-87F9-9338-3CE5-A57F964DD647}"/>
                  </a:ext>
                </a:extLst>
              </p:cNvPr>
              <p:cNvSpPr/>
              <p:nvPr/>
            </p:nvSpPr>
            <p:spPr>
              <a:xfrm>
                <a:off x="1340168" y="896493"/>
                <a:ext cx="176689" cy="172688"/>
              </a:xfrm>
              <a:prstGeom prst="ellipse">
                <a:avLst/>
              </a:prstGeom>
              <a:solidFill>
                <a:srgbClr val="CCEC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 dirty="0">
                  <a:latin typeface="Fira Sans" panose="020B05030500000200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B6183863-4AB4-37C1-FE31-9CC40224DE67}"/>
                </a:ext>
              </a:extLst>
            </p:cNvPr>
            <p:cNvSpPr/>
            <p:nvPr/>
          </p:nvSpPr>
          <p:spPr>
            <a:xfrm>
              <a:off x="2933700" y="1271528"/>
              <a:ext cx="1516380" cy="321778"/>
            </a:xfrm>
            <a:prstGeom prst="rect">
              <a:avLst/>
            </a:prstGeom>
            <a:solidFill>
              <a:srgbClr val="CCEC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Fira Sans" panose="020B0503050000020004" pitchFamily="34" charset="0"/>
                  <a:cs typeface="Arial" panose="020B0604020202020204" pitchFamily="34" charset="0"/>
                </a:rPr>
                <a:t>Day Course 1</a:t>
              </a:r>
              <a:endParaRPr lang="en-GB" sz="1200" b="1" dirty="0">
                <a:solidFill>
                  <a:schemeClr val="tx1"/>
                </a:solidFill>
                <a:latin typeface="Fira Sans" panose="020B05030500000200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FE5821D-817C-47BC-5D5C-9724DD182F3C}"/>
                </a:ext>
              </a:extLst>
            </p:cNvPr>
            <p:cNvSpPr txBox="1"/>
            <p:nvPr/>
          </p:nvSpPr>
          <p:spPr>
            <a:xfrm>
              <a:off x="2842260" y="1593306"/>
              <a:ext cx="2453640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  <a:latin typeface="Fira Sans" panose="020B0503050000020004" pitchFamily="34" charset="0"/>
                  <a:cs typeface="Arial" panose="020B0604020202020204" pitchFamily="34" charset="0"/>
                </a:rPr>
                <a:t>Introduction to R and RStudio</a:t>
              </a:r>
              <a:endParaRPr lang="en-GB" sz="1100" dirty="0">
                <a:solidFill>
                  <a:schemeClr val="bg1"/>
                </a:solidFill>
                <a:latin typeface="Fira Sans" panose="020B05030500000200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AD3C1AE5-B545-4FE1-C6BF-8DA872C3A65F}"/>
              </a:ext>
            </a:extLst>
          </p:cNvPr>
          <p:cNvGrpSpPr/>
          <p:nvPr/>
        </p:nvGrpSpPr>
        <p:grpSpPr>
          <a:xfrm>
            <a:off x="904815" y="2298863"/>
            <a:ext cx="3124438" cy="752665"/>
            <a:chOff x="2171462" y="1271528"/>
            <a:chExt cx="3124438" cy="752665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AF8DB19A-1F9A-B2E3-99E8-FA3DA4076E29}"/>
                </a:ext>
              </a:extLst>
            </p:cNvPr>
            <p:cNvGrpSpPr/>
            <p:nvPr/>
          </p:nvGrpSpPr>
          <p:grpSpPr>
            <a:xfrm>
              <a:off x="2171462" y="1296686"/>
              <a:ext cx="266700" cy="272082"/>
              <a:chOff x="1295162" y="847106"/>
              <a:chExt cx="266700" cy="272082"/>
            </a:xfrm>
          </p:grpSpPr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8ED98D4C-7A6A-6F08-D59F-21C90776BF2F}"/>
                  </a:ext>
                </a:extLst>
              </p:cNvPr>
              <p:cNvSpPr/>
              <p:nvPr/>
            </p:nvSpPr>
            <p:spPr>
              <a:xfrm>
                <a:off x="1295162" y="847106"/>
                <a:ext cx="266700" cy="272082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Fira Sans" panose="020B05030500000200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36DB0F75-D479-0AE3-61C8-B1565D53CD94}"/>
                  </a:ext>
                </a:extLst>
              </p:cNvPr>
              <p:cNvSpPr/>
              <p:nvPr/>
            </p:nvSpPr>
            <p:spPr>
              <a:xfrm>
                <a:off x="1340168" y="896493"/>
                <a:ext cx="176689" cy="172688"/>
              </a:xfrm>
              <a:prstGeom prst="ellipse">
                <a:avLst/>
              </a:prstGeom>
              <a:solidFill>
                <a:srgbClr val="CCEC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 dirty="0">
                  <a:latin typeface="Fira Sans" panose="020B05030500000200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B0C9955-CC95-C4D7-9ED2-FB143EBDEB3E}"/>
                </a:ext>
              </a:extLst>
            </p:cNvPr>
            <p:cNvSpPr/>
            <p:nvPr/>
          </p:nvSpPr>
          <p:spPr>
            <a:xfrm>
              <a:off x="2933700" y="1271528"/>
              <a:ext cx="1516380" cy="321778"/>
            </a:xfrm>
            <a:prstGeom prst="rect">
              <a:avLst/>
            </a:prstGeom>
            <a:solidFill>
              <a:srgbClr val="CCEC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Fira Sans" panose="020B0503050000020004" pitchFamily="34" charset="0"/>
                  <a:cs typeface="Arial" panose="020B0604020202020204" pitchFamily="34" charset="0"/>
                </a:rPr>
                <a:t>Day Course 2</a:t>
              </a:r>
              <a:endParaRPr lang="en-GB" sz="1200" b="1" dirty="0">
                <a:solidFill>
                  <a:schemeClr val="tx1"/>
                </a:solidFill>
                <a:latin typeface="Fira Sans" panose="020B05030500000200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7B71933-E529-9DA2-CAA3-E62CE75EEE76}"/>
                </a:ext>
              </a:extLst>
            </p:cNvPr>
            <p:cNvSpPr txBox="1"/>
            <p:nvPr/>
          </p:nvSpPr>
          <p:spPr>
            <a:xfrm>
              <a:off x="2842260" y="1593306"/>
              <a:ext cx="245364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  <a:latin typeface="Fira Sans" panose="020B0503050000020004" pitchFamily="34" charset="0"/>
                  <a:cs typeface="Arial" panose="020B0604020202020204" pitchFamily="34" charset="0"/>
                </a:rPr>
                <a:t>Applying Statistics  and Core Data science Techniques in Proteomics</a:t>
              </a:r>
              <a:endParaRPr lang="en-GB" sz="1100" dirty="0">
                <a:solidFill>
                  <a:schemeClr val="bg1"/>
                </a:solidFill>
                <a:latin typeface="Fira Sans" panose="020B05030500000200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327758F-AA16-9593-598B-61589C3CA0A5}"/>
              </a:ext>
            </a:extLst>
          </p:cNvPr>
          <p:cNvGrpSpPr/>
          <p:nvPr/>
        </p:nvGrpSpPr>
        <p:grpSpPr>
          <a:xfrm>
            <a:off x="904815" y="3364296"/>
            <a:ext cx="3124438" cy="752665"/>
            <a:chOff x="2171462" y="1271528"/>
            <a:chExt cx="3124438" cy="752665"/>
          </a:xfrm>
        </p:grpSpPr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AAA9F51A-5755-BC81-754C-ED4218524AF8}"/>
                </a:ext>
              </a:extLst>
            </p:cNvPr>
            <p:cNvGrpSpPr/>
            <p:nvPr/>
          </p:nvGrpSpPr>
          <p:grpSpPr>
            <a:xfrm>
              <a:off x="2171462" y="1296686"/>
              <a:ext cx="266700" cy="272082"/>
              <a:chOff x="1295162" y="847106"/>
              <a:chExt cx="266700" cy="272082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B9976B80-90AF-72D4-9183-5D49E7A94000}"/>
                  </a:ext>
                </a:extLst>
              </p:cNvPr>
              <p:cNvSpPr/>
              <p:nvPr/>
            </p:nvSpPr>
            <p:spPr>
              <a:xfrm>
                <a:off x="1295162" y="847106"/>
                <a:ext cx="266700" cy="272082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Fira Sans" panose="020B05030500000200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" name="Oval 18">
                <a:extLst>
                  <a:ext uri="{FF2B5EF4-FFF2-40B4-BE49-F238E27FC236}">
                    <a16:creationId xmlns:a16="http://schemas.microsoft.com/office/drawing/2014/main" id="{E11AAFFD-EB1E-B596-B2C9-9C4A17C32DC1}"/>
                  </a:ext>
                </a:extLst>
              </p:cNvPr>
              <p:cNvSpPr/>
              <p:nvPr/>
            </p:nvSpPr>
            <p:spPr>
              <a:xfrm>
                <a:off x="1340168" y="896493"/>
                <a:ext cx="176689" cy="172688"/>
              </a:xfrm>
              <a:prstGeom prst="ellipse">
                <a:avLst/>
              </a:prstGeom>
              <a:solidFill>
                <a:srgbClr val="CCEC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 dirty="0">
                  <a:latin typeface="Fira Sans" panose="020B05030500000200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CEF5FE77-72C6-8B6A-D9B8-14D2DD353220}"/>
                </a:ext>
              </a:extLst>
            </p:cNvPr>
            <p:cNvSpPr/>
            <p:nvPr/>
          </p:nvSpPr>
          <p:spPr>
            <a:xfrm>
              <a:off x="2933700" y="1271528"/>
              <a:ext cx="1516380" cy="321778"/>
            </a:xfrm>
            <a:prstGeom prst="rect">
              <a:avLst/>
            </a:prstGeom>
            <a:solidFill>
              <a:srgbClr val="CCEC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Fira Sans" panose="020B0503050000020004" pitchFamily="34" charset="0"/>
                  <a:cs typeface="Arial" panose="020B0604020202020204" pitchFamily="34" charset="0"/>
                </a:rPr>
                <a:t>Day Course 3</a:t>
              </a:r>
              <a:endParaRPr lang="en-GB" sz="1200" b="1" dirty="0">
                <a:solidFill>
                  <a:schemeClr val="tx1"/>
                </a:solidFill>
                <a:latin typeface="Fira Sans" panose="020B05030500000200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0064275A-F63F-3F80-6F74-5CEC90AC07B9}"/>
                </a:ext>
              </a:extLst>
            </p:cNvPr>
            <p:cNvSpPr txBox="1"/>
            <p:nvPr/>
          </p:nvSpPr>
          <p:spPr>
            <a:xfrm>
              <a:off x="2842260" y="1593306"/>
              <a:ext cx="245364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  <a:latin typeface="Fira Sans" panose="020B0503050000020004" pitchFamily="34" charset="0"/>
                  <a:cs typeface="Arial" panose="020B0604020202020204" pitchFamily="34" charset="0"/>
                </a:rPr>
                <a:t>Quality Control, Preprocessing and Differential Expression</a:t>
              </a:r>
              <a:endParaRPr lang="en-GB" sz="1100" dirty="0">
                <a:solidFill>
                  <a:schemeClr val="bg1"/>
                </a:solidFill>
                <a:latin typeface="Fira Sans" panose="020B05030500000200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05D4D7B-B8B8-58DD-919C-DABA4E0E1AF0}"/>
              </a:ext>
            </a:extLst>
          </p:cNvPr>
          <p:cNvGrpSpPr/>
          <p:nvPr/>
        </p:nvGrpSpPr>
        <p:grpSpPr>
          <a:xfrm>
            <a:off x="904815" y="4429729"/>
            <a:ext cx="3124438" cy="752665"/>
            <a:chOff x="2171462" y="1271528"/>
            <a:chExt cx="3124438" cy="752665"/>
          </a:xfrm>
        </p:grpSpPr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1E8BED34-4936-6F6C-4B7D-2E2028D1A5AE}"/>
                </a:ext>
              </a:extLst>
            </p:cNvPr>
            <p:cNvGrpSpPr/>
            <p:nvPr/>
          </p:nvGrpSpPr>
          <p:grpSpPr>
            <a:xfrm>
              <a:off x="2171462" y="1296686"/>
              <a:ext cx="266700" cy="272082"/>
              <a:chOff x="1295162" y="847106"/>
              <a:chExt cx="266700" cy="272082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F7D0CBC1-1A30-F5EA-8BF7-CB35FA192272}"/>
                  </a:ext>
                </a:extLst>
              </p:cNvPr>
              <p:cNvSpPr/>
              <p:nvPr/>
            </p:nvSpPr>
            <p:spPr>
              <a:xfrm>
                <a:off x="1295162" y="847106"/>
                <a:ext cx="266700" cy="272082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Fira Sans" panose="020B05030500000200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5" name="Oval 24">
                <a:extLst>
                  <a:ext uri="{FF2B5EF4-FFF2-40B4-BE49-F238E27FC236}">
                    <a16:creationId xmlns:a16="http://schemas.microsoft.com/office/drawing/2014/main" id="{1FBE0FAC-BA21-CB40-ABDA-1D02ADA973AB}"/>
                  </a:ext>
                </a:extLst>
              </p:cNvPr>
              <p:cNvSpPr/>
              <p:nvPr/>
            </p:nvSpPr>
            <p:spPr>
              <a:xfrm>
                <a:off x="1340168" y="896493"/>
                <a:ext cx="176689" cy="172688"/>
              </a:xfrm>
              <a:prstGeom prst="ellipse">
                <a:avLst/>
              </a:prstGeom>
              <a:solidFill>
                <a:srgbClr val="CCEC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 dirty="0">
                  <a:latin typeface="Fira Sans" panose="020B05030500000200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4E0423E0-7802-1A8B-DC34-B25E9465BA69}"/>
                </a:ext>
              </a:extLst>
            </p:cNvPr>
            <p:cNvSpPr/>
            <p:nvPr/>
          </p:nvSpPr>
          <p:spPr>
            <a:xfrm>
              <a:off x="2933700" y="1271528"/>
              <a:ext cx="1516380" cy="321778"/>
            </a:xfrm>
            <a:prstGeom prst="rect">
              <a:avLst/>
            </a:prstGeom>
            <a:solidFill>
              <a:srgbClr val="CCEC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Fira Sans" panose="020B0503050000020004" pitchFamily="34" charset="0"/>
                  <a:cs typeface="Arial" panose="020B0604020202020204" pitchFamily="34" charset="0"/>
                </a:rPr>
                <a:t>Day Course 4</a:t>
              </a:r>
              <a:endParaRPr lang="en-GB" sz="1200" b="1" dirty="0">
                <a:solidFill>
                  <a:schemeClr val="tx1"/>
                </a:solidFill>
                <a:latin typeface="Fira Sans" panose="020B05030500000200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E15258EA-40A6-7749-BE1A-233AB7AC5431}"/>
                </a:ext>
              </a:extLst>
            </p:cNvPr>
            <p:cNvSpPr txBox="1"/>
            <p:nvPr/>
          </p:nvSpPr>
          <p:spPr>
            <a:xfrm>
              <a:off x="2842260" y="1593306"/>
              <a:ext cx="2453640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  <a:latin typeface="Fira Sans" panose="020B0503050000020004" pitchFamily="34" charset="0"/>
                  <a:cs typeface="Arial" panose="020B0604020202020204" pitchFamily="34" charset="0"/>
                </a:rPr>
                <a:t>Functional Analysis, Longitudinal &amp; Public Data</a:t>
              </a:r>
              <a:endParaRPr lang="en-GB" sz="1100" dirty="0">
                <a:solidFill>
                  <a:schemeClr val="bg1"/>
                </a:solidFill>
                <a:latin typeface="Fira Sans" panose="020B05030500000200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2B0A57D1-D13B-5FC5-7489-97894F11DB97}"/>
              </a:ext>
            </a:extLst>
          </p:cNvPr>
          <p:cNvGrpSpPr/>
          <p:nvPr/>
        </p:nvGrpSpPr>
        <p:grpSpPr>
          <a:xfrm>
            <a:off x="904815" y="5495163"/>
            <a:ext cx="3124438" cy="1091219"/>
            <a:chOff x="2171462" y="1271528"/>
            <a:chExt cx="3124438" cy="1091219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D7D4EB97-C476-CF68-1DD0-869586D2AEE9}"/>
                </a:ext>
              </a:extLst>
            </p:cNvPr>
            <p:cNvGrpSpPr/>
            <p:nvPr/>
          </p:nvGrpSpPr>
          <p:grpSpPr>
            <a:xfrm>
              <a:off x="2171462" y="1296686"/>
              <a:ext cx="266700" cy="272082"/>
              <a:chOff x="1295162" y="847106"/>
              <a:chExt cx="266700" cy="272082"/>
            </a:xfrm>
          </p:grpSpPr>
          <p:sp>
            <p:nvSpPr>
              <p:cNvPr id="30" name="Oval 29">
                <a:extLst>
                  <a:ext uri="{FF2B5EF4-FFF2-40B4-BE49-F238E27FC236}">
                    <a16:creationId xmlns:a16="http://schemas.microsoft.com/office/drawing/2014/main" id="{29910088-4F1D-EC50-9031-50DE4E46233A}"/>
                  </a:ext>
                </a:extLst>
              </p:cNvPr>
              <p:cNvSpPr/>
              <p:nvPr/>
            </p:nvSpPr>
            <p:spPr>
              <a:xfrm>
                <a:off x="1295162" y="847106"/>
                <a:ext cx="266700" cy="272082"/>
              </a:xfrm>
              <a:prstGeom prst="ellipse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en-GB" sz="1600">
                  <a:latin typeface="Fira Sans" panose="020B05030500000200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31" name="Oval 30">
                <a:extLst>
                  <a:ext uri="{FF2B5EF4-FFF2-40B4-BE49-F238E27FC236}">
                    <a16:creationId xmlns:a16="http://schemas.microsoft.com/office/drawing/2014/main" id="{5BEE60E8-22B7-B32C-28E9-6F32D6F78726}"/>
                  </a:ext>
                </a:extLst>
              </p:cNvPr>
              <p:cNvSpPr/>
              <p:nvPr/>
            </p:nvSpPr>
            <p:spPr>
              <a:xfrm>
                <a:off x="1340168" y="896493"/>
                <a:ext cx="176689" cy="172688"/>
              </a:xfrm>
              <a:prstGeom prst="ellipse">
                <a:avLst/>
              </a:prstGeom>
              <a:solidFill>
                <a:srgbClr val="CCECFF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1600" dirty="0">
                  <a:latin typeface="Fira Sans" panose="020B05030500000200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E5D76C50-EADD-A25F-3D49-14489BA25418}"/>
                </a:ext>
              </a:extLst>
            </p:cNvPr>
            <p:cNvSpPr/>
            <p:nvPr/>
          </p:nvSpPr>
          <p:spPr>
            <a:xfrm>
              <a:off x="2933700" y="1271528"/>
              <a:ext cx="1516380" cy="321778"/>
            </a:xfrm>
            <a:prstGeom prst="rect">
              <a:avLst/>
            </a:prstGeom>
            <a:solidFill>
              <a:srgbClr val="CCECFF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b="1" dirty="0">
                  <a:solidFill>
                    <a:schemeClr val="tx1"/>
                  </a:solidFill>
                  <a:latin typeface="Fira Sans" panose="020B0503050000020004" pitchFamily="34" charset="0"/>
                  <a:cs typeface="Arial" panose="020B0604020202020204" pitchFamily="34" charset="0"/>
                </a:rPr>
                <a:t>Day Course 5</a:t>
              </a:r>
              <a:endParaRPr lang="en-GB" sz="1200" b="1" dirty="0">
                <a:solidFill>
                  <a:schemeClr val="tx1"/>
                </a:solidFill>
                <a:latin typeface="Fira Sans" panose="020B05030500000200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D68416BA-66D8-4178-B3F5-46041029CF89}"/>
                </a:ext>
              </a:extLst>
            </p:cNvPr>
            <p:cNvSpPr txBox="1"/>
            <p:nvPr/>
          </p:nvSpPr>
          <p:spPr>
            <a:xfrm>
              <a:off x="2842260" y="1593306"/>
              <a:ext cx="2453640" cy="76944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100" dirty="0">
                  <a:solidFill>
                    <a:schemeClr val="bg1"/>
                  </a:solidFill>
                  <a:latin typeface="Fira Sans" panose="020B0503050000020004" pitchFamily="34" charset="0"/>
                  <a:cs typeface="Arial" panose="020B0604020202020204" pitchFamily="34" charset="0"/>
                </a:rPr>
                <a:t>Application on Real Data, Advanced techniques, solving problems with supervised learning + Exploring future direction of proteomics</a:t>
              </a:r>
              <a:endParaRPr lang="en-GB" sz="1100" dirty="0">
                <a:solidFill>
                  <a:schemeClr val="bg1"/>
                </a:solidFill>
                <a:latin typeface="Fira Sans" panose="020B05030500000200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58B5DA55-DF4E-3061-3827-C7AB22D31D59}"/>
              </a:ext>
            </a:extLst>
          </p:cNvPr>
          <p:cNvSpPr txBox="1"/>
          <p:nvPr/>
        </p:nvSpPr>
        <p:spPr>
          <a:xfrm>
            <a:off x="292238" y="692420"/>
            <a:ext cx="47382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Fira Sans" panose="020B0503050000020004" pitchFamily="34" charset="0"/>
                <a:cs typeface="Arial" panose="020B0604020202020204" pitchFamily="34" charset="0"/>
              </a:rPr>
              <a:t>In-person: </a:t>
            </a:r>
            <a:r>
              <a:rPr lang="en-US" i="1" dirty="0">
                <a:latin typeface="Fira Sans" panose="020B0503050000020004" pitchFamily="34" charset="0"/>
                <a:cs typeface="Arial" panose="020B0604020202020204" pitchFamily="34" charset="0"/>
              </a:rPr>
              <a:t>r4proteomics</a:t>
            </a:r>
            <a:r>
              <a:rPr lang="en-US" dirty="0">
                <a:latin typeface="Fira Sans" panose="020B0503050000020004" pitchFamily="34" charset="0"/>
                <a:cs typeface="Arial" panose="020B0604020202020204" pitchFamily="34" charset="0"/>
              </a:rPr>
              <a:t> training</a:t>
            </a:r>
            <a:endParaRPr lang="en-GB" dirty="0">
              <a:latin typeface="Fira Sans" panose="020B0503050000020004" pitchFamily="34" charset="0"/>
              <a:cs typeface="Arial" panose="020B0604020202020204" pitchFamily="34" charset="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B3AA0A-771C-EAC7-8AC7-7B518661E70D}"/>
              </a:ext>
            </a:extLst>
          </p:cNvPr>
          <p:cNvSpPr txBox="1"/>
          <p:nvPr/>
        </p:nvSpPr>
        <p:spPr>
          <a:xfrm>
            <a:off x="292238" y="139157"/>
            <a:ext cx="785090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Fira Sans" panose="020B0503050000020004" pitchFamily="34" charset="0"/>
                <a:cs typeface="Arial" panose="020B0604020202020204" pitchFamily="34" charset="0"/>
              </a:rPr>
              <a:t>A </a:t>
            </a:r>
            <a:r>
              <a:rPr lang="en-US" sz="2400" b="1" dirty="0">
                <a:latin typeface="Fira Sans" panose="020B0503050000020004" pitchFamily="34" charset="0"/>
                <a:cs typeface="Arial" panose="020B0604020202020204" pitchFamily="34" charset="0"/>
              </a:rPr>
              <a:t>5-day training</a:t>
            </a:r>
            <a:r>
              <a:rPr lang="en-US" sz="2400" dirty="0">
                <a:latin typeface="Fira Sans" panose="020B0503050000020004" pitchFamily="34" charset="0"/>
                <a:cs typeface="Arial" panose="020B0604020202020204" pitchFamily="34" charset="0"/>
              </a:rPr>
              <a:t> on proteomics data analysis using </a:t>
            </a:r>
            <a:r>
              <a:rPr lang="en-US" sz="2400" b="1" dirty="0">
                <a:latin typeface="Fira Sans" panose="020B0503050000020004" pitchFamily="34" charset="0"/>
                <a:cs typeface="Arial" panose="020B0604020202020204" pitchFamily="34" charset="0"/>
              </a:rPr>
              <a:t>R</a:t>
            </a:r>
            <a:r>
              <a:rPr lang="en-US" sz="2400" dirty="0">
                <a:latin typeface="Fira Sans" panose="020B0503050000020004" pitchFamily="34" charset="0"/>
                <a:cs typeface="Arial" panose="020B0604020202020204" pitchFamily="34" charset="0"/>
              </a:rPr>
              <a:t>.</a:t>
            </a:r>
            <a:endParaRPr lang="en-GB" sz="2400" dirty="0">
              <a:latin typeface="Fira Sans" panose="020B0503050000020004" pitchFamily="34" charset="0"/>
              <a:cs typeface="Arial" panose="020B0604020202020204" pitchFamily="34" charset="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10EA54D-5BA8-0C63-00E1-F88E4F3B6ABC}"/>
              </a:ext>
            </a:extLst>
          </p:cNvPr>
          <p:cNvSpPr txBox="1"/>
          <p:nvPr/>
        </p:nvSpPr>
        <p:spPr>
          <a:xfrm>
            <a:off x="7256456" y="2459752"/>
            <a:ext cx="36576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Fira Sans" panose="020B0503050000020004" pitchFamily="34" charset="0"/>
                <a:cs typeface="Arial" panose="020B0604020202020204" pitchFamily="34" charset="0"/>
              </a:rPr>
              <a:t>Supporting materials available on: </a:t>
            </a:r>
            <a:r>
              <a:rPr lang="en-GB" sz="1600" dirty="0">
                <a:latin typeface="Fira Sans" panose="020B0503050000020004" pitchFamily="34" charset="0"/>
                <a:cs typeface="Arial" panose="020B0604020202020204" pitchFamily="34" charset="0"/>
                <a:hlinkClick r:id="rId2"/>
              </a:rPr>
              <a:t>Welcome | r4proteomics</a:t>
            </a:r>
            <a:endParaRPr lang="en-GB" sz="1600" dirty="0">
              <a:latin typeface="Fira Sans" panose="020B0503050000020004" pitchFamily="34" charset="0"/>
              <a:cs typeface="Arial" panose="020B060402020202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846BE8C-7F4D-1804-64A2-49AD13A8398F}"/>
              </a:ext>
            </a:extLst>
          </p:cNvPr>
          <p:cNvSpPr txBox="1"/>
          <p:nvPr/>
        </p:nvSpPr>
        <p:spPr>
          <a:xfrm>
            <a:off x="7256456" y="4597619"/>
            <a:ext cx="3469456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600" dirty="0">
                <a:latin typeface="Fira Sans" panose="020B0503050000020004" pitchFamily="34" charset="0"/>
                <a:cs typeface="Arial" panose="020B0604020202020204" pitchFamily="34" charset="0"/>
              </a:rPr>
              <a:t>written by: </a:t>
            </a:r>
          </a:p>
          <a:p>
            <a:r>
              <a:rPr lang="en-GB" sz="1600" b="1" dirty="0">
                <a:latin typeface="Fira Sans" panose="020B0503050000020004" pitchFamily="34" charset="0"/>
                <a:cs typeface="Arial" panose="020B0604020202020204" pitchFamily="34" charset="0"/>
              </a:rPr>
              <a:t>Miguel CASANOVA</a:t>
            </a:r>
            <a:r>
              <a:rPr lang="en-GB" sz="1600" dirty="0">
                <a:latin typeface="Fira Sans" panose="020B0503050000020004" pitchFamily="34" charset="0"/>
                <a:cs typeface="Arial" panose="020B0604020202020204" pitchFamily="34" charset="0"/>
              </a:rPr>
              <a:t>, PhD &amp; </a:t>
            </a:r>
          </a:p>
          <a:p>
            <a:r>
              <a:rPr lang="en-GB" sz="1600" b="1" dirty="0">
                <a:latin typeface="Fira Sans" panose="020B0503050000020004" pitchFamily="34" charset="0"/>
                <a:cs typeface="Arial" panose="020B0604020202020204" pitchFamily="34" charset="0"/>
              </a:rPr>
              <a:t>Dany MUKESHA</a:t>
            </a:r>
          </a:p>
        </p:txBody>
      </p:sp>
    </p:spTree>
    <p:extLst>
      <p:ext uri="{BB962C8B-B14F-4D97-AF65-F5344CB8AC3E}">
        <p14:creationId xmlns:p14="http://schemas.microsoft.com/office/powerpoint/2010/main" val="3480163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33935DA-D8F6-7F15-8D5B-043761D12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C3750B68-637C-C5F2-FC29-4389140D957B}"/>
              </a:ext>
            </a:extLst>
          </p:cNvPr>
          <p:cNvGrpSpPr/>
          <p:nvPr/>
        </p:nvGrpSpPr>
        <p:grpSpPr>
          <a:xfrm>
            <a:off x="493776" y="270357"/>
            <a:ext cx="8366759" cy="5042227"/>
            <a:chOff x="624077" y="270357"/>
            <a:chExt cx="7800596" cy="5042227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61A50992-8086-C255-B20E-5F8837D9DA27}"/>
                </a:ext>
              </a:extLst>
            </p:cNvPr>
            <p:cNvSpPr txBox="1"/>
            <p:nvPr/>
          </p:nvSpPr>
          <p:spPr>
            <a:xfrm>
              <a:off x="624078" y="1369582"/>
              <a:ext cx="5154930" cy="394300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spcAft>
                  <a:spcPts val="600"/>
                </a:spcAft>
                <a:buNone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The Proteome</a:t>
              </a:r>
            </a:p>
            <a:p>
              <a:pPr marL="285750" indent="-285750" algn="l">
                <a:lnSpc>
                  <a:spcPct val="150000"/>
                </a:lnSpc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Definition: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The entire complement of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proteins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 expressed by a cell, tissue, or organism at a particular time, under specific conditions. </a:t>
              </a:r>
            </a:p>
            <a:p>
              <a:pPr marL="285750" indent="-285750" algn="l">
                <a:lnSpc>
                  <a:spcPct val="150000"/>
                </a:lnSpc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Dynamic Nature: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Unlike the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genome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 (which is relatively static), the proteome is highly dynamic, fluctuating rapidly in response to environmental stimuli, cell cycle stage, and disease state.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AE06FD-1EA2-945F-48CA-0068FDEF4E49}"/>
                </a:ext>
              </a:extLst>
            </p:cNvPr>
            <p:cNvSpPr txBox="1"/>
            <p:nvPr/>
          </p:nvSpPr>
          <p:spPr>
            <a:xfrm>
              <a:off x="624077" y="270357"/>
              <a:ext cx="780059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F0502020204030204" pitchFamily="34" charset="0"/>
                </a:rPr>
                <a:t>Introduction to the Proteome and Proteomics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5210272-5E23-833B-0B85-59B8C9223EFD}"/>
              </a:ext>
            </a:extLst>
          </p:cNvPr>
          <p:cNvGrpSpPr/>
          <p:nvPr/>
        </p:nvGrpSpPr>
        <p:grpSpPr>
          <a:xfrm>
            <a:off x="6169152" y="270357"/>
            <a:ext cx="5946648" cy="4057342"/>
            <a:chOff x="624078" y="270357"/>
            <a:chExt cx="5869258" cy="4057342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0847023A-EED8-B1A6-4C53-C8A9DF6124E0}"/>
                </a:ext>
              </a:extLst>
            </p:cNvPr>
            <p:cNvSpPr txBox="1"/>
            <p:nvPr/>
          </p:nvSpPr>
          <p:spPr>
            <a:xfrm>
              <a:off x="624078" y="1369582"/>
              <a:ext cx="5869258" cy="295811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b="1" dirty="0">
                  <a:solidFill>
                    <a:srgbClr val="000000"/>
                  </a:solidFill>
                  <a:latin typeface="Fira Sans" panose="020B0503050000020004" pitchFamily="34" charset="0"/>
                </a:rPr>
                <a:t>Proteomics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b="1" dirty="0">
                  <a:solidFill>
                    <a:srgbClr val="000000"/>
                  </a:solidFill>
                  <a:latin typeface="Fira Sans" panose="020B0503050000020004" pitchFamily="34" charset="0"/>
                </a:rPr>
                <a:t>Definition: </a:t>
              </a:r>
              <a:r>
                <a:rPr lang="en-US" dirty="0">
                  <a:solidFill>
                    <a:srgbClr val="000000"/>
                  </a:solidFill>
                  <a:latin typeface="Fira Sans" panose="020B0503050000020004" pitchFamily="34" charset="0"/>
                </a:rPr>
                <a:t>The large-scale study of the proteome, including the </a:t>
              </a:r>
              <a:r>
                <a:rPr lang="en-US" b="1" dirty="0">
                  <a:solidFill>
                    <a:srgbClr val="000000"/>
                  </a:solidFill>
                  <a:latin typeface="Fira Sans" panose="020B0503050000020004" pitchFamily="34" charset="0"/>
                </a:rPr>
                <a:t>expression, structure, function, interactions, </a:t>
              </a:r>
              <a:r>
                <a:rPr lang="en-US" dirty="0">
                  <a:solidFill>
                    <a:srgbClr val="000000"/>
                  </a:solidFill>
                  <a:latin typeface="Fira Sans" panose="020B0503050000020004" pitchFamily="34" charset="0"/>
                </a:rPr>
                <a:t>and </a:t>
              </a:r>
              <a:r>
                <a:rPr lang="en-US" b="1" dirty="0">
                  <a:solidFill>
                    <a:srgbClr val="000000"/>
                  </a:solidFill>
                  <a:latin typeface="Fira Sans" panose="020B0503050000020004" pitchFamily="34" charset="0"/>
                </a:rPr>
                <a:t>modifications of proteins</a:t>
              </a:r>
              <a:r>
                <a:rPr lang="en-US" dirty="0">
                  <a:solidFill>
                    <a:srgbClr val="000000"/>
                  </a:solidFill>
                  <a:latin typeface="Fira Sans" panose="020B0503050000020004" pitchFamily="34" charset="0"/>
                </a:rPr>
                <a:t>.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b="1" dirty="0">
                  <a:solidFill>
                    <a:srgbClr val="000000"/>
                  </a:solidFill>
                  <a:latin typeface="Fira Sans" panose="020B0503050000020004" pitchFamily="34" charset="0"/>
                </a:rPr>
                <a:t>Goal: </a:t>
              </a:r>
              <a:r>
                <a:rPr lang="en-US" dirty="0">
                  <a:solidFill>
                    <a:srgbClr val="000000"/>
                  </a:solidFill>
                  <a:latin typeface="Fira Sans" panose="020B0503050000020004" pitchFamily="34" charset="0"/>
                </a:rPr>
                <a:t>To provide a holistic, functional understanding of biological systems that cannot be achieved by studying DNA or RNA alone.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8B5AAA06-1A16-B640-709E-EA14E0072BB4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6722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endParaRPr lang="en-US" sz="2800" b="0" i="0" dirty="0">
                <a:solidFill>
                  <a:srgbClr val="1A292C"/>
                </a:solidFill>
                <a:effectLst/>
                <a:latin typeface="Fira Sans" panose="020F0502020204030204" pitchFamily="34" charset="0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EA36B0F0-B1AF-69D3-77EB-59D71AFA75AD}"/>
              </a:ext>
            </a:extLst>
          </p:cNvPr>
          <p:cNvSpPr txBox="1"/>
          <p:nvPr/>
        </p:nvSpPr>
        <p:spPr>
          <a:xfrm>
            <a:off x="493776" y="5739574"/>
            <a:ext cx="9747504" cy="402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" lvl="1">
              <a:lnSpc>
                <a:spcPct val="150000"/>
              </a:lnSpc>
            </a:pPr>
            <a:r>
              <a:rPr lang="en-US" sz="1500" i="1" dirty="0">
                <a:solidFill>
                  <a:srgbClr val="000000"/>
                </a:solidFill>
                <a:latin typeface="Fira Sans" panose="020B0503050000020004" pitchFamily="34" charset="0"/>
              </a:rPr>
              <a:t>Changes in </a:t>
            </a:r>
            <a:r>
              <a:rPr lang="en-US" sz="1500" b="1" i="1" dirty="0">
                <a:solidFill>
                  <a:srgbClr val="000000"/>
                </a:solidFill>
                <a:latin typeface="Fira Sans" panose="020B0503050000020004" pitchFamily="34" charset="0"/>
              </a:rPr>
              <a:t>mRNA</a:t>
            </a:r>
            <a:r>
              <a:rPr lang="en-US" sz="1500" i="1" dirty="0">
                <a:solidFill>
                  <a:srgbClr val="000000"/>
                </a:solidFill>
                <a:latin typeface="Fira Sans" panose="020B0503050000020004" pitchFamily="34" charset="0"/>
              </a:rPr>
              <a:t> </a:t>
            </a:r>
            <a:r>
              <a:rPr lang="en-US" sz="1500" b="1" i="1" dirty="0">
                <a:solidFill>
                  <a:srgbClr val="000000"/>
                </a:solidFill>
                <a:latin typeface="Fira Sans" panose="020B0503050000020004" pitchFamily="34" charset="0"/>
              </a:rPr>
              <a:t>expression</a:t>
            </a:r>
            <a:r>
              <a:rPr lang="en-US" sz="1500" i="1" dirty="0">
                <a:solidFill>
                  <a:srgbClr val="000000"/>
                </a:solidFill>
                <a:latin typeface="Fira Sans" panose="020B0503050000020004" pitchFamily="34" charset="0"/>
              </a:rPr>
              <a:t> rarely perfectly correlate with changes in </a:t>
            </a:r>
            <a:r>
              <a:rPr lang="en-US" sz="1500" b="1" i="1" dirty="0">
                <a:solidFill>
                  <a:srgbClr val="000000"/>
                </a:solidFill>
                <a:latin typeface="Fira Sans" panose="020B0503050000020004" pitchFamily="34" charset="0"/>
              </a:rPr>
              <a:t>protein function or abundance.</a:t>
            </a:r>
          </a:p>
        </p:txBody>
      </p:sp>
    </p:spTree>
    <p:extLst>
      <p:ext uri="{BB962C8B-B14F-4D97-AF65-F5344CB8AC3E}">
        <p14:creationId xmlns:p14="http://schemas.microsoft.com/office/powerpoint/2010/main" val="19283026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B04044-DBF9-041B-50E1-B4DA9077B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D777F88-CDC2-EC0B-0458-F8B34A4DD222}"/>
              </a:ext>
            </a:extLst>
          </p:cNvPr>
          <p:cNvSpPr txBox="1"/>
          <p:nvPr/>
        </p:nvSpPr>
        <p:spPr>
          <a:xfrm>
            <a:off x="493776" y="270357"/>
            <a:ext cx="836675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2800" b="0" i="0" dirty="0">
                <a:solidFill>
                  <a:srgbClr val="1A292C"/>
                </a:solidFill>
                <a:effectLst/>
                <a:latin typeface="Fira Sans" panose="020F0502020204030204" pitchFamily="34" charset="0"/>
              </a:rPr>
              <a:t>Why Study Proteins? (The Complexity Gap)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5EC7B7A-CD7F-963A-C3E4-507D25F72B86}"/>
              </a:ext>
            </a:extLst>
          </p:cNvPr>
          <p:cNvSpPr txBox="1"/>
          <p:nvPr/>
        </p:nvSpPr>
        <p:spPr>
          <a:xfrm>
            <a:off x="6169152" y="270357"/>
            <a:ext cx="5222901" cy="672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endParaRPr lang="en-US" sz="2800" b="0" i="0" dirty="0">
              <a:solidFill>
                <a:srgbClr val="1A292C"/>
              </a:solidFill>
              <a:effectLst/>
              <a:latin typeface="Fira Sans" panose="020F0502020204030204" pitchFamily="34" charset="0"/>
            </a:endParaRPr>
          </a:p>
        </p:txBody>
      </p:sp>
      <p:graphicFrame>
        <p:nvGraphicFramePr>
          <p:cNvPr id="17" name="Diagram 16">
            <a:extLst>
              <a:ext uri="{FF2B5EF4-FFF2-40B4-BE49-F238E27FC236}">
                <a16:creationId xmlns:a16="http://schemas.microsoft.com/office/drawing/2014/main" id="{EF42C7BF-A724-9CFA-E87A-63682ECFBEE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55781231"/>
              </p:ext>
            </p:extLst>
          </p:nvPr>
        </p:nvGraphicFramePr>
        <p:xfrm>
          <a:off x="758952" y="1289305"/>
          <a:ext cx="9464040" cy="47914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675918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B531D11-4662-77BC-1E54-B26B31448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88087569-FEBB-15FA-0402-00BD8259AC40}"/>
              </a:ext>
            </a:extLst>
          </p:cNvPr>
          <p:cNvSpPr txBox="1"/>
          <p:nvPr/>
        </p:nvSpPr>
        <p:spPr>
          <a:xfrm>
            <a:off x="493776" y="270357"/>
            <a:ext cx="836675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2800" b="0" i="0" dirty="0">
                <a:solidFill>
                  <a:srgbClr val="1A292C"/>
                </a:solidFill>
                <a:effectLst/>
                <a:latin typeface="Fira Sans" panose="020F0502020204030204" pitchFamily="34" charset="0"/>
              </a:rPr>
              <a:t>Why Study Proteins? (The Complexity Gap)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B77B539-2E42-9FE4-A98E-0ADFEC6DB7E1}"/>
              </a:ext>
            </a:extLst>
          </p:cNvPr>
          <p:cNvSpPr txBox="1"/>
          <p:nvPr/>
        </p:nvSpPr>
        <p:spPr>
          <a:xfrm>
            <a:off x="6169152" y="270357"/>
            <a:ext cx="5222901" cy="672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endParaRPr lang="en-US" sz="2800" b="0" i="0" dirty="0">
              <a:solidFill>
                <a:srgbClr val="1A292C"/>
              </a:solidFill>
              <a:effectLst/>
              <a:latin typeface="Fira Sans" panose="020F0502020204030204" pitchFamily="34" charset="0"/>
            </a:endParaRPr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BAA8EFB0-210E-15BF-2003-FC8EAE99FF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11377966"/>
              </p:ext>
            </p:extLst>
          </p:nvPr>
        </p:nvGraphicFramePr>
        <p:xfrm>
          <a:off x="838200" y="1216152"/>
          <a:ext cx="10783824" cy="4498848"/>
        </p:xfrm>
        <a:graphic>
          <a:graphicData uri="http://schemas.openxmlformats.org/drawingml/2006/table">
            <a:tbl>
              <a:tblPr/>
              <a:tblGrid>
                <a:gridCol w="2462784">
                  <a:extLst>
                    <a:ext uri="{9D8B030D-6E8A-4147-A177-3AD203B41FA5}">
                      <a16:colId xmlns:a16="http://schemas.microsoft.com/office/drawing/2014/main" val="659332361"/>
                    </a:ext>
                  </a:extLst>
                </a:gridCol>
                <a:gridCol w="3483864">
                  <a:extLst>
                    <a:ext uri="{9D8B030D-6E8A-4147-A177-3AD203B41FA5}">
                      <a16:colId xmlns:a16="http://schemas.microsoft.com/office/drawing/2014/main" val="3942756304"/>
                    </a:ext>
                  </a:extLst>
                </a:gridCol>
                <a:gridCol w="4837176">
                  <a:extLst>
                    <a:ext uri="{9D8B030D-6E8A-4147-A177-3AD203B41FA5}">
                      <a16:colId xmlns:a16="http://schemas.microsoft.com/office/drawing/2014/main" val="3866461926"/>
                    </a:ext>
                  </a:extLst>
                </a:gridCol>
              </a:tblGrid>
              <a:tr h="61533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 dirty="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Feature</a:t>
                      </a:r>
                      <a:endParaRPr lang="en-GB" sz="1600" dirty="0">
                        <a:solidFill>
                          <a:srgbClr val="1B1C1D"/>
                        </a:solidFill>
                        <a:effectLst/>
                        <a:latin typeface="Fira Sans" panose="020B0503050000020004" pitchFamily="34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 dirty="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Genomics/Transcriptomics</a:t>
                      </a:r>
                      <a:endParaRPr lang="en-GB" sz="1600" dirty="0">
                        <a:solidFill>
                          <a:srgbClr val="1B1C1D"/>
                        </a:solidFill>
                        <a:effectLst/>
                        <a:latin typeface="Fira Sans" panose="020B0503050000020004" pitchFamily="34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 dirty="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Proteomics</a:t>
                      </a:r>
                      <a:endParaRPr lang="en-GB" sz="1600" dirty="0">
                        <a:solidFill>
                          <a:srgbClr val="1B1C1D"/>
                        </a:solidFill>
                        <a:effectLst/>
                        <a:latin typeface="Fira Sans" panose="020B0503050000020004" pitchFamily="34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9896938"/>
                  </a:ext>
                </a:extLst>
              </a:tr>
              <a:tr h="61533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Analyte</a:t>
                      </a:r>
                      <a:endParaRPr lang="en-GB" sz="1600">
                        <a:solidFill>
                          <a:srgbClr val="1B1C1D"/>
                        </a:solidFill>
                        <a:effectLst/>
                        <a:latin typeface="Fira Sans" panose="020B0503050000020004" pitchFamily="34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dirty="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DNA/RNA (genes/transcripts)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Proteins</a:t>
                      </a:r>
                      <a:r>
                        <a:rPr lang="en-GB" sz="160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 (functional molecules)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6096751"/>
                  </a:ext>
                </a:extLst>
              </a:tr>
              <a:tr h="61533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Complexity</a:t>
                      </a:r>
                      <a:endParaRPr lang="en-GB" sz="1600">
                        <a:solidFill>
                          <a:srgbClr val="1B1C1D"/>
                        </a:solidFill>
                        <a:effectLst/>
                        <a:latin typeface="Fira Sans" panose="020B0503050000020004" pitchFamily="34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Relatively simple (linear sequence)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 dirty="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Extremely Complex</a:t>
                      </a:r>
                      <a:endParaRPr lang="en-GB" sz="1600" dirty="0">
                        <a:solidFill>
                          <a:srgbClr val="1B1C1D"/>
                        </a:solidFill>
                        <a:effectLst/>
                        <a:latin typeface="Fira Sans" panose="020B0503050000020004" pitchFamily="34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6388566"/>
                  </a:ext>
                </a:extLst>
              </a:tr>
              <a:tr h="615339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Protein Count</a:t>
                      </a:r>
                      <a:endParaRPr lang="en-GB" sz="1600">
                        <a:solidFill>
                          <a:srgbClr val="1B1C1D"/>
                        </a:solidFill>
                        <a:effectLst/>
                        <a:latin typeface="Fira Sans" panose="020B0503050000020004" pitchFamily="34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~20,000 human genes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 dirty="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&gt;1,000,000</a:t>
                      </a:r>
                      <a:r>
                        <a:rPr lang="en-GB" sz="1600" dirty="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 distinct protein species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63085833"/>
                  </a:ext>
                </a:extLst>
              </a:tr>
              <a:tr h="2037492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 dirty="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Regulation</a:t>
                      </a:r>
                      <a:endParaRPr lang="en-GB" sz="1600" dirty="0">
                        <a:solidFill>
                          <a:srgbClr val="1B1C1D"/>
                        </a:solidFill>
                        <a:effectLst/>
                        <a:latin typeface="Fira Sans" panose="020B0503050000020004" pitchFamily="34" charset="0"/>
                      </a:endParaRP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dirty="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Does not account for PTMs, splicing, or localization.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 dirty="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Accounts for:</a:t>
                      </a:r>
                      <a:r>
                        <a:rPr lang="en-GB" sz="1600" dirty="0">
                          <a:solidFill>
                            <a:srgbClr val="1B1C1D"/>
                          </a:solidFill>
                          <a:effectLst/>
                          <a:latin typeface="Fira Sans" panose="020B0503050000020004" pitchFamily="34" charset="0"/>
                        </a:rPr>
                        <a:t> Post-Translational Modifications (PTMs), Isoforms, Protein-Protein Interactions, Localization.</a:t>
                      </a:r>
                    </a:p>
                  </a:txBody>
                  <a:tcPr marL="114300" marR="114300" marT="76200" marB="76200" anchor="ctr">
                    <a:lnL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6963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66661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ECA5AB3-623D-28B6-2FE1-0292DB6DB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B266964-57C8-3F4D-5E80-9698C64D9FA8}"/>
              </a:ext>
            </a:extLst>
          </p:cNvPr>
          <p:cNvCxnSpPr>
            <a:cxnSpLocks/>
            <a:stCxn id="25" idx="2"/>
            <a:endCxn id="36" idx="0"/>
          </p:cNvCxnSpPr>
          <p:nvPr/>
        </p:nvCxnSpPr>
        <p:spPr>
          <a:xfrm>
            <a:off x="5433060" y="2523364"/>
            <a:ext cx="0" cy="294737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B6AB14F-CDC9-AAB5-D32C-C07D6FA43E3E}"/>
              </a:ext>
            </a:extLst>
          </p:cNvPr>
          <p:cNvSpPr txBox="1"/>
          <p:nvPr/>
        </p:nvSpPr>
        <p:spPr>
          <a:xfrm>
            <a:off x="493776" y="270357"/>
            <a:ext cx="938174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2800" dirty="0">
                <a:solidFill>
                  <a:srgbClr val="1A292C"/>
                </a:solidFill>
                <a:latin typeface="Fira Sans" panose="020F0502020204030204" pitchFamily="34" charset="0"/>
              </a:rPr>
              <a:t>Protein Complexity: From Gene to Functional Proteome</a:t>
            </a:r>
            <a:endParaRPr lang="en-US" sz="2800" b="0" i="0" dirty="0">
              <a:solidFill>
                <a:srgbClr val="1A292C"/>
              </a:solidFill>
              <a:effectLst/>
              <a:latin typeface="Fira Sans" panose="020F050202020403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DA01F04-35D8-2F06-7500-006819AB1C6A}"/>
              </a:ext>
            </a:extLst>
          </p:cNvPr>
          <p:cNvSpPr txBox="1"/>
          <p:nvPr/>
        </p:nvSpPr>
        <p:spPr>
          <a:xfrm>
            <a:off x="6169152" y="270357"/>
            <a:ext cx="5222901" cy="672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endParaRPr lang="en-US" sz="2800" b="0" i="0" dirty="0">
              <a:solidFill>
                <a:srgbClr val="1A292C"/>
              </a:solidFill>
              <a:effectLst/>
              <a:latin typeface="Fira Sans" panose="020F050202020403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C93CC6-5DBC-6B6C-765E-ABA55CE33B23}"/>
              </a:ext>
            </a:extLst>
          </p:cNvPr>
          <p:cNvSpPr txBox="1"/>
          <p:nvPr/>
        </p:nvSpPr>
        <p:spPr>
          <a:xfrm>
            <a:off x="493776" y="5946202"/>
            <a:ext cx="9747504" cy="402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" lvl="1">
              <a:lnSpc>
                <a:spcPct val="150000"/>
              </a:lnSpc>
            </a:pPr>
            <a:r>
              <a:rPr lang="en-US" sz="1500" i="1" dirty="0">
                <a:solidFill>
                  <a:srgbClr val="000000"/>
                </a:solidFill>
                <a:latin typeface="Fira Sans" panose="020B0503050000020004" pitchFamily="34" charset="0"/>
              </a:rPr>
              <a:t>Changes in </a:t>
            </a:r>
            <a:r>
              <a:rPr lang="en-US" sz="1500" b="1" i="1" dirty="0">
                <a:solidFill>
                  <a:srgbClr val="000000"/>
                </a:solidFill>
                <a:latin typeface="Fira Sans" panose="020B0503050000020004" pitchFamily="34" charset="0"/>
              </a:rPr>
              <a:t>mRNA</a:t>
            </a:r>
            <a:r>
              <a:rPr lang="en-US" sz="1500" i="1" dirty="0">
                <a:solidFill>
                  <a:srgbClr val="000000"/>
                </a:solidFill>
                <a:latin typeface="Fira Sans" panose="020B0503050000020004" pitchFamily="34" charset="0"/>
              </a:rPr>
              <a:t> </a:t>
            </a:r>
            <a:r>
              <a:rPr lang="en-US" sz="1500" b="1" i="1" dirty="0">
                <a:solidFill>
                  <a:srgbClr val="000000"/>
                </a:solidFill>
                <a:latin typeface="Fira Sans" panose="020B0503050000020004" pitchFamily="34" charset="0"/>
              </a:rPr>
              <a:t>expression</a:t>
            </a:r>
            <a:r>
              <a:rPr lang="en-US" sz="1500" i="1" dirty="0">
                <a:solidFill>
                  <a:srgbClr val="000000"/>
                </a:solidFill>
                <a:latin typeface="Fira Sans" panose="020B0503050000020004" pitchFamily="34" charset="0"/>
              </a:rPr>
              <a:t> rarely perfectly correlate with changes in </a:t>
            </a:r>
            <a:r>
              <a:rPr lang="en-US" sz="1500" b="1" i="1" dirty="0">
                <a:solidFill>
                  <a:srgbClr val="000000"/>
                </a:solidFill>
                <a:latin typeface="Fira Sans" panose="020B0503050000020004" pitchFamily="34" charset="0"/>
              </a:rPr>
              <a:t>protein function or abundance.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7252B45-29D7-E73D-3DEC-99F1968A0D8A}"/>
              </a:ext>
            </a:extLst>
          </p:cNvPr>
          <p:cNvGrpSpPr/>
          <p:nvPr/>
        </p:nvGrpSpPr>
        <p:grpSpPr>
          <a:xfrm>
            <a:off x="621792" y="1014984"/>
            <a:ext cx="1472184" cy="2623249"/>
            <a:chOff x="621792" y="1014984"/>
            <a:chExt cx="1472184" cy="2623249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7C4C178-FEFA-49FE-47E6-9077CD5B82DA}"/>
                </a:ext>
              </a:extLst>
            </p:cNvPr>
            <p:cNvSpPr/>
            <p:nvPr/>
          </p:nvSpPr>
          <p:spPr>
            <a:xfrm>
              <a:off x="621792" y="1014984"/>
              <a:ext cx="1472184" cy="523220"/>
            </a:xfrm>
            <a:prstGeom prst="rect">
              <a:avLst/>
            </a:prstGeom>
            <a:solidFill>
              <a:srgbClr val="6666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Fira Sans" panose="020B0503050000020004" pitchFamily="34" charset="0"/>
                </a:rPr>
                <a:t>Genomics</a:t>
              </a:r>
              <a:endParaRPr lang="en-GB" sz="1400" dirty="0">
                <a:latin typeface="Fira Sans" panose="020B0503050000020004" pitchFamily="34" charset="0"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A71A5758-A215-03C2-53D0-6C2A8CDBC08E}"/>
                </a:ext>
              </a:extLst>
            </p:cNvPr>
            <p:cNvSpPr/>
            <p:nvPr/>
          </p:nvSpPr>
          <p:spPr>
            <a:xfrm>
              <a:off x="621792" y="1999488"/>
              <a:ext cx="1472184" cy="523220"/>
            </a:xfrm>
            <a:prstGeom prst="rect">
              <a:avLst/>
            </a:prstGeom>
            <a:solidFill>
              <a:srgbClr val="6666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Fira Sans" panose="020B0503050000020004" pitchFamily="34" charset="0"/>
                </a:rPr>
                <a:t>DNA Level</a:t>
              </a:r>
              <a:endParaRPr lang="en-GB" sz="1400" dirty="0">
                <a:latin typeface="Fira Sans" panose="020B0503050000020004" pitchFamily="34" charset="0"/>
              </a:endParaRPr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7FC753A5-040F-4C89-2307-562B4C11AC71}"/>
                </a:ext>
              </a:extLst>
            </p:cNvPr>
            <p:cNvSpPr/>
            <p:nvPr/>
          </p:nvSpPr>
          <p:spPr>
            <a:xfrm>
              <a:off x="621792" y="3115013"/>
              <a:ext cx="1472184" cy="523220"/>
            </a:xfrm>
            <a:prstGeom prst="rect">
              <a:avLst/>
            </a:prstGeom>
            <a:solidFill>
              <a:srgbClr val="6666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latin typeface="Fira Sans" panose="020B0503050000020004" pitchFamily="34" charset="0"/>
                </a:rPr>
                <a:t>~20,000 Genes </a:t>
              </a:r>
              <a:r>
                <a:rPr lang="en-US" sz="1200" dirty="0">
                  <a:latin typeface="Fira Sans" panose="020B0503050000020004" pitchFamily="34" charset="0"/>
                </a:rPr>
                <a:t>Statics Blueprint</a:t>
              </a:r>
              <a:endParaRPr lang="en-GB" sz="1400" dirty="0">
                <a:latin typeface="Fira Sans" panose="020B0503050000020004" pitchFamily="34" charset="0"/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1D1953E4-268F-9059-F4D3-0C182BFCEE48}"/>
              </a:ext>
            </a:extLst>
          </p:cNvPr>
          <p:cNvGrpSpPr/>
          <p:nvPr/>
        </p:nvGrpSpPr>
        <p:grpSpPr>
          <a:xfrm>
            <a:off x="2703576" y="1015640"/>
            <a:ext cx="1472184" cy="2623249"/>
            <a:chOff x="621792" y="1014984"/>
            <a:chExt cx="1472184" cy="2623249"/>
          </a:xfrm>
          <a:solidFill>
            <a:srgbClr val="FFFF00"/>
          </a:solidFill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AFCAF340-225D-DC4D-E7D4-28957A33C7BC}"/>
                </a:ext>
              </a:extLst>
            </p:cNvPr>
            <p:cNvSpPr/>
            <p:nvPr/>
          </p:nvSpPr>
          <p:spPr>
            <a:xfrm>
              <a:off x="621792" y="1014984"/>
              <a:ext cx="1472184" cy="52322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Fira Sans" panose="020B0503050000020004" pitchFamily="34" charset="0"/>
                </a:rPr>
                <a:t>Transcriptomics</a:t>
              </a:r>
              <a:endParaRPr lang="en-GB" sz="1200" dirty="0">
                <a:solidFill>
                  <a:schemeClr val="tx1"/>
                </a:solidFill>
                <a:latin typeface="Fira Sans" panose="020B0503050000020004" pitchFamily="34" charset="0"/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3CF3705F-06AE-DC16-762C-E6EAB327FB4B}"/>
                </a:ext>
              </a:extLst>
            </p:cNvPr>
            <p:cNvSpPr/>
            <p:nvPr/>
          </p:nvSpPr>
          <p:spPr>
            <a:xfrm>
              <a:off x="621792" y="1999488"/>
              <a:ext cx="1472184" cy="52322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Fira Sans" panose="020B0503050000020004" pitchFamily="34" charset="0"/>
                </a:rPr>
                <a:t>RNA Level</a:t>
              </a:r>
              <a:endParaRPr lang="en-GB" sz="1200" dirty="0">
                <a:solidFill>
                  <a:schemeClr val="tx1"/>
                </a:solidFill>
                <a:latin typeface="Fira Sans" panose="020B0503050000020004" pitchFamily="34" charset="0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2C190223-F207-61C5-1B95-A28636BDD1B1}"/>
                </a:ext>
              </a:extLst>
            </p:cNvPr>
            <p:cNvSpPr/>
            <p:nvPr/>
          </p:nvSpPr>
          <p:spPr>
            <a:xfrm>
              <a:off x="621792" y="3115013"/>
              <a:ext cx="1472184" cy="52322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Fira Sans" panose="020B0503050000020004" pitchFamily="34" charset="0"/>
                </a:rPr>
                <a:t>~100,000 Transcripts </a:t>
              </a:r>
              <a:r>
                <a:rPr lang="en-US" sz="1100" dirty="0">
                  <a:solidFill>
                    <a:schemeClr val="tx1"/>
                  </a:solidFill>
                  <a:latin typeface="Fira Sans" panose="020B0503050000020004" pitchFamily="34" charset="0"/>
                </a:rPr>
                <a:t>Dynamic Expression</a:t>
              </a:r>
              <a:endParaRPr lang="en-GB" sz="1200" dirty="0">
                <a:solidFill>
                  <a:schemeClr val="tx1"/>
                </a:solidFill>
                <a:latin typeface="Fira Sans" panose="020B0503050000020004" pitchFamily="34" charset="0"/>
              </a:endParaRPr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4FFF9393-38E5-E068-D7FA-933C0930A794}"/>
              </a:ext>
            </a:extLst>
          </p:cNvPr>
          <p:cNvSpPr/>
          <p:nvPr/>
        </p:nvSpPr>
        <p:spPr>
          <a:xfrm>
            <a:off x="4696968" y="1015640"/>
            <a:ext cx="1472184" cy="523220"/>
          </a:xfrm>
          <a:prstGeom prst="rect">
            <a:avLst/>
          </a:prstGeom>
          <a:solidFill>
            <a:srgbClr val="CCFF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Fira Sans" panose="020B0503050000020004" pitchFamily="34" charset="0"/>
              </a:rPr>
              <a:t>Proteomics</a:t>
            </a:r>
            <a:endParaRPr lang="en-GB" sz="1400" dirty="0">
              <a:solidFill>
                <a:schemeClr val="tx1"/>
              </a:solidFill>
              <a:latin typeface="Fira Sans" panose="020B05030500000200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E0C36CA-490C-9395-796E-33D727C9CD02}"/>
              </a:ext>
            </a:extLst>
          </p:cNvPr>
          <p:cNvSpPr/>
          <p:nvPr/>
        </p:nvSpPr>
        <p:spPr>
          <a:xfrm>
            <a:off x="4696968" y="2000144"/>
            <a:ext cx="1472184" cy="523220"/>
          </a:xfrm>
          <a:prstGeom prst="rect">
            <a:avLst/>
          </a:prstGeom>
          <a:solidFill>
            <a:srgbClr val="CCFF66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>
                <a:solidFill>
                  <a:schemeClr val="tx1"/>
                </a:solidFill>
                <a:latin typeface="Fira Sans" panose="020B0503050000020004" pitchFamily="34" charset="0"/>
              </a:rPr>
              <a:t>Protein Level</a:t>
            </a:r>
            <a:endParaRPr lang="en-GB" sz="1400" dirty="0">
              <a:solidFill>
                <a:schemeClr val="tx1"/>
              </a:solidFill>
              <a:latin typeface="Fira Sans" panose="020B0503050000020004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B4B4D78-1386-1F96-AC6A-388D5CE3C258}"/>
              </a:ext>
            </a:extLst>
          </p:cNvPr>
          <p:cNvSpPr/>
          <p:nvPr/>
        </p:nvSpPr>
        <p:spPr>
          <a:xfrm>
            <a:off x="4696968" y="3115669"/>
            <a:ext cx="1472184" cy="523220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Fira Sans" panose="020B0503050000020004" pitchFamily="34" charset="0"/>
              </a:rPr>
              <a:t>&gt;1,000,000 species </a:t>
            </a:r>
            <a:r>
              <a:rPr lang="en-US" sz="1100" dirty="0">
                <a:solidFill>
                  <a:schemeClr val="tx1"/>
                </a:solidFill>
                <a:latin typeface="Fira Sans" panose="020B0503050000020004" pitchFamily="34" charset="0"/>
              </a:rPr>
              <a:t>Functional diversity</a:t>
            </a:r>
            <a:endParaRPr lang="en-GB" sz="1400" dirty="0">
              <a:solidFill>
                <a:schemeClr val="tx1"/>
              </a:solidFill>
              <a:latin typeface="Fira Sans" panose="020B0503050000020004" pitchFamily="34" charset="0"/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C96D40C-87D9-5CAD-AD17-4D1DB9400760}"/>
              </a:ext>
            </a:extLst>
          </p:cNvPr>
          <p:cNvGrpSpPr/>
          <p:nvPr/>
        </p:nvGrpSpPr>
        <p:grpSpPr>
          <a:xfrm>
            <a:off x="6690360" y="1014984"/>
            <a:ext cx="1472184" cy="3042279"/>
            <a:chOff x="621792" y="1014984"/>
            <a:chExt cx="1472184" cy="3042279"/>
          </a:xfrm>
          <a:solidFill>
            <a:srgbClr val="CC99FF"/>
          </a:solidFill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B3E226D7-5828-721C-62FD-7C7D5C3D018E}"/>
                </a:ext>
              </a:extLst>
            </p:cNvPr>
            <p:cNvSpPr/>
            <p:nvPr/>
          </p:nvSpPr>
          <p:spPr>
            <a:xfrm>
              <a:off x="621792" y="1014984"/>
              <a:ext cx="1472184" cy="52322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Fira Sans" panose="020B0503050000020004" pitchFamily="34" charset="0"/>
                </a:rPr>
                <a:t>Functional Outcome</a:t>
              </a:r>
              <a:endParaRPr lang="en-GB" sz="1100" dirty="0">
                <a:solidFill>
                  <a:schemeClr val="tx1"/>
                </a:solidFill>
                <a:latin typeface="Fira Sans" panose="020B0503050000020004" pitchFamily="34" charset="0"/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887D15A5-D267-A81C-1325-DE7ED02169B5}"/>
                </a:ext>
              </a:extLst>
            </p:cNvPr>
            <p:cNvSpPr/>
            <p:nvPr/>
          </p:nvSpPr>
          <p:spPr>
            <a:xfrm>
              <a:off x="621792" y="1999488"/>
              <a:ext cx="1472184" cy="52322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Fira Sans" panose="020B0503050000020004" pitchFamily="34" charset="0"/>
                </a:rPr>
                <a:t>Biological Function</a:t>
              </a:r>
              <a:endParaRPr lang="en-GB" sz="1100" dirty="0">
                <a:solidFill>
                  <a:schemeClr val="tx1"/>
                </a:solidFill>
                <a:latin typeface="Fira Sans" panose="020B0503050000020004" pitchFamily="34" charset="0"/>
              </a:endParaRPr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FE23E30E-0B2C-8F3C-EA55-84863B2A0A0D}"/>
                </a:ext>
              </a:extLst>
            </p:cNvPr>
            <p:cNvSpPr/>
            <p:nvPr/>
          </p:nvSpPr>
          <p:spPr>
            <a:xfrm>
              <a:off x="621792" y="3115012"/>
              <a:ext cx="1472184" cy="942251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100" dirty="0">
                  <a:solidFill>
                    <a:schemeClr val="tx1"/>
                  </a:solidFill>
                  <a:latin typeface="Fira Sans" panose="020B0503050000020004" pitchFamily="34" charset="0"/>
                </a:rPr>
                <a:t>Enzymatic activity </a:t>
              </a:r>
            </a:p>
            <a:p>
              <a:pPr algn="ctr"/>
              <a:r>
                <a:rPr lang="en-US" sz="1100" dirty="0">
                  <a:solidFill>
                    <a:schemeClr val="tx1"/>
                  </a:solidFill>
                  <a:latin typeface="Fira Sans" panose="020B0503050000020004" pitchFamily="34" charset="0"/>
                </a:rPr>
                <a:t>Signaling Pathways</a:t>
              </a:r>
            </a:p>
            <a:p>
              <a:pPr algn="ctr"/>
              <a:r>
                <a:rPr lang="en-US" sz="1100" dirty="0">
                  <a:solidFill>
                    <a:schemeClr val="tx1"/>
                  </a:solidFill>
                  <a:latin typeface="Fira Sans" panose="020B0503050000020004" pitchFamily="34" charset="0"/>
                </a:rPr>
                <a:t>Structure support</a:t>
              </a:r>
            </a:p>
            <a:p>
              <a:pPr algn="ctr"/>
              <a:r>
                <a:rPr lang="en-US" sz="1100" dirty="0">
                  <a:solidFill>
                    <a:schemeClr val="tx1"/>
                  </a:solidFill>
                  <a:latin typeface="Fira Sans" panose="020B0503050000020004" pitchFamily="34" charset="0"/>
                </a:rPr>
                <a:t>Cellular regulation</a:t>
              </a:r>
              <a:endParaRPr lang="en-GB" sz="1100" dirty="0">
                <a:solidFill>
                  <a:schemeClr val="tx1"/>
                </a:solidFill>
                <a:latin typeface="Fira Sans" panose="020B0503050000020004" pitchFamily="34" charset="0"/>
              </a:endParaRPr>
            </a:p>
          </p:txBody>
        </p:sp>
      </p:grp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53C8B5C-9F47-59E7-F2B4-2965E901DB50}"/>
              </a:ext>
            </a:extLst>
          </p:cNvPr>
          <p:cNvCxnSpPr/>
          <p:nvPr/>
        </p:nvCxnSpPr>
        <p:spPr>
          <a:xfrm>
            <a:off x="420624" y="2798064"/>
            <a:ext cx="8979408" cy="0"/>
          </a:xfrm>
          <a:prstGeom prst="straightConnector1">
            <a:avLst/>
          </a:prstGeom>
          <a:ln w="381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42161A6A-F7FD-1DCC-3744-B5D390DB5950}"/>
              </a:ext>
            </a:extLst>
          </p:cNvPr>
          <p:cNvSpPr/>
          <p:nvPr/>
        </p:nvSpPr>
        <p:spPr>
          <a:xfrm>
            <a:off x="4696968" y="4445237"/>
            <a:ext cx="1472184" cy="371627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Fira Sans" panose="020B0503050000020004" pitchFamily="34" charset="0"/>
              </a:rPr>
              <a:t>Post-Translational Modifications</a:t>
            </a:r>
            <a:endParaRPr lang="en-GB" sz="1400" dirty="0">
              <a:solidFill>
                <a:schemeClr val="tx1"/>
              </a:solidFill>
              <a:latin typeface="Fira Sans" panose="020B0503050000020004" pitchFamily="34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B00F5D23-B27A-FE8E-CADC-6DF731360712}"/>
              </a:ext>
            </a:extLst>
          </p:cNvPr>
          <p:cNvSpPr/>
          <p:nvPr/>
        </p:nvSpPr>
        <p:spPr>
          <a:xfrm>
            <a:off x="4696968" y="3932488"/>
            <a:ext cx="1472184" cy="371627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>
                <a:solidFill>
                  <a:schemeClr val="tx1"/>
                </a:solidFill>
                <a:latin typeface="Fira Sans" panose="020B0503050000020004" pitchFamily="34" charset="0"/>
              </a:rPr>
              <a:t>Folding &amp; Structure</a:t>
            </a:r>
            <a:endParaRPr lang="en-GB" sz="1200" dirty="0">
              <a:solidFill>
                <a:schemeClr val="tx1"/>
              </a:solidFill>
              <a:latin typeface="Fira Sans" panose="020B0503050000020004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72F5892-793A-BC1D-0CA8-82ED582DA7D0}"/>
              </a:ext>
            </a:extLst>
          </p:cNvPr>
          <p:cNvSpPr/>
          <p:nvPr/>
        </p:nvSpPr>
        <p:spPr>
          <a:xfrm>
            <a:off x="4696968" y="4957986"/>
            <a:ext cx="1472184" cy="371627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Fira Sans" panose="020B0503050000020004" pitchFamily="34" charset="0"/>
              </a:rPr>
              <a:t>Protein Complex Formation</a:t>
            </a:r>
            <a:endParaRPr lang="en-GB" sz="1400" dirty="0">
              <a:solidFill>
                <a:schemeClr val="tx1"/>
              </a:solidFill>
              <a:latin typeface="Fira Sans" panose="020B0503050000020004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0894C332-861A-4AAE-75FF-8F834CCC1853}"/>
              </a:ext>
            </a:extLst>
          </p:cNvPr>
          <p:cNvSpPr/>
          <p:nvPr/>
        </p:nvSpPr>
        <p:spPr>
          <a:xfrm>
            <a:off x="4696968" y="5470734"/>
            <a:ext cx="1472184" cy="371626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  <a:latin typeface="Fira Sans" panose="020B0503050000020004" pitchFamily="34" charset="0"/>
              </a:rPr>
              <a:t>Cellular Localization</a:t>
            </a:r>
            <a:endParaRPr lang="en-GB" sz="1400" dirty="0">
              <a:solidFill>
                <a:schemeClr val="tx1"/>
              </a:solidFill>
              <a:latin typeface="Fira Sans" panose="020B0503050000020004" pitchFamily="34" charset="0"/>
            </a:endParaRP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CDF0BBD-4458-45ED-BBC3-766C3B614DF1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>
            <a:off x="1357884" y="2522708"/>
            <a:ext cx="0" cy="592305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E1952713-E696-4CB1-2FDE-7F09CA1CAF8D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>
            <a:off x="3439668" y="2523364"/>
            <a:ext cx="0" cy="592305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EC9DB188-204F-B99D-9A0C-0780B7FF9742}"/>
              </a:ext>
            </a:extLst>
          </p:cNvPr>
          <p:cNvCxnSpPr>
            <a:cxnSpLocks/>
            <a:stCxn id="29" idx="2"/>
            <a:endCxn id="30" idx="0"/>
          </p:cNvCxnSpPr>
          <p:nvPr/>
        </p:nvCxnSpPr>
        <p:spPr>
          <a:xfrm>
            <a:off x="7426452" y="2522708"/>
            <a:ext cx="0" cy="592304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06974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A175733-583A-605D-2744-BA4A959E9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FE5FE515-F04F-3AD6-4A08-36B3FB3D11B5}"/>
              </a:ext>
            </a:extLst>
          </p:cNvPr>
          <p:cNvGrpSpPr/>
          <p:nvPr/>
        </p:nvGrpSpPr>
        <p:grpSpPr>
          <a:xfrm>
            <a:off x="493776" y="270357"/>
            <a:ext cx="10735055" cy="5561985"/>
            <a:chOff x="624077" y="270357"/>
            <a:chExt cx="10008634" cy="5561985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922D647B-C5E7-069B-B3FF-1ED2D430E001}"/>
                </a:ext>
              </a:extLst>
            </p:cNvPr>
            <p:cNvSpPr txBox="1"/>
            <p:nvPr/>
          </p:nvSpPr>
          <p:spPr>
            <a:xfrm>
              <a:off x="624077" y="1369582"/>
              <a:ext cx="10008634" cy="4462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 algn="l">
                <a:spcAft>
                  <a:spcPts val="600"/>
                </a:spcAft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Expression Proteomics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Focus: Quantitative and qualitative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comparison of protein levels between different biological states (e.g., healthy vs. diseased tissue).</a:t>
              </a:r>
            </a:p>
            <a:p>
              <a:pPr marL="800100" lvl="1" indent="-342900">
                <a:spcAft>
                  <a:spcPts val="12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Aims: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Identify proteins that are up- or down-regulated in specific conditions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 (potential biomarkers).	</a:t>
              </a:r>
            </a:p>
            <a:p>
              <a:pPr marL="342900" indent="-342900">
                <a:spcAft>
                  <a:spcPts val="600"/>
                </a:spcAft>
                <a:buFont typeface="+mj-lt"/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Structural Proteomics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Focus: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Determining the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three-dimensional (3D) structures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of all proteins in a proteome.</a:t>
              </a:r>
            </a:p>
            <a:p>
              <a:pPr marL="800100" lvl="1" indent="-342900">
                <a:spcAft>
                  <a:spcPts val="12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Techniques: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X-ray Crystallography, Nuclear Magnetic Resonance (NMR), and Cryo-Electron Microscopy (Cryo-EM).</a:t>
              </a:r>
            </a:p>
            <a:p>
              <a:pPr marL="342900" indent="-342900">
                <a:spcAft>
                  <a:spcPts val="600"/>
                </a:spcAft>
                <a:buFont typeface="+mj-lt"/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Functional Proteomics (</a:t>
              </a:r>
              <a:r>
                <a:rPr lang="en-US" b="1" i="0" dirty="0" err="1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Interactomics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)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Focus: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Understanding the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biological role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of proteins, their cellular location, and their network of interactions (Protein-Protein Interactions).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Aims: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Map cellular pathways and signaling cascades.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31E24E8-D856-2FC1-2951-44E442C09B71}"/>
                </a:ext>
              </a:extLst>
            </p:cNvPr>
            <p:cNvSpPr txBox="1"/>
            <p:nvPr/>
          </p:nvSpPr>
          <p:spPr>
            <a:xfrm>
              <a:off x="624077" y="270357"/>
              <a:ext cx="780059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F0502020204030204" pitchFamily="34" charset="0"/>
                </a:rPr>
                <a:t>Branches of Proteomics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611F5A1A-E786-85D7-ADB3-8BC87172A244}"/>
              </a:ext>
            </a:extLst>
          </p:cNvPr>
          <p:cNvSpPr txBox="1"/>
          <p:nvPr/>
        </p:nvSpPr>
        <p:spPr>
          <a:xfrm>
            <a:off x="6169152" y="270357"/>
            <a:ext cx="5222901" cy="672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endParaRPr lang="en-US" sz="2800" b="0" i="0" dirty="0">
              <a:solidFill>
                <a:srgbClr val="1A292C"/>
              </a:solidFill>
              <a:effectLst/>
              <a:latin typeface="Fira Sans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09985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20D97215-12EC-B1D0-F68F-5C499C6F4D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C3EB8EC2-84FD-3263-855C-E14E377049FF}"/>
              </a:ext>
            </a:extLst>
          </p:cNvPr>
          <p:cNvGrpSpPr/>
          <p:nvPr/>
        </p:nvGrpSpPr>
        <p:grpSpPr>
          <a:xfrm>
            <a:off x="493776" y="270357"/>
            <a:ext cx="10735055" cy="5561985"/>
            <a:chOff x="624077" y="270357"/>
            <a:chExt cx="10008634" cy="5561985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C1E916EA-D56D-D897-FE37-786C11E1704A}"/>
                </a:ext>
              </a:extLst>
            </p:cNvPr>
            <p:cNvSpPr txBox="1"/>
            <p:nvPr/>
          </p:nvSpPr>
          <p:spPr>
            <a:xfrm>
              <a:off x="624077" y="1369582"/>
              <a:ext cx="10008634" cy="446276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spcAft>
                  <a:spcPts val="600"/>
                </a:spcAft>
              </a:pP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The standard methodology involves four main steps:</a:t>
              </a:r>
            </a:p>
            <a:p>
              <a:pPr marL="342900" indent="-342900" algn="l">
                <a:spcAft>
                  <a:spcPts val="600"/>
                </a:spcAft>
                <a:buFont typeface="+mj-lt"/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Sample Preparation: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Extraction &amp; Solubilization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: Lysis of cells/tissues to extract total protein content.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Digestion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: Proteins are enzymatically cleaved (typically using Trypsin) into smaller, more manageable fragments called peptides.</a:t>
              </a:r>
            </a:p>
            <a:p>
              <a:pPr marL="342900" indent="-342900" algn="l">
                <a:spcAft>
                  <a:spcPts val="600"/>
                </a:spcAft>
                <a:buFont typeface="+mj-lt"/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Separation/Fractionation: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Complex peptide mixtures are separated to reduce complexity before MS analysis.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Technique: Liquid Chromatography (LC)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(e.g., Nano-HPLC or multi-dimensional LC).</a:t>
              </a:r>
            </a:p>
            <a:p>
              <a:pPr marL="342900" indent="-342900">
                <a:spcAft>
                  <a:spcPts val="600"/>
                </a:spcAft>
                <a:buFont typeface="+mj-lt"/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Protein Identification &amp; Quantification (Mass Spectrometry)</a:t>
              </a:r>
            </a:p>
            <a:p>
              <a:pPr marL="742950" lvl="1" indent="-28575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Peptides are ionized and analyzed based on their mass-to-charge ratio (m/z).</a:t>
              </a:r>
            </a:p>
            <a:p>
              <a:pPr marL="342900" indent="-342900" algn="l">
                <a:spcAft>
                  <a:spcPts val="600"/>
                </a:spcAft>
                <a:buFont typeface="+mj-lt"/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Data Analysis (Bioinformatics)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Mass spectra are matched against protein sequence databases (e.g., FASTA files) to identify the original proteins and quantify their abundance.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47C17B8-75B5-9F99-F3FB-8E2382F349D1}"/>
                </a:ext>
              </a:extLst>
            </p:cNvPr>
            <p:cNvSpPr txBox="1"/>
            <p:nvPr/>
          </p:nvSpPr>
          <p:spPr>
            <a:xfrm>
              <a:off x="624077" y="270357"/>
              <a:ext cx="907085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F0502020204030204" pitchFamily="34" charset="0"/>
                </a:rPr>
                <a:t>The General Proteomics Workflow (Bottom-Up Approach)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6D4324AC-CAB1-3565-F668-55AACDCAB3EE}"/>
              </a:ext>
            </a:extLst>
          </p:cNvPr>
          <p:cNvSpPr txBox="1"/>
          <p:nvPr/>
        </p:nvSpPr>
        <p:spPr>
          <a:xfrm>
            <a:off x="6169152" y="270357"/>
            <a:ext cx="5222901" cy="672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endParaRPr lang="en-US" sz="2800" b="0" i="0" dirty="0">
              <a:solidFill>
                <a:srgbClr val="1A292C"/>
              </a:solidFill>
              <a:effectLst/>
              <a:latin typeface="Fira Sans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59660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84AB494-7A2E-342A-469F-252FBD246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A0E094CA-A719-517C-B03A-00D48FCF81A9}"/>
              </a:ext>
            </a:extLst>
          </p:cNvPr>
          <p:cNvGrpSpPr/>
          <p:nvPr/>
        </p:nvGrpSpPr>
        <p:grpSpPr>
          <a:xfrm>
            <a:off x="493776" y="270357"/>
            <a:ext cx="10735055" cy="4654044"/>
            <a:chOff x="624077" y="270357"/>
            <a:chExt cx="10008634" cy="4654044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20A40F4B-95F7-0EA6-5527-C12F336CB797}"/>
                </a:ext>
              </a:extLst>
            </p:cNvPr>
            <p:cNvSpPr txBox="1"/>
            <p:nvPr/>
          </p:nvSpPr>
          <p:spPr>
            <a:xfrm>
              <a:off x="624077" y="1369582"/>
              <a:ext cx="10008634" cy="35548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 algn="l">
                <a:spcAft>
                  <a:spcPts val="600"/>
                </a:spcAft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Two-Dimensional Gel Electrophoresis (2D-PAGE)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Method: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 Separates intact proteins in two steps:</a:t>
              </a:r>
            </a:p>
            <a:p>
              <a:pPr marL="1257300" lvl="2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1st Dimension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: Separation based on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isoelectric point (</a:t>
              </a:r>
              <a:r>
                <a:rPr lang="en-US" b="1" i="0" dirty="0" err="1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pI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)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using Isoelectric Focusing (IEF).</a:t>
              </a:r>
            </a:p>
            <a:p>
              <a:pPr marL="1257300" lvl="2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2nd Dimension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: Separation based on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molecular mass (</a:t>
              </a:r>
              <a:r>
                <a:rPr lang="en-US" b="1" i="0" dirty="0" err="1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kDa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)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using SDS-PAGE.</a:t>
              </a:r>
            </a:p>
            <a:p>
              <a:pPr marL="800100" lvl="1" indent="-342900">
                <a:spcAft>
                  <a:spcPts val="18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Output: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 Creates a visual map of the proteome as a series of distinct spots, allowing comparison between samples (e.g., 2D-DIGE).</a:t>
              </a:r>
            </a:p>
            <a:p>
              <a:pPr marL="342900" indent="-342900">
                <a:spcAft>
                  <a:spcPts val="600"/>
                </a:spcAft>
                <a:buFont typeface="+mj-lt"/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Liquid Chromatography (LC)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Method: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Used for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"Gel-Free"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or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Shotgun Proteomics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.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Peptides are separated based on their hydrophobicity before being injected directly into the Mass Spectrometer.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E9B1A01-32F5-D19E-DF1F-453EB8A3F8F2}"/>
                </a:ext>
              </a:extLst>
            </p:cNvPr>
            <p:cNvSpPr txBox="1"/>
            <p:nvPr/>
          </p:nvSpPr>
          <p:spPr>
            <a:xfrm>
              <a:off x="624077" y="270357"/>
              <a:ext cx="907085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F0502020204030204" pitchFamily="34" charset="0"/>
                </a:rPr>
                <a:t>Key Technologies: Separation and Visualization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E50A8DBB-DDBF-2270-5293-7E1332732247}"/>
              </a:ext>
            </a:extLst>
          </p:cNvPr>
          <p:cNvSpPr txBox="1"/>
          <p:nvPr/>
        </p:nvSpPr>
        <p:spPr>
          <a:xfrm>
            <a:off x="6169152" y="270357"/>
            <a:ext cx="5222901" cy="672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endParaRPr lang="en-US" sz="2800" b="0" i="0" dirty="0">
              <a:solidFill>
                <a:srgbClr val="1A292C"/>
              </a:solidFill>
              <a:effectLst/>
              <a:latin typeface="Fira Sans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201344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6131094-15C6-E7B2-E040-4E8DDB0BE9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B03DC995-8AAE-F6D9-3144-4154D6FD4C81}"/>
              </a:ext>
            </a:extLst>
          </p:cNvPr>
          <p:cNvGrpSpPr/>
          <p:nvPr/>
        </p:nvGrpSpPr>
        <p:grpSpPr>
          <a:xfrm>
            <a:off x="493776" y="270358"/>
            <a:ext cx="5529073" cy="5476039"/>
            <a:chOff x="624077" y="270357"/>
            <a:chExt cx="10008634" cy="5011351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57532384-E6F9-76FA-6C1F-C7868F4B2983}"/>
                </a:ext>
              </a:extLst>
            </p:cNvPr>
            <p:cNvSpPr txBox="1"/>
            <p:nvPr/>
          </p:nvSpPr>
          <p:spPr>
            <a:xfrm>
              <a:off x="624077" y="1479310"/>
              <a:ext cx="10008634" cy="380239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 algn="l">
                <a:spcAft>
                  <a:spcPts val="1200"/>
                </a:spcAft>
                <a:buAutoNum type="arabicPeriod"/>
              </a:pPr>
              <a:r>
                <a:rPr lang="en-US" sz="1600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Mass Spectrometry (MS) </a:t>
              </a:r>
              <a:r>
                <a:rPr lang="en-US" sz="160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is the central tool in modern proteomics. </a:t>
              </a:r>
            </a:p>
            <a:p>
              <a:pPr marL="342900" indent="-342900" algn="l">
                <a:spcAft>
                  <a:spcPts val="1200"/>
                </a:spcAft>
                <a:buAutoNum type="arabicPeriod"/>
              </a:pPr>
              <a:r>
                <a:rPr lang="en-US" sz="1600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Ionization: </a:t>
              </a:r>
              <a:r>
                <a:rPr lang="en-US" sz="160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Peptides are converted into charged ions (e.g., using </a:t>
              </a:r>
              <a:r>
                <a:rPr lang="en-US" sz="1600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Electrospray Ionization (ESI)</a:t>
              </a:r>
              <a:r>
                <a:rPr lang="en-US" sz="160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).</a:t>
              </a:r>
            </a:p>
            <a:p>
              <a:pPr marL="342900" indent="-342900" algn="l">
                <a:spcAft>
                  <a:spcPts val="1200"/>
                </a:spcAft>
                <a:buAutoNum type="arabicPeriod"/>
              </a:pPr>
              <a:r>
                <a:rPr lang="en-US" sz="1600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MS1 (Precursor Scan)</a:t>
              </a:r>
              <a:r>
                <a:rPr lang="en-US" sz="160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: Measures the </a:t>
              </a:r>
              <a:r>
                <a:rPr lang="en-US" sz="1600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mass-to-charge ratio (m/z) </a:t>
              </a:r>
              <a:r>
                <a:rPr lang="en-US" sz="160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of the intact peptides.</a:t>
              </a:r>
            </a:p>
            <a:p>
              <a:pPr marL="342900" indent="-342900" algn="l">
                <a:spcAft>
                  <a:spcPts val="1200"/>
                </a:spcAft>
                <a:buAutoNum type="arabicPeriod"/>
              </a:pPr>
              <a:r>
                <a:rPr lang="en-US" sz="1600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Fragmentation (MS/MS or MS2): </a:t>
              </a:r>
              <a:r>
                <a:rPr lang="en-US" sz="160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Selected peptides are isolated and broken down into smaller fragment ions (e.g., b-ions and y-ions) via Collision-Induced Dissociation (CID).</a:t>
              </a:r>
            </a:p>
            <a:p>
              <a:pPr marL="342900" indent="-342900" algn="l">
                <a:spcAft>
                  <a:spcPts val="1200"/>
                </a:spcAft>
                <a:buAutoNum type="arabicPeriod"/>
              </a:pPr>
              <a:r>
                <a:rPr lang="en-US" sz="1600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Identification</a:t>
              </a:r>
              <a:r>
                <a:rPr lang="en-US" sz="160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: The unique pattern of fragment ions (the </a:t>
              </a:r>
              <a:r>
                <a:rPr lang="en-US" sz="1600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fragmentation spectrum</a:t>
              </a:r>
              <a:r>
                <a:rPr lang="en-US" sz="160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) acts as a fingerprint that is used to determine the peptide's amino acid sequence.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9061AB1-861D-E3C0-2D86-56CF7DF1CE56}"/>
                </a:ext>
              </a:extLst>
            </p:cNvPr>
            <p:cNvSpPr txBox="1"/>
            <p:nvPr/>
          </p:nvSpPr>
          <p:spPr>
            <a:xfrm>
              <a:off x="624077" y="270357"/>
              <a:ext cx="9070858" cy="95410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F0502020204030204" pitchFamily="34" charset="0"/>
                </a:rPr>
                <a:t>Core Technology: </a:t>
              </a:r>
            </a:p>
            <a:p>
              <a:pPr algn="l"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F0502020204030204" pitchFamily="34" charset="0"/>
                </a:rPr>
                <a:t>Mass Spectrometry (MS)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A2E95E44-8C72-A009-CF40-B5A41F5894E4}"/>
              </a:ext>
            </a:extLst>
          </p:cNvPr>
          <p:cNvSpPr txBox="1"/>
          <p:nvPr/>
        </p:nvSpPr>
        <p:spPr>
          <a:xfrm>
            <a:off x="6169152" y="270357"/>
            <a:ext cx="5222901" cy="672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endParaRPr lang="en-US" sz="2800" b="0" i="0" dirty="0">
              <a:solidFill>
                <a:srgbClr val="1A292C"/>
              </a:solidFill>
              <a:effectLst/>
              <a:latin typeface="Fira Sans" panose="020F0502020204030204" pitchFamily="34" charset="0"/>
            </a:endParaRPr>
          </a:p>
        </p:txBody>
      </p:sp>
      <p:pic>
        <p:nvPicPr>
          <p:cNvPr id="1026" name="Picture 2" descr="a tandem mass spectrometer (MS/MS) diagram">
            <a:extLst>
              <a:ext uri="{FF2B5EF4-FFF2-40B4-BE49-F238E27FC236}">
                <a16:creationId xmlns:a16="http://schemas.microsoft.com/office/drawing/2014/main" id="{ACCEE40B-2671-7AD4-FF65-737A7995C0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6434" y="1252729"/>
            <a:ext cx="5817378" cy="3877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755329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BFC47C5-65D4-4090-4226-2FB915F38E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0EE0F3E9-BF60-8CD8-5192-3F13EA744A97}"/>
              </a:ext>
            </a:extLst>
          </p:cNvPr>
          <p:cNvGrpSpPr/>
          <p:nvPr/>
        </p:nvGrpSpPr>
        <p:grpSpPr>
          <a:xfrm>
            <a:off x="493776" y="270357"/>
            <a:ext cx="10735055" cy="4577100"/>
            <a:chOff x="624077" y="270357"/>
            <a:chExt cx="10008634" cy="4577100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862E0AB6-1EB1-CE2A-3ACC-C7A0027ED2E8}"/>
                </a:ext>
              </a:extLst>
            </p:cNvPr>
            <p:cNvSpPr txBox="1"/>
            <p:nvPr/>
          </p:nvSpPr>
          <p:spPr>
            <a:xfrm>
              <a:off x="624077" y="1369582"/>
              <a:ext cx="10008634" cy="347787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 algn="l">
                <a:spcAft>
                  <a:spcPts val="600"/>
                </a:spcAft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Label-Free Quantification (LFQ)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Method: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Compares the intensity or abundance of peptide ions in the mass spectra directly between different experimental runs.</a:t>
              </a:r>
            </a:p>
            <a:p>
              <a:pPr marL="800100" lvl="1" indent="-342900">
                <a:spcAft>
                  <a:spcPts val="12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Pros: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Cost-effective, simple sample preparation.</a:t>
              </a:r>
            </a:p>
            <a:p>
              <a:pPr marL="342900" indent="-342900">
                <a:spcAft>
                  <a:spcPts val="600"/>
                </a:spcAft>
                <a:buFont typeface="+mj-lt"/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Isotope Labeling Quantification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Method: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 Chemical labels containing stable isotopes are introduced to the peptides, allowing samples to be mixed and run together in the same MS analysis.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Examples:</a:t>
              </a:r>
            </a:p>
            <a:p>
              <a:pPr marL="1257300" lvl="2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SILAC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 (Stable Isotope Labeling with Amino acids in Cell culture)</a:t>
              </a:r>
            </a:p>
            <a:p>
              <a:pPr marL="1257300" lvl="2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 err="1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iTRAQ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/TMT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(Isobaric tags for Relative and Absolute Quantification / Tandem Mass Tags)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1C9DD9F-09DB-B66E-C8AC-434D20D23BB9}"/>
                </a:ext>
              </a:extLst>
            </p:cNvPr>
            <p:cNvSpPr txBox="1"/>
            <p:nvPr/>
          </p:nvSpPr>
          <p:spPr>
            <a:xfrm>
              <a:off x="624077" y="270357"/>
              <a:ext cx="907085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F0502020204030204" pitchFamily="34" charset="0"/>
                </a:rPr>
                <a:t>Quantification Strategies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44754634-67FB-C5B0-8F93-B1F0CC5D82AE}"/>
              </a:ext>
            </a:extLst>
          </p:cNvPr>
          <p:cNvSpPr txBox="1"/>
          <p:nvPr/>
        </p:nvSpPr>
        <p:spPr>
          <a:xfrm>
            <a:off x="6169152" y="270357"/>
            <a:ext cx="5222901" cy="672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endParaRPr lang="en-US" sz="2800" b="0" i="0" dirty="0">
              <a:solidFill>
                <a:srgbClr val="1A292C"/>
              </a:solidFill>
              <a:effectLst/>
              <a:latin typeface="Fira Sans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4177803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9DAC0-AA6C-FA77-4C28-5E7AC9440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23BFE538-4796-357A-3143-3AF456FF7ED1}"/>
              </a:ext>
            </a:extLst>
          </p:cNvPr>
          <p:cNvGrpSpPr/>
          <p:nvPr/>
        </p:nvGrpSpPr>
        <p:grpSpPr>
          <a:xfrm>
            <a:off x="493776" y="270357"/>
            <a:ext cx="10735055" cy="5131098"/>
            <a:chOff x="624077" y="270357"/>
            <a:chExt cx="10008634" cy="5131098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4D19F7DA-9679-C9E9-1372-E04CF428EEDA}"/>
                </a:ext>
              </a:extLst>
            </p:cNvPr>
            <p:cNvSpPr txBox="1"/>
            <p:nvPr/>
          </p:nvSpPr>
          <p:spPr>
            <a:xfrm>
              <a:off x="624077" y="1369582"/>
              <a:ext cx="10008634" cy="403187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marL="342900" indent="-342900" algn="l">
                <a:spcAft>
                  <a:spcPts val="600"/>
                </a:spcAft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Biomarker Discovery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Identifying proteins whose abundance or modification state is altered in disease (e.g., cancer, neurodegeneration) for early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diagnosis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 and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prognosis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.</a:t>
              </a:r>
            </a:p>
            <a:p>
              <a:pPr marL="342900" indent="-342900">
                <a:spcAft>
                  <a:spcPts val="600"/>
                </a:spcAft>
                <a:buFont typeface="+mj-lt"/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Drug Target Identification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Mapping out cellular signaling pathways to find key proteins whose activity can be modulated by pharmaceuticals.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Understanding the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mechanism of action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and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toxicity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 of new drug candidates.</a:t>
              </a:r>
            </a:p>
            <a:p>
              <a:pPr marL="342900" indent="-342900">
                <a:spcAft>
                  <a:spcPts val="600"/>
                </a:spcAft>
                <a:buFont typeface="+mj-lt"/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Personalized Medicine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Analyzing individual patient proteomes to predict drug response and tailor treatment. </a:t>
              </a:r>
            </a:p>
            <a:p>
              <a:pPr marL="342900" indent="-342900">
                <a:spcAft>
                  <a:spcPts val="600"/>
                </a:spcAft>
                <a:buFont typeface="+mj-lt"/>
                <a:buAutoNum type="arabicPeriod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Post-Translational Modification (PTM) Analysis</a:t>
              </a:r>
            </a:p>
            <a:p>
              <a:pPr marL="800100" lvl="1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Studying modifications like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phosphorylation, glycosylation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, and </a:t>
              </a: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ubiquitination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 that regulate protein activity and signaling.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6B312436-E6BD-EC34-4770-72A74AB15F01}"/>
                </a:ext>
              </a:extLst>
            </p:cNvPr>
            <p:cNvSpPr txBox="1"/>
            <p:nvPr/>
          </p:nvSpPr>
          <p:spPr>
            <a:xfrm>
              <a:off x="624077" y="270357"/>
              <a:ext cx="907085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F0502020204030204" pitchFamily="34" charset="0"/>
                </a:rPr>
                <a:t>Applications of Proteomics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D2FD6CB-8169-3874-02C4-25D556DF4C6C}"/>
              </a:ext>
            </a:extLst>
          </p:cNvPr>
          <p:cNvSpPr txBox="1"/>
          <p:nvPr/>
        </p:nvSpPr>
        <p:spPr>
          <a:xfrm>
            <a:off x="6169152" y="270357"/>
            <a:ext cx="5222901" cy="672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endParaRPr lang="en-US" sz="2800" b="0" i="0" dirty="0">
              <a:solidFill>
                <a:srgbClr val="1A292C"/>
              </a:solidFill>
              <a:effectLst/>
              <a:latin typeface="Fira Sans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49296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E40F3-4B6A-65E1-1A7F-58CA6C6CD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362E2AAB-0C37-B276-0A4E-37E8E133295A}"/>
              </a:ext>
            </a:extLst>
          </p:cNvPr>
          <p:cNvGrpSpPr/>
          <p:nvPr/>
        </p:nvGrpSpPr>
        <p:grpSpPr>
          <a:xfrm>
            <a:off x="493776" y="270357"/>
            <a:ext cx="9729216" cy="4469378"/>
            <a:chOff x="624077" y="270357"/>
            <a:chExt cx="9070858" cy="4469378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0AB5C63C-D031-D34E-81B9-91F7A6D90EA7}"/>
                </a:ext>
              </a:extLst>
            </p:cNvPr>
            <p:cNvSpPr txBox="1"/>
            <p:nvPr/>
          </p:nvSpPr>
          <p:spPr>
            <a:xfrm>
              <a:off x="624078" y="1369582"/>
              <a:ext cx="5089570" cy="337015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Challenges</a:t>
              </a:r>
            </a:p>
            <a:p>
              <a:pPr marL="342900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Dynamic Range: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Proteins exist in vastly different concentrations (up to 12 orders of magnitude). Low-abundance regulatory proteins are difficult to detect.</a:t>
              </a:r>
            </a:p>
            <a:p>
              <a:pPr marL="342900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Complexity: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The sheer number of isoforms, modifications, and protein-protein interactions complicates analysis.</a:t>
              </a:r>
            </a:p>
            <a:p>
              <a:pPr marL="342900" indent="-342900">
                <a:spcAft>
                  <a:spcPts val="600"/>
                </a:spcAft>
                <a:buFont typeface="Arial" panose="020B0604020202020204" pitchFamily="34" charset="0"/>
                <a:buChar char="•"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Throughput: </a:t>
              </a:r>
              <a:r>
                <a:rPr lang="en-US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Sample preparation and data processing remain time-consuming bottlenecks.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8D0889E-89DA-658E-E1C6-C7636C8B09B0}"/>
                </a:ext>
              </a:extLst>
            </p:cNvPr>
            <p:cNvSpPr txBox="1"/>
            <p:nvPr/>
          </p:nvSpPr>
          <p:spPr>
            <a:xfrm>
              <a:off x="624077" y="270357"/>
              <a:ext cx="9070858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F0502020204030204" pitchFamily="34" charset="0"/>
                </a:rPr>
                <a:t>Challenges and Future Directions</a:t>
              </a: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B4F43ED4-BFEF-7148-8910-BC9AD265E694}"/>
              </a:ext>
            </a:extLst>
          </p:cNvPr>
          <p:cNvSpPr txBox="1"/>
          <p:nvPr/>
        </p:nvSpPr>
        <p:spPr>
          <a:xfrm>
            <a:off x="6169152" y="270357"/>
            <a:ext cx="5222901" cy="672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endParaRPr lang="en-US" sz="2800" b="0" i="0" dirty="0">
              <a:solidFill>
                <a:srgbClr val="1A292C"/>
              </a:solidFill>
              <a:effectLst/>
              <a:latin typeface="Fira Sans" panose="020F050202020403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5B62C5-10C5-FBEE-86CF-A650552BFD7A}"/>
              </a:ext>
            </a:extLst>
          </p:cNvPr>
          <p:cNvSpPr txBox="1"/>
          <p:nvPr/>
        </p:nvSpPr>
        <p:spPr>
          <a:xfrm>
            <a:off x="585216" y="5397149"/>
            <a:ext cx="801928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For introduction to the core concepts, you may find this video useful: </a:t>
            </a:r>
            <a:r>
              <a:rPr lang="en-US" dirty="0">
                <a:hlinkClick r:id="rId2"/>
              </a:rPr>
              <a:t>Introduction to Proteomics | 2021 EMSL Summer School</a:t>
            </a:r>
            <a:r>
              <a:rPr lang="en-US" dirty="0"/>
              <a:t>.</a:t>
            </a:r>
            <a:endParaRPr lang="en-GB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AEDDA7A-C70B-084D-441C-A0C56C2CA1D9}"/>
              </a:ext>
            </a:extLst>
          </p:cNvPr>
          <p:cNvSpPr txBox="1"/>
          <p:nvPr/>
        </p:nvSpPr>
        <p:spPr>
          <a:xfrm>
            <a:off x="6169152" y="1369582"/>
            <a:ext cx="5928360" cy="30931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ira Sans" panose="020F0502020204030204" pitchFamily="34" charset="0"/>
                <a:ea typeface="+mn-ea"/>
                <a:cs typeface="+mn-cs"/>
              </a:rPr>
              <a:t>Future Directions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ira Sans" panose="020F0502020204030204" pitchFamily="34" charset="0"/>
                <a:ea typeface="+mn-ea"/>
                <a:cs typeface="+mn-cs"/>
              </a:rPr>
              <a:t>Targeted Proteomics (PRM/SRM): 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ira Sans" panose="020F0502020204030204" pitchFamily="34" charset="0"/>
                <a:ea typeface="+mn-ea"/>
                <a:cs typeface="+mn-cs"/>
              </a:rPr>
              <a:t>Highly accurate quantification of a small, predefined set of proteins.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ira Sans" panose="020F0502020204030204" pitchFamily="34" charset="0"/>
                <a:ea typeface="+mn-ea"/>
                <a:cs typeface="+mn-cs"/>
              </a:rPr>
              <a:t>Single-Cell Proteomics: 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ira Sans" panose="020F0502020204030204" pitchFamily="34" charset="0"/>
                <a:ea typeface="+mn-ea"/>
                <a:cs typeface="+mn-cs"/>
              </a:rPr>
              <a:t>Analyzing the protein content of individual cells to understand heterogeneity in tissues.</a:t>
            </a:r>
          </a:p>
          <a:p>
            <a:pPr marL="342900" indent="-342900">
              <a:spcAft>
                <a:spcPts val="600"/>
              </a:spcAft>
              <a:buFont typeface="Arial" panose="020B0604020202020204" pitchFamily="34" charset="0"/>
              <a:buChar char="•"/>
              <a:defRPr/>
            </a:pPr>
            <a:r>
              <a:rPr kumimoji="0" lang="en-US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ira Sans" panose="020F0502020204030204" pitchFamily="34" charset="0"/>
                <a:ea typeface="+mn-ea"/>
                <a:cs typeface="+mn-cs"/>
              </a:rPr>
              <a:t>Data Integration: </a:t>
            </a:r>
            <a:r>
              <a:rPr kumimoji="0" lang="en-US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Fira Sans" panose="020F0502020204030204" pitchFamily="34" charset="0"/>
                <a:ea typeface="+mn-ea"/>
                <a:cs typeface="+mn-cs"/>
              </a:rPr>
              <a:t>Merging proteomics data with genomics and metabolomics data for a complete system-wide picture (System Biology).</a:t>
            </a:r>
          </a:p>
        </p:txBody>
      </p:sp>
    </p:spTree>
    <p:extLst>
      <p:ext uri="{BB962C8B-B14F-4D97-AF65-F5344CB8AC3E}">
        <p14:creationId xmlns:p14="http://schemas.microsoft.com/office/powerpoint/2010/main" val="38221026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DC8B0EBC-B656-E35D-A0F4-FCE2D438F528}"/>
              </a:ext>
            </a:extLst>
          </p:cNvPr>
          <p:cNvGrpSpPr/>
          <p:nvPr/>
        </p:nvGrpSpPr>
        <p:grpSpPr>
          <a:xfrm>
            <a:off x="493777" y="270357"/>
            <a:ext cx="5529072" cy="4057342"/>
            <a:chOff x="624078" y="270357"/>
            <a:chExt cx="5154930" cy="4057342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D1A16537-008A-D8C4-4987-3D36D08AA530}"/>
                </a:ext>
              </a:extLst>
            </p:cNvPr>
            <p:cNvSpPr txBox="1"/>
            <p:nvPr/>
          </p:nvSpPr>
          <p:spPr>
            <a:xfrm>
              <a:off x="624078" y="1369582"/>
              <a:ext cx="5154930" cy="295811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Advantages:</a:t>
              </a:r>
              <a:endParaRPr lang="en-US" b="0" i="0" dirty="0">
                <a:solidFill>
                  <a:srgbClr val="000000"/>
                </a:solidFill>
                <a:effectLst/>
                <a:latin typeface="Fira Sans" panose="020F0502020204030204" pitchFamily="34" charset="0"/>
              </a:endParaRPr>
            </a:p>
            <a:p>
              <a:pPr marL="182880" lvl="1" indent="18288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b="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Free and open-source</a:t>
              </a:r>
            </a:p>
            <a:p>
              <a:pPr marL="182880" lvl="1" indent="18288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b="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Extensive statistical packages</a:t>
              </a:r>
            </a:p>
            <a:p>
              <a:pPr marL="182880" lvl="1" indent="18288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b="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Reproducible analysis workflows</a:t>
              </a:r>
            </a:p>
            <a:p>
              <a:pPr marL="182880" lvl="1" indent="18288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b="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Publication-quality graphics</a:t>
              </a:r>
            </a:p>
            <a:p>
              <a:pPr marL="182880" lvl="1" indent="18288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b="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Active bioinformatics community</a:t>
              </a:r>
            </a:p>
            <a:p>
              <a:pPr marL="182880" lvl="1" indent="18288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b="0" i="0" dirty="0">
                  <a:solidFill>
                    <a:srgbClr val="000000"/>
                  </a:solidFill>
                  <a:effectLst/>
                  <a:latin typeface="Fira Sans" panose="020F0502020204030204" pitchFamily="34" charset="0"/>
                </a:rPr>
                <a:t>Integration with proteomics tools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7E4B8D22-0EC8-213E-B7EF-8E7BD055802F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6722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F0502020204030204" pitchFamily="34" charset="0"/>
                </a:rPr>
                <a:t>Why R for Proteomics?</a:t>
              </a: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F197489F-553A-E12F-FAAD-4D892A9B638F}"/>
              </a:ext>
            </a:extLst>
          </p:cNvPr>
          <p:cNvGrpSpPr/>
          <p:nvPr/>
        </p:nvGrpSpPr>
        <p:grpSpPr>
          <a:xfrm>
            <a:off x="6169152" y="270357"/>
            <a:ext cx="5946648" cy="3595614"/>
            <a:chOff x="624078" y="270357"/>
            <a:chExt cx="5869258" cy="3595614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A91510CF-D717-E4B8-EA4D-2B5EA7A94AAC}"/>
                </a:ext>
              </a:extLst>
            </p:cNvPr>
            <p:cNvSpPr txBox="1"/>
            <p:nvPr/>
          </p:nvSpPr>
          <p:spPr>
            <a:xfrm>
              <a:off x="624078" y="1369582"/>
              <a:ext cx="5869258" cy="249638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b="1" dirty="0">
                  <a:solidFill>
                    <a:srgbClr val="000000"/>
                  </a:solidFill>
                  <a:latin typeface="Fira Sans" panose="020B0503050000020004" pitchFamily="34" charset="0"/>
                </a:rPr>
                <a:t>Four Main Panels:</a:t>
              </a:r>
              <a:endParaRPr lang="en-US" dirty="0">
                <a:solidFill>
                  <a:srgbClr val="000000"/>
                </a:solidFill>
                <a:latin typeface="Fira Sans" panose="020B0503050000020004" pitchFamily="34" charset="0"/>
              </a:endParaRPr>
            </a:p>
            <a:p>
              <a:pPr marL="91440" lvl="1" indent="182880">
                <a:lnSpc>
                  <a:spcPct val="150000"/>
                </a:lnSpc>
                <a:buFont typeface="+mj-lt"/>
                <a:buAutoNum type="arabicPeriod"/>
              </a:pPr>
              <a:r>
                <a:rPr lang="en-US" b="1" dirty="0">
                  <a:solidFill>
                    <a:srgbClr val="000000"/>
                  </a:solidFill>
                  <a:latin typeface="Fira Sans" panose="020B0503050000020004" pitchFamily="34" charset="0"/>
                </a:rPr>
                <a:t>Source Editor</a:t>
              </a:r>
              <a:r>
                <a:rPr lang="en-US" dirty="0">
                  <a:solidFill>
                    <a:srgbClr val="000000"/>
                  </a:solidFill>
                  <a:latin typeface="Fira Sans" panose="020B0503050000020004" pitchFamily="34" charset="0"/>
                </a:rPr>
                <a:t> - </a:t>
              </a:r>
              <a:r>
                <a:rPr lang="en-US" sz="1600" dirty="0">
                  <a:solidFill>
                    <a:srgbClr val="000000"/>
                  </a:solidFill>
                  <a:latin typeface="Fira Sans" panose="020B0503050000020004" pitchFamily="34" charset="0"/>
                </a:rPr>
                <a:t>Write and save your code</a:t>
              </a:r>
              <a:endParaRPr lang="en-US" dirty="0">
                <a:solidFill>
                  <a:srgbClr val="000000"/>
                </a:solidFill>
                <a:latin typeface="Fira Sans" panose="020B0503050000020004" pitchFamily="34" charset="0"/>
              </a:endParaRPr>
            </a:p>
            <a:p>
              <a:pPr marL="91440" lvl="1" indent="182880">
                <a:lnSpc>
                  <a:spcPct val="150000"/>
                </a:lnSpc>
                <a:buFont typeface="+mj-lt"/>
                <a:buAutoNum type="arabicPeriod"/>
              </a:pPr>
              <a:r>
                <a:rPr lang="en-US" b="1" dirty="0">
                  <a:solidFill>
                    <a:srgbClr val="000000"/>
                  </a:solidFill>
                  <a:latin typeface="Fira Sans" panose="020B0503050000020004" pitchFamily="34" charset="0"/>
                </a:rPr>
                <a:t>Console</a:t>
              </a:r>
              <a:r>
                <a:rPr lang="en-US" dirty="0">
                  <a:solidFill>
                    <a:srgbClr val="000000"/>
                  </a:solidFill>
                  <a:latin typeface="Fira Sans" panose="020B0503050000020004" pitchFamily="34" charset="0"/>
                </a:rPr>
                <a:t> - </a:t>
              </a:r>
              <a:r>
                <a:rPr lang="en-US" sz="1600" dirty="0">
                  <a:solidFill>
                    <a:srgbClr val="000000"/>
                  </a:solidFill>
                  <a:latin typeface="Fira Sans" panose="020B0503050000020004" pitchFamily="34" charset="0"/>
                </a:rPr>
                <a:t>Execute commands interactively</a:t>
              </a:r>
              <a:endParaRPr lang="en-US" dirty="0">
                <a:solidFill>
                  <a:srgbClr val="000000"/>
                </a:solidFill>
                <a:latin typeface="Fira Sans" panose="020B0503050000020004" pitchFamily="34" charset="0"/>
              </a:endParaRPr>
            </a:p>
            <a:p>
              <a:pPr marL="91440" lvl="1" indent="182880">
                <a:lnSpc>
                  <a:spcPct val="150000"/>
                </a:lnSpc>
                <a:buFont typeface="+mj-lt"/>
                <a:buAutoNum type="arabicPeriod"/>
              </a:pPr>
              <a:r>
                <a:rPr lang="en-US" b="1" dirty="0">
                  <a:solidFill>
                    <a:srgbClr val="000000"/>
                  </a:solidFill>
                  <a:latin typeface="Fira Sans" panose="020B0503050000020004" pitchFamily="34" charset="0"/>
                </a:rPr>
                <a:t>Environment/History</a:t>
              </a:r>
              <a:r>
                <a:rPr lang="en-US" dirty="0">
                  <a:solidFill>
                    <a:srgbClr val="000000"/>
                  </a:solidFill>
                  <a:latin typeface="Fira Sans" panose="020B0503050000020004" pitchFamily="34" charset="0"/>
                </a:rPr>
                <a:t> - </a:t>
              </a:r>
              <a:r>
                <a:rPr lang="en-US" sz="1600" dirty="0">
                  <a:solidFill>
                    <a:srgbClr val="000000"/>
                  </a:solidFill>
                  <a:latin typeface="Fira Sans" panose="020B0503050000020004" pitchFamily="34" charset="0"/>
                </a:rPr>
                <a:t>View objects and command history</a:t>
              </a:r>
              <a:endParaRPr lang="en-US" dirty="0">
                <a:solidFill>
                  <a:srgbClr val="000000"/>
                </a:solidFill>
                <a:latin typeface="Fira Sans" panose="020B0503050000020004" pitchFamily="34" charset="0"/>
              </a:endParaRPr>
            </a:p>
            <a:p>
              <a:pPr marL="91440" lvl="1" indent="182880">
                <a:lnSpc>
                  <a:spcPct val="150000"/>
                </a:lnSpc>
                <a:buFont typeface="+mj-lt"/>
                <a:buAutoNum type="arabicPeriod"/>
              </a:pPr>
              <a:r>
                <a:rPr lang="en-US" b="1" dirty="0">
                  <a:solidFill>
                    <a:srgbClr val="000000"/>
                  </a:solidFill>
                  <a:latin typeface="Fira Sans" panose="020B0503050000020004" pitchFamily="34" charset="0"/>
                </a:rPr>
                <a:t>Files/Plots/Help</a:t>
              </a:r>
              <a:r>
                <a:rPr lang="en-US" dirty="0">
                  <a:solidFill>
                    <a:srgbClr val="000000"/>
                  </a:solidFill>
                  <a:latin typeface="Fira Sans" panose="020B0503050000020004" pitchFamily="34" charset="0"/>
                </a:rPr>
                <a:t> - </a:t>
              </a:r>
              <a:r>
                <a:rPr lang="en-US" sz="1600" dirty="0">
                  <a:solidFill>
                    <a:srgbClr val="000000"/>
                  </a:solidFill>
                  <a:latin typeface="Fira Sans" panose="020B0503050000020004" pitchFamily="34" charset="0"/>
                </a:rPr>
                <a:t>Navigate files, view plots, access help</a:t>
              </a:r>
              <a:endParaRPr lang="en-US" dirty="0">
                <a:solidFill>
                  <a:srgbClr val="000000"/>
                </a:solidFill>
                <a:latin typeface="Fira Sans" panose="020B0503050000020004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92C12DE0-4EA5-FA69-7B14-B28D14404157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6722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F0502020204030204" pitchFamily="34" charset="0"/>
                </a:rPr>
                <a:t>RStudio Interface Tour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7E94C54D-3D28-2A20-6A54-2BE41404A5BB}"/>
              </a:ext>
            </a:extLst>
          </p:cNvPr>
          <p:cNvSpPr txBox="1"/>
          <p:nvPr/>
        </p:nvSpPr>
        <p:spPr>
          <a:xfrm>
            <a:off x="6096000" y="3945415"/>
            <a:ext cx="6094476" cy="4028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" lvl="1">
              <a:lnSpc>
                <a:spcPct val="150000"/>
              </a:lnSpc>
            </a:pPr>
            <a:r>
              <a:rPr lang="en-US" sz="1500" b="1" i="1" dirty="0">
                <a:solidFill>
                  <a:srgbClr val="000000"/>
                </a:solidFill>
                <a:latin typeface="Fira Sans" panose="020B0503050000020004" pitchFamily="34" charset="0"/>
              </a:rPr>
              <a:t>Best Practice:</a:t>
            </a:r>
            <a:r>
              <a:rPr lang="en-US" sz="1500" i="1" dirty="0">
                <a:solidFill>
                  <a:srgbClr val="000000"/>
                </a:solidFill>
                <a:latin typeface="Fira Sans" panose="020B0503050000020004" pitchFamily="34" charset="0"/>
              </a:rPr>
              <a:t> Always work in R scripts (.R) or R Markdown (.</a:t>
            </a:r>
            <a:r>
              <a:rPr lang="en-US" sz="1500" i="1" dirty="0" err="1">
                <a:solidFill>
                  <a:srgbClr val="000000"/>
                </a:solidFill>
                <a:latin typeface="Fira Sans" panose="020B0503050000020004" pitchFamily="34" charset="0"/>
              </a:rPr>
              <a:t>Rmd</a:t>
            </a:r>
            <a:r>
              <a:rPr lang="en-US" sz="1500" i="1" dirty="0">
                <a:solidFill>
                  <a:srgbClr val="000000"/>
                </a:solidFill>
                <a:latin typeface="Fira Sans" panose="020B0503050000020004" pitchFamily="34" charset="0"/>
              </a:rPr>
              <a:t>) files</a:t>
            </a:r>
          </a:p>
        </p:txBody>
      </p:sp>
    </p:spTree>
    <p:extLst>
      <p:ext uri="{BB962C8B-B14F-4D97-AF65-F5344CB8AC3E}">
        <p14:creationId xmlns:p14="http://schemas.microsoft.com/office/powerpoint/2010/main" val="23639634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14F9A-73B0-E0AA-10BA-F0316F77E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3BD69BAD-7D9F-7F49-C33D-6B1D5498720A}"/>
              </a:ext>
            </a:extLst>
          </p:cNvPr>
          <p:cNvSpPr txBox="1"/>
          <p:nvPr/>
        </p:nvSpPr>
        <p:spPr>
          <a:xfrm>
            <a:off x="493776" y="270357"/>
            <a:ext cx="6848855" cy="672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en-US" sz="2800" b="0" i="0" dirty="0">
                <a:solidFill>
                  <a:srgbClr val="1A292C"/>
                </a:solidFill>
                <a:effectLst/>
                <a:latin typeface="Fira Sans" panose="020F0502020204030204" pitchFamily="34" charset="0"/>
              </a:rPr>
              <a:t>Bioinformatics methods &amp; visualizations</a:t>
            </a:r>
          </a:p>
        </p:txBody>
      </p:sp>
      <p:pic>
        <p:nvPicPr>
          <p:cNvPr id="1026" name="Picture 2" descr="Proteomic and metabolomic data analysis - Genevia Technologies">
            <a:extLst>
              <a:ext uri="{FF2B5EF4-FFF2-40B4-BE49-F238E27FC236}">
                <a16:creationId xmlns:a16="http://schemas.microsoft.com/office/drawing/2014/main" id="{4BFDCA59-BAF7-B6F1-71BC-56A03BBB60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624" y="980189"/>
            <a:ext cx="5886831" cy="54749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B57DF62-B94A-C791-3904-ACF2DE09E7AB}"/>
              </a:ext>
            </a:extLst>
          </p:cNvPr>
          <p:cNvSpPr txBox="1"/>
          <p:nvPr/>
        </p:nvSpPr>
        <p:spPr>
          <a:xfrm>
            <a:off x="2478024" y="6231119"/>
            <a:ext cx="3169729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500" dirty="0"/>
              <a:t>https://geneviatechnologies.com/bioinformatics-analyses/proteomic-and-metabolomic-data-analysis/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44917E0-65F0-C9D4-64AE-ED7CE1D3E654}"/>
              </a:ext>
            </a:extLst>
          </p:cNvPr>
          <p:cNvGrpSpPr/>
          <p:nvPr/>
        </p:nvGrpSpPr>
        <p:grpSpPr>
          <a:xfrm>
            <a:off x="6096000" y="1170432"/>
            <a:ext cx="5068633" cy="5060687"/>
            <a:chOff x="6532054" y="1102369"/>
            <a:chExt cx="5068633" cy="5060687"/>
          </a:xfrm>
        </p:grpSpPr>
        <p:sp>
          <p:nvSpPr>
            <p:cNvPr id="12" name="Right Brace 11">
              <a:extLst>
                <a:ext uri="{FF2B5EF4-FFF2-40B4-BE49-F238E27FC236}">
                  <a16:creationId xmlns:a16="http://schemas.microsoft.com/office/drawing/2014/main" id="{9D2BCAD5-7563-FEC7-88FB-89834A5BE3C3}"/>
                </a:ext>
              </a:extLst>
            </p:cNvPr>
            <p:cNvSpPr/>
            <p:nvPr/>
          </p:nvSpPr>
          <p:spPr>
            <a:xfrm>
              <a:off x="6532054" y="1102369"/>
              <a:ext cx="2057400" cy="5060687"/>
            </a:xfrm>
            <a:prstGeom prst="rightBrace">
              <a:avLst>
                <a:gd name="adj1" fmla="val 35000"/>
                <a:gd name="adj2" fmla="val 5000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D8D98A71-295A-F06E-C661-9ECB84E1F4B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814053" y="2665243"/>
              <a:ext cx="2716399" cy="2104834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6A48D0E-4F96-869C-97A4-4B2C41107523}"/>
                </a:ext>
              </a:extLst>
            </p:cNvPr>
            <p:cNvSpPr txBox="1"/>
            <p:nvPr/>
          </p:nvSpPr>
          <p:spPr>
            <a:xfrm>
              <a:off x="8814053" y="5038343"/>
              <a:ext cx="2786634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GB" b="1" i="0" dirty="0">
                  <a:solidFill>
                    <a:srgbClr val="0A0A0A"/>
                  </a:solidFill>
                  <a:effectLst/>
                  <a:latin typeface="Google Sans"/>
                </a:rPr>
                <a:t>R (programming language)</a:t>
              </a:r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2692090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69EF47-7F38-9B38-36F2-6CA7C5280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F608F327-5CE3-F64B-DC5E-10A3B772AA06}"/>
              </a:ext>
            </a:extLst>
          </p:cNvPr>
          <p:cNvSpPr txBox="1"/>
          <p:nvPr/>
        </p:nvSpPr>
        <p:spPr>
          <a:xfrm>
            <a:off x="493777" y="270357"/>
            <a:ext cx="5529072" cy="6722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buNone/>
            </a:pPr>
            <a:r>
              <a:rPr lang="en-US" sz="2800" b="0" i="0" dirty="0">
                <a:solidFill>
                  <a:srgbClr val="1A292C"/>
                </a:solidFill>
                <a:effectLst/>
                <a:latin typeface="Fira Sans" panose="020F0502020204030204" pitchFamily="34" charset="0"/>
              </a:rPr>
              <a:t>R, </a:t>
            </a:r>
            <a:r>
              <a:rPr lang="en-US" sz="2800" b="0" i="0" dirty="0" err="1">
                <a:solidFill>
                  <a:srgbClr val="1A292C"/>
                </a:solidFill>
                <a:effectLst/>
                <a:latin typeface="Fira Sans" panose="020F0502020204030204" pitchFamily="34" charset="0"/>
              </a:rPr>
              <a:t>Rstudio</a:t>
            </a:r>
            <a:r>
              <a:rPr lang="en-US" sz="2800" b="0" i="0" dirty="0">
                <a:solidFill>
                  <a:srgbClr val="1A292C"/>
                </a:solidFill>
                <a:effectLst/>
                <a:latin typeface="Fira Sans" panose="020F0502020204030204" pitchFamily="34" charset="0"/>
              </a:rPr>
              <a:t>, </a:t>
            </a:r>
            <a:r>
              <a:rPr lang="en-US" sz="2800" b="0" i="0" dirty="0" err="1">
                <a:solidFill>
                  <a:srgbClr val="1A292C"/>
                </a:solidFill>
                <a:effectLst/>
                <a:latin typeface="Fira Sans" panose="020F0502020204030204" pitchFamily="34" charset="0"/>
              </a:rPr>
              <a:t>Tidyverse</a:t>
            </a:r>
            <a:r>
              <a:rPr lang="en-US" sz="2800" b="0" i="0" dirty="0">
                <a:solidFill>
                  <a:srgbClr val="1A292C"/>
                </a:solidFill>
                <a:effectLst/>
                <a:latin typeface="Fira Sans" panose="020F0502020204030204" pitchFamily="34" charset="0"/>
              </a:rPr>
              <a:t>, Notebooks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02A226-0998-B400-7B85-AE3FC07EC3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6151" y="1638252"/>
            <a:ext cx="7897599" cy="46711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13153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A85850C7-B4BC-9A8F-3939-4CAC96919E89}"/>
              </a:ext>
            </a:extLst>
          </p:cNvPr>
          <p:cNvGrpSpPr/>
          <p:nvPr/>
        </p:nvGrpSpPr>
        <p:grpSpPr>
          <a:xfrm>
            <a:off x="493777" y="270357"/>
            <a:ext cx="5529072" cy="3641844"/>
            <a:chOff x="624078" y="270357"/>
            <a:chExt cx="5154930" cy="3641844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0E14C34-A149-925D-04EF-0298D025F9A3}"/>
                </a:ext>
              </a:extLst>
            </p:cNvPr>
            <p:cNvSpPr txBox="1"/>
            <p:nvPr/>
          </p:nvSpPr>
          <p:spPr>
            <a:xfrm>
              <a:off x="624078" y="1369582"/>
              <a:ext cx="5154930" cy="254261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b="1" i="0" dirty="0">
                  <a:solidFill>
                    <a:srgbClr val="000000"/>
                  </a:solidFill>
                  <a:effectLst/>
                  <a:latin typeface="Fira Sans" panose="020B0503050000020004" pitchFamily="34" charset="0"/>
                </a:rPr>
                <a:t>Agendas:</a:t>
              </a:r>
              <a:endParaRPr lang="en-US" b="0" i="0" dirty="0">
                <a:solidFill>
                  <a:srgbClr val="000000"/>
                </a:solidFill>
                <a:effectLst/>
                <a:latin typeface="Fira Sans" panose="020B0503050000020004" pitchFamily="34" charset="0"/>
              </a:endParaRP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latin typeface="Fira Sans" panose="020B0503050000020004" pitchFamily="34" charset="0"/>
                </a:rPr>
                <a:t>Module 1: Setting Up and Getting Started with R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latin typeface="Fira Sans" panose="020B0503050000020004" pitchFamily="34" charset="0"/>
                </a:rPr>
                <a:t>Module 2: Data Types and Structures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latin typeface="Fira Sans" panose="020B0503050000020004" pitchFamily="34" charset="0"/>
                </a:rPr>
                <a:t>Module 3: Control Flow and Functions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chemeClr val="bg2">
                      <a:lumMod val="50000"/>
                    </a:schemeClr>
                  </a:solidFill>
                  <a:latin typeface="Fira Sans" panose="020B0503050000020004" pitchFamily="34" charset="0"/>
                </a:rPr>
                <a:t>Module 4: Importing and exploring data?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chemeClr val="bg2">
                      <a:lumMod val="50000"/>
                    </a:schemeClr>
                  </a:solidFill>
                  <a:latin typeface="Fira Sans" panose="020B0503050000020004" pitchFamily="34" charset="0"/>
                </a:rPr>
                <a:t>Module 5: Data Wrangling with `</a:t>
              </a:r>
              <a:r>
                <a:rPr lang="en-US" dirty="0" err="1">
                  <a:solidFill>
                    <a:schemeClr val="bg2">
                      <a:lumMod val="50000"/>
                    </a:schemeClr>
                  </a:solidFill>
                  <a:latin typeface="Fira Sans" panose="020B0503050000020004" pitchFamily="34" charset="0"/>
                </a:rPr>
                <a:t>tidyverse</a:t>
              </a:r>
              <a:r>
                <a:rPr lang="en-US" dirty="0">
                  <a:solidFill>
                    <a:schemeClr val="bg2">
                      <a:lumMod val="50000"/>
                    </a:schemeClr>
                  </a:solidFill>
                  <a:latin typeface="Fira Sans" panose="020B0503050000020004" pitchFamily="34" charset="0"/>
                </a:rPr>
                <a:t>`?</a:t>
              </a:r>
              <a:endParaRPr lang="en-GB" dirty="0">
                <a:solidFill>
                  <a:schemeClr val="bg2">
                    <a:lumMod val="50000"/>
                  </a:schemeClr>
                </a:solidFill>
                <a:latin typeface="Fira Sans" panose="020B0503050000020004" pitchFamily="34" charset="0"/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D3CBD90-B104-1ED6-712C-5BEA66A22916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46512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b="1" dirty="0">
                  <a:latin typeface="Fira Sans" panose="020B0503050000020004" pitchFamily="34" charset="0"/>
                  <a:hlinkClick r:id="rId2" action="ppaction://hlinkfile"/>
                </a:rPr>
                <a:t>Introduction</a:t>
              </a:r>
              <a:r>
                <a:rPr lang="en-US" dirty="0">
                  <a:latin typeface="Fira Sans" panose="020B0503050000020004" pitchFamily="34" charset="0"/>
                  <a:hlinkClick r:id="rId2" action="ppaction://hlinkfile"/>
                </a:rPr>
                <a:t> to R and RStudio</a:t>
              </a:r>
              <a:endParaRPr lang="en-US" sz="2800" b="0" i="0" dirty="0">
                <a:solidFill>
                  <a:srgbClr val="1A292C"/>
                </a:solidFill>
                <a:effectLst/>
                <a:latin typeface="Fira Sans" panose="020B0503050000020004" pitchFamily="34" charset="0"/>
              </a:endParaRP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E040918E-6333-1FCA-7B2D-DBFDA27B50A4}"/>
              </a:ext>
            </a:extLst>
          </p:cNvPr>
          <p:cNvGrpSpPr/>
          <p:nvPr/>
        </p:nvGrpSpPr>
        <p:grpSpPr>
          <a:xfrm>
            <a:off x="6169152" y="270357"/>
            <a:ext cx="5946648" cy="4888339"/>
            <a:chOff x="624078" y="270357"/>
            <a:chExt cx="5869258" cy="4888339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C6787D50-6D13-0575-2630-1BAFE04894D8}"/>
                </a:ext>
              </a:extLst>
            </p:cNvPr>
            <p:cNvSpPr txBox="1"/>
            <p:nvPr/>
          </p:nvSpPr>
          <p:spPr>
            <a:xfrm>
              <a:off x="624078" y="1369582"/>
              <a:ext cx="5869258" cy="37891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Today you will learn: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How to set up R and </a:t>
              </a:r>
              <a:r>
                <a:rPr lang="en-GB" dirty="0" err="1">
                  <a:latin typeface="Fira Sans" panose="020B0503050000020004" pitchFamily="34" charset="0"/>
                </a:rPr>
                <a:t>Rstudio</a:t>
              </a:r>
              <a:endParaRPr lang="en-GB" dirty="0">
                <a:latin typeface="Fira Sans" panose="020B0503050000020004" pitchFamily="34" charset="0"/>
              </a:endParaRP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Basic R operators and syntax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Data structures: vectors, data frames, lists, factors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Indexing and sub-setting data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Control flow: if/else, loops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Writing custom functions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b="1" dirty="0">
                  <a:solidFill>
                    <a:srgbClr val="FF0000"/>
                  </a:solidFill>
                  <a:latin typeface="Fira Sans" panose="020B0503050000020004" pitchFamily="34" charset="0"/>
                </a:rPr>
                <a:t>TODO</a:t>
              </a:r>
              <a:r>
                <a:rPr lang="en-GB" dirty="0">
                  <a:latin typeface="Fira Sans" panose="020B0503050000020004" pitchFamily="34" charset="0"/>
                </a:rPr>
                <a:t> Visualizations/Graphs/Plots/..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b="1" dirty="0">
                  <a:solidFill>
                    <a:srgbClr val="FF0000"/>
                  </a:solidFill>
                  <a:latin typeface="Fira Sans" panose="020B0503050000020004" pitchFamily="34" charset="0"/>
                </a:rPr>
                <a:t>TODO</a:t>
              </a:r>
              <a:r>
                <a:rPr lang="en-GB" dirty="0">
                  <a:latin typeface="Fira Sans" panose="020B0503050000020004" pitchFamily="34" charset="0"/>
                </a:rPr>
                <a:t> Importing and exploring data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AF7DB8EC-2FE9-43E6-B31F-A0821907DA2D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6722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B0503050000020004" pitchFamily="34" charset="0"/>
                </a:rPr>
                <a:t>Day 1 Summary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48047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5BE1D3DC-971B-B0DF-DBB6-45FEE40D080A}"/>
              </a:ext>
            </a:extLst>
          </p:cNvPr>
          <p:cNvGrpSpPr/>
          <p:nvPr/>
        </p:nvGrpSpPr>
        <p:grpSpPr>
          <a:xfrm>
            <a:off x="493777" y="270357"/>
            <a:ext cx="5529072" cy="4426674"/>
            <a:chOff x="624078" y="270357"/>
            <a:chExt cx="5154930" cy="442667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E41810A-413B-5C95-6A7F-334486213768}"/>
                </a:ext>
              </a:extLst>
            </p:cNvPr>
            <p:cNvSpPr txBox="1"/>
            <p:nvPr/>
          </p:nvSpPr>
          <p:spPr>
            <a:xfrm>
              <a:off x="624078" y="1369582"/>
              <a:ext cx="5154930" cy="332744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b="1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Learning Objectives:</a:t>
              </a:r>
            </a:p>
            <a:p>
              <a:pPr algn="l">
                <a:lnSpc>
                  <a:spcPct val="150000"/>
                </a:lnSpc>
                <a:buNone/>
              </a:pPr>
              <a:r>
                <a:rPr lang="en-US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By the end of Day 2, you will be able to: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latin typeface="Fira Sans" panose="020B0503050000020004" pitchFamily="34" charset="0"/>
                </a:rPr>
                <a:t>Module 1: Treat Proteomic Data</a:t>
              </a:r>
            </a:p>
            <a:p>
              <a:pPr marL="742950" lvl="1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600" dirty="0">
                  <a:latin typeface="Fira Sans" panose="020B0503050000020004" pitchFamily="34" charset="0"/>
                </a:rPr>
                <a:t>From Mass Spectrometry to Quantified Proteins</a:t>
              </a:r>
            </a:p>
            <a:p>
              <a:pPr marL="742950" lvl="1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sz="1600" dirty="0">
                  <a:latin typeface="Fira Sans" panose="020B0503050000020004" pitchFamily="34" charset="0"/>
                </a:rPr>
                <a:t>Structure of Proteomic Data Matrices</a:t>
              </a:r>
            </a:p>
            <a:p>
              <a:pPr marL="742950" lvl="1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sz="1600" dirty="0">
                  <a:latin typeface="Fira Sans" panose="020B0503050000020004" pitchFamily="34" charset="0"/>
                </a:rPr>
                <a:t>Understanding Your Data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latin typeface="Fira Sans" panose="020B0503050000020004" pitchFamily="34" charset="0"/>
                </a:rPr>
                <a:t>Module 2: Initial Quality Control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latin typeface="Fira Sans" panose="020B0503050000020004" pitchFamily="34" charset="0"/>
                </a:rPr>
                <a:t>Module 3: Exploratory Data Analysis (EDA)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EBB60C9-97D8-D5BB-9F1B-78D33A52D8AF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46512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b="1" u="sng" dirty="0">
                  <a:latin typeface="Fira Sans" panose="020B0503050000020004" pitchFamily="34" charset="0"/>
                  <a:hlinkClick r:id="rId2" action="ppaction://hlinkfile"/>
                </a:rPr>
                <a:t>Introduction to Proteomic Data &amp; Quality Control</a:t>
              </a:r>
              <a:endParaRPr lang="en-US" sz="4000" b="0" i="0" dirty="0">
                <a:solidFill>
                  <a:srgbClr val="1A292C"/>
                </a:solidFill>
                <a:effectLst/>
                <a:latin typeface="Fira Sans" panose="020B0503050000020004" pitchFamily="3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F352149-06AE-19E8-6A8C-8577B9412E81}"/>
              </a:ext>
            </a:extLst>
          </p:cNvPr>
          <p:cNvGrpSpPr/>
          <p:nvPr/>
        </p:nvGrpSpPr>
        <p:grpSpPr>
          <a:xfrm>
            <a:off x="6169152" y="270357"/>
            <a:ext cx="5946648" cy="4886416"/>
            <a:chOff x="624078" y="270357"/>
            <a:chExt cx="5869258" cy="4886416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6DFDA27-2473-25EF-0AD6-F620E47A52CC}"/>
                </a:ext>
              </a:extLst>
            </p:cNvPr>
            <p:cNvSpPr txBox="1"/>
            <p:nvPr/>
          </p:nvSpPr>
          <p:spPr>
            <a:xfrm>
              <a:off x="624078" y="1369582"/>
              <a:ext cx="5869258" cy="37871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Today you will learn: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Structure of proteomic data matrices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Common data quality issues (</a:t>
              </a:r>
              <a:r>
                <a:rPr lang="en-GB" b="1" dirty="0">
                  <a:latin typeface="Fira Sans" panose="020B0503050000020004" pitchFamily="34" charset="0"/>
                </a:rPr>
                <a:t>missing values, outliers, batch effects</a:t>
              </a:r>
              <a:r>
                <a:rPr lang="en-GB" dirty="0">
                  <a:latin typeface="Fira Sans" panose="020B0503050000020004" pitchFamily="34" charset="0"/>
                </a:rPr>
                <a:t>)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Quality control </a:t>
              </a:r>
              <a:r>
                <a:rPr lang="en-GB" b="1" dirty="0">
                  <a:latin typeface="Fira Sans" panose="020B0503050000020004" pitchFamily="34" charset="0"/>
                </a:rPr>
                <a:t>visualization</a:t>
              </a:r>
              <a:r>
                <a:rPr lang="en-GB" dirty="0">
                  <a:latin typeface="Fira Sans" panose="020B0503050000020004" pitchFamily="34" charset="0"/>
                </a:rPr>
                <a:t> techniques (</a:t>
              </a:r>
              <a:r>
                <a:rPr lang="en-US" dirty="0">
                  <a:solidFill>
                    <a:srgbClr val="212529"/>
                  </a:solidFill>
                  <a:latin typeface="Fira Sans" panose="020B0503050000020004" pitchFamily="34" charset="0"/>
                </a:rPr>
                <a:t>PCA, boxplots, and heatmaps)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US" dirty="0">
                  <a:solidFill>
                    <a:srgbClr val="212529"/>
                  </a:solidFill>
                  <a:latin typeface="Fira Sans" panose="020B0503050000020004" pitchFamily="34" charset="0"/>
                </a:rPr>
                <a:t>Conduct exploratory data analysis (EDA)</a:t>
              </a:r>
              <a:endParaRPr lang="en-GB" dirty="0">
                <a:latin typeface="Fira Sans" panose="020B0503050000020004" pitchFamily="34" charset="0"/>
              </a:endParaRP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Exploratory data analysis methods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Sample correlation and clustering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C2F47AD5-8550-4A89-A148-B2E533BED619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6722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B0503050000020004" pitchFamily="34" charset="0"/>
                </a:rPr>
                <a:t>Day 2 Summary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316976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0EF8CE-D733-4D7D-285E-20951FEEB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D7368535-A238-3DDB-D876-E02FD3651AE2}"/>
              </a:ext>
            </a:extLst>
          </p:cNvPr>
          <p:cNvGrpSpPr/>
          <p:nvPr/>
        </p:nvGrpSpPr>
        <p:grpSpPr>
          <a:xfrm>
            <a:off x="493777" y="270357"/>
            <a:ext cx="5529072" cy="3229103"/>
            <a:chOff x="624078" y="270357"/>
            <a:chExt cx="5154930" cy="322910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315CE10-0707-081B-4479-B1A2A38C4D8E}"/>
                </a:ext>
              </a:extLst>
            </p:cNvPr>
            <p:cNvSpPr txBox="1"/>
            <p:nvPr/>
          </p:nvSpPr>
          <p:spPr>
            <a:xfrm>
              <a:off x="624078" y="1369582"/>
              <a:ext cx="5154930" cy="212987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b="1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Learning Objectives:</a:t>
              </a:r>
            </a:p>
            <a:p>
              <a:pPr algn="l">
                <a:lnSpc>
                  <a:spcPct val="150000"/>
                </a:lnSpc>
                <a:buNone/>
              </a:pPr>
              <a:r>
                <a:rPr lang="en-US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By the end of Day 3, you will be able to perform: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Module 1: Data Preprocessing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Module 2: Batch Effect Correction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Module 3: Differential Expression Analysis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E3EF09D1-D6C3-5A0A-3C90-15D8172E0C84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4650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b="1" u="sng" dirty="0">
                  <a:latin typeface="Fira Sans" panose="020B0503050000020004" pitchFamily="34" charset="0"/>
                  <a:hlinkClick r:id="rId2" action="ppaction://hlinkfile"/>
                </a:rPr>
                <a:t>Preprocessing and Differential Expression</a:t>
              </a:r>
              <a:endParaRPr lang="en-US" sz="4400" b="0" i="0" dirty="0">
                <a:solidFill>
                  <a:srgbClr val="1A292C"/>
                </a:solidFill>
                <a:effectLst/>
                <a:latin typeface="Fira Sans" panose="020B0503050000020004" pitchFamily="3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D8BF47EB-5D25-7980-17B5-9826F098B01D}"/>
              </a:ext>
            </a:extLst>
          </p:cNvPr>
          <p:cNvGrpSpPr/>
          <p:nvPr/>
        </p:nvGrpSpPr>
        <p:grpSpPr>
          <a:xfrm>
            <a:off x="6169152" y="270357"/>
            <a:ext cx="5946648" cy="4886416"/>
            <a:chOff x="624078" y="270357"/>
            <a:chExt cx="5869258" cy="4886416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B8F76C9-3560-34EE-B3A9-E22A7DC9FF7B}"/>
                </a:ext>
              </a:extLst>
            </p:cNvPr>
            <p:cNvSpPr txBox="1"/>
            <p:nvPr/>
          </p:nvSpPr>
          <p:spPr>
            <a:xfrm>
              <a:off x="624078" y="1369582"/>
              <a:ext cx="5869258" cy="378719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Today you learned: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solidFill>
                    <a:srgbClr val="212529"/>
                  </a:solidFill>
                  <a:latin typeface="Fira Sans" panose="020B0503050000020004" pitchFamily="34" charset="0"/>
                </a:rPr>
                <a:t>Apply different normalization methods to proteomic data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solidFill>
                    <a:srgbClr val="212529"/>
                  </a:solidFill>
                  <a:latin typeface="Fira Sans" panose="020B0503050000020004" pitchFamily="34" charset="0"/>
                </a:rPr>
                <a:t>Perform batch effect correction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solidFill>
                    <a:srgbClr val="212529"/>
                  </a:solidFill>
                  <a:latin typeface="Fira Sans" panose="020B0503050000020004" pitchFamily="34" charset="0"/>
                </a:rPr>
                <a:t>Conduct differential expression analysis using `</a:t>
              </a:r>
              <a:r>
                <a:rPr lang="en-US" dirty="0" err="1">
                  <a:solidFill>
                    <a:srgbClr val="212529"/>
                  </a:solidFill>
                  <a:latin typeface="Fira Sans" panose="020B0503050000020004" pitchFamily="34" charset="0"/>
                </a:rPr>
                <a:t>limma</a:t>
              </a:r>
              <a:r>
                <a:rPr lang="en-US" dirty="0">
                  <a:solidFill>
                    <a:srgbClr val="212529"/>
                  </a:solidFill>
                  <a:latin typeface="Fira Sans" panose="020B0503050000020004" pitchFamily="34" charset="0"/>
                </a:rPr>
                <a:t>`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solidFill>
                    <a:srgbClr val="212529"/>
                  </a:solidFill>
                  <a:latin typeface="Fira Sans" panose="020B0503050000020004" pitchFamily="34" charset="0"/>
                </a:rPr>
                <a:t>Interpret and visualize differential expression results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solidFill>
                    <a:srgbClr val="212529"/>
                  </a:solidFill>
                  <a:latin typeface="Fira Sans" panose="020B0503050000020004" pitchFamily="34" charset="0"/>
                </a:rPr>
                <a:t>Create volcano plots and MA plots</a:t>
              </a:r>
              <a:endParaRPr lang="en-US" dirty="0">
                <a:latin typeface="Fira Sans" panose="020B0503050000020004" pitchFamily="34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8979BF9D-074F-C8EF-EDAF-419880F72D38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6722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B0503050000020004" pitchFamily="34" charset="0"/>
                </a:rPr>
                <a:t>Day </a:t>
              </a:r>
              <a:r>
                <a:rPr lang="en-US" sz="2800" dirty="0">
                  <a:solidFill>
                    <a:srgbClr val="1A292C"/>
                  </a:solidFill>
                  <a:latin typeface="Fira Sans" panose="020B0503050000020004" pitchFamily="34" charset="0"/>
                </a:rPr>
                <a:t>3</a:t>
              </a: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B0503050000020004" pitchFamily="34" charset="0"/>
                </a:rPr>
                <a:t> Summary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69097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B15CF-E6DA-FCC8-5AFE-97D63C8A9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EB5BCAA-00E9-2D81-592C-971F28D67D2A}"/>
              </a:ext>
            </a:extLst>
          </p:cNvPr>
          <p:cNvGrpSpPr/>
          <p:nvPr/>
        </p:nvGrpSpPr>
        <p:grpSpPr>
          <a:xfrm>
            <a:off x="493777" y="270357"/>
            <a:ext cx="5529072" cy="2810847"/>
            <a:chOff x="624078" y="270357"/>
            <a:chExt cx="5154930" cy="2810847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411EBA82-F3AE-35F8-E43F-DB7CB82228C8}"/>
                </a:ext>
              </a:extLst>
            </p:cNvPr>
            <p:cNvSpPr txBox="1"/>
            <p:nvPr/>
          </p:nvSpPr>
          <p:spPr>
            <a:xfrm>
              <a:off x="624078" y="1369582"/>
              <a:ext cx="5154930" cy="171162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b="1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Learning Objectives:</a:t>
              </a:r>
            </a:p>
            <a:p>
              <a:pPr algn="l">
                <a:lnSpc>
                  <a:spcPct val="150000"/>
                </a:lnSpc>
                <a:buNone/>
              </a:pPr>
              <a:r>
                <a:rPr lang="en-US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By the end of Day 4, you will be able to perform: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Module 1: Functional Enrichment &amp; GSEA</a:t>
              </a:r>
            </a:p>
            <a:p>
              <a:pPr marL="285750" indent="-285750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dirty="0">
                  <a:latin typeface="Fira Sans" panose="020B0503050000020004" pitchFamily="34" charset="0"/>
                </a:rPr>
                <a:t>Module 2: Public Data integration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747D1AC-ED87-36D8-2225-32CE7A87D3E1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4650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US" b="1" dirty="0">
                  <a:latin typeface="Fira Sans" panose="020B0503050000020004" pitchFamily="34" charset="0"/>
                  <a:hlinkClick r:id="rId2" action="ppaction://hlinkfile"/>
                </a:rPr>
                <a:t>Functional Analysis, Longitudinal &amp; Public Data</a:t>
              </a:r>
              <a:endParaRPr lang="en-US" sz="4400" b="0" i="0" dirty="0">
                <a:solidFill>
                  <a:srgbClr val="1A292C"/>
                </a:solidFill>
                <a:effectLst/>
                <a:latin typeface="Fira Sans" panose="020B0503050000020004" pitchFamily="3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8B61908C-E107-33B9-0723-A58D5516E8DB}"/>
              </a:ext>
            </a:extLst>
          </p:cNvPr>
          <p:cNvGrpSpPr/>
          <p:nvPr/>
        </p:nvGrpSpPr>
        <p:grpSpPr>
          <a:xfrm>
            <a:off x="6169152" y="270357"/>
            <a:ext cx="5946648" cy="2811040"/>
            <a:chOff x="624078" y="270357"/>
            <a:chExt cx="5869258" cy="2811040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5C63589-B290-AA70-03AA-45F8C2D4CDE3}"/>
                </a:ext>
              </a:extLst>
            </p:cNvPr>
            <p:cNvSpPr txBox="1"/>
            <p:nvPr/>
          </p:nvSpPr>
          <p:spPr>
            <a:xfrm>
              <a:off x="624078" y="1369582"/>
              <a:ext cx="5869258" cy="171181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Today you learned:</a:t>
              </a:r>
            </a:p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latin typeface="Fira Sans" panose="020B0503050000020004" pitchFamily="34" charset="0"/>
                </a:rPr>
                <a:t>Interpret DE results biologically</a:t>
              </a:r>
            </a:p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latin typeface="Fira Sans" panose="020B0503050000020004" pitchFamily="34" charset="0"/>
                </a:rPr>
                <a:t>Explore longitudinal trajectories</a:t>
              </a:r>
            </a:p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latin typeface="Fira Sans" panose="020B0503050000020004" pitchFamily="34" charset="0"/>
                </a:rPr>
                <a:t>Work with public datasets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DAF0B2C5-393B-8A0D-E03C-9202C77693A7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6722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B0503050000020004" pitchFamily="34" charset="0"/>
                </a:rPr>
                <a:t>Day 4 Summary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753832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73B58-32F8-5A8B-62B2-B2EA29E1E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65856232-84D3-1727-8C54-CBB27D4D50E8}"/>
              </a:ext>
            </a:extLst>
          </p:cNvPr>
          <p:cNvGrpSpPr/>
          <p:nvPr/>
        </p:nvGrpSpPr>
        <p:grpSpPr>
          <a:xfrm>
            <a:off x="493777" y="270357"/>
            <a:ext cx="5529072" cy="5677914"/>
            <a:chOff x="624078" y="270357"/>
            <a:chExt cx="5154930" cy="5677914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91A67873-3E2F-11B9-25B3-69B32E10E0AC}"/>
                </a:ext>
              </a:extLst>
            </p:cNvPr>
            <p:cNvSpPr txBox="1"/>
            <p:nvPr/>
          </p:nvSpPr>
          <p:spPr>
            <a:xfrm>
              <a:off x="624078" y="1369582"/>
              <a:ext cx="5154930" cy="457868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GB" b="1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Modules</a:t>
              </a:r>
            </a:p>
            <a:p>
              <a:pPr marL="285750" indent="-285750" algn="l">
                <a:lnSpc>
                  <a:spcPct val="150000"/>
                </a:lnSpc>
                <a:buFont typeface="Wingdings" panose="05000000000000000000" pitchFamily="2" charset="2"/>
                <a:buChar char="q"/>
              </a:pPr>
              <a:r>
                <a:rPr lang="en-GB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Full Analysis Pipeline</a:t>
              </a:r>
            </a:p>
            <a:p>
              <a:pPr marL="285750" indent="-182880" algn="l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sz="1600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From QC → normalization → DE → functional → longitudinal (if relevant).</a:t>
              </a:r>
              <a:br>
                <a:rPr lang="en-GB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</a:br>
              <a:r>
                <a:rPr lang="en-GB" sz="1200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Run through all steps on a provided dataset (or participants’ data).</a:t>
              </a:r>
            </a:p>
            <a:p>
              <a:pPr marL="285750" indent="-285750" algn="l">
                <a:lnSpc>
                  <a:spcPct val="150000"/>
                </a:lnSpc>
                <a:buFont typeface="Wingdings" panose="05000000000000000000" pitchFamily="2" charset="2"/>
                <a:buChar char="q"/>
              </a:pPr>
              <a:r>
                <a:rPr lang="en-GB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Group Discussion &amp; Interpretation</a:t>
              </a:r>
            </a:p>
            <a:p>
              <a:pPr marL="285750" indent="-182880" algn="l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sz="1600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Interpret results, compare across participants, discuss limitations, challenges, possible variations.</a:t>
              </a:r>
            </a:p>
            <a:p>
              <a:pPr marL="285750" indent="-285750" algn="l">
                <a:lnSpc>
                  <a:spcPct val="150000"/>
                </a:lnSpc>
                <a:buFont typeface="Wingdings" panose="05000000000000000000" pitchFamily="2" charset="2"/>
                <a:buChar char="q"/>
              </a:pPr>
              <a:r>
                <a:rPr lang="en-GB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Presentation &amp; Reporting</a:t>
              </a:r>
            </a:p>
            <a:p>
              <a:pPr marL="285750" indent="-182880" algn="l">
                <a:lnSpc>
                  <a:spcPct val="150000"/>
                </a:lnSpc>
                <a:buFont typeface="Arial" panose="020B0604020202020204" pitchFamily="34" charset="0"/>
                <a:buChar char="•"/>
              </a:pPr>
              <a:r>
                <a:rPr lang="en-GB" sz="1600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Generate basic report/graphics (ggplot2), integrate into R Markdown / html / PDF.</a:t>
              </a:r>
              <a:br>
                <a:rPr lang="en-GB" sz="1600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</a:br>
              <a:r>
                <a:rPr lang="en-GB" sz="1600" b="0" i="0" dirty="0">
                  <a:solidFill>
                    <a:srgbClr val="212529"/>
                  </a:solidFill>
                  <a:effectLst/>
                  <a:latin typeface="Fira Sans" panose="020B0503050000020004" pitchFamily="34" charset="0"/>
                </a:rPr>
                <a:t>Provide guidance for next steps.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5182F423-B178-6D5E-07FE-6572830A50C3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46506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b="1" u="sng" dirty="0">
                  <a:latin typeface="Fira Sans" panose="020B0503050000020004" pitchFamily="34" charset="0"/>
                  <a:hlinkClick r:id="rId2" action="ppaction://hlinkfile"/>
                </a:rPr>
                <a:t>Application on Real Data</a:t>
              </a:r>
              <a:endParaRPr lang="en-US" sz="4400" b="0" i="0" dirty="0">
                <a:solidFill>
                  <a:srgbClr val="1A292C"/>
                </a:solidFill>
                <a:effectLst/>
                <a:latin typeface="Fira Sans" panose="020B0503050000020004" pitchFamily="3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5B53B61-64C3-6CF1-C7B7-04EA0D82DD1D}"/>
              </a:ext>
            </a:extLst>
          </p:cNvPr>
          <p:cNvGrpSpPr/>
          <p:nvPr/>
        </p:nvGrpSpPr>
        <p:grpSpPr>
          <a:xfrm>
            <a:off x="6169152" y="270357"/>
            <a:ext cx="5946648" cy="2808924"/>
            <a:chOff x="624078" y="270357"/>
            <a:chExt cx="5869258" cy="2808924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BA4D673-2AFB-8626-2E84-D6A4F1C1E624}"/>
                </a:ext>
              </a:extLst>
            </p:cNvPr>
            <p:cNvSpPr txBox="1"/>
            <p:nvPr/>
          </p:nvSpPr>
          <p:spPr>
            <a:xfrm>
              <a:off x="624078" y="1369582"/>
              <a:ext cx="5869258" cy="17096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Today you learned:</a:t>
              </a:r>
            </a:p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latin typeface="Fira Sans" panose="020B0503050000020004" pitchFamily="34" charset="0"/>
                </a:rPr>
                <a:t>Apply full workflow to real or internal dataset</a:t>
              </a:r>
            </a:p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latin typeface="Fira Sans" panose="020B0503050000020004" pitchFamily="34" charset="0"/>
                </a:rPr>
                <a:t>Interpret results in biological context</a:t>
              </a:r>
            </a:p>
            <a:p>
              <a:pPr>
                <a:lnSpc>
                  <a:spcPct val="150000"/>
                </a:lnSpc>
              </a:pPr>
              <a:r>
                <a:rPr lang="en-GB" dirty="0">
                  <a:latin typeface="Fira Sans" panose="020B0503050000020004" pitchFamily="34" charset="0"/>
                </a:rPr>
                <a:t>✓ </a:t>
              </a:r>
              <a:r>
                <a:rPr lang="en-US" dirty="0">
                  <a:latin typeface="Fira Sans" panose="020B0503050000020004" pitchFamily="34" charset="0"/>
                </a:rPr>
                <a:t>Troubleshoot and discuss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0FB6393-4146-87E5-C61E-159BF2FED89A}"/>
                </a:ext>
              </a:extLst>
            </p:cNvPr>
            <p:cNvSpPr txBox="1"/>
            <p:nvPr/>
          </p:nvSpPr>
          <p:spPr>
            <a:xfrm>
              <a:off x="624078" y="270357"/>
              <a:ext cx="5154930" cy="6722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l">
                <a:lnSpc>
                  <a:spcPct val="150000"/>
                </a:lnSpc>
                <a:buNone/>
              </a:pP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B0503050000020004" pitchFamily="34" charset="0"/>
                </a:rPr>
                <a:t>Day </a:t>
              </a:r>
              <a:r>
                <a:rPr lang="en-US" sz="2800" dirty="0">
                  <a:solidFill>
                    <a:srgbClr val="1A292C"/>
                  </a:solidFill>
                  <a:latin typeface="Fira Sans" panose="020B0503050000020004" pitchFamily="34" charset="0"/>
                </a:rPr>
                <a:t>5</a:t>
              </a:r>
              <a:r>
                <a:rPr lang="en-US" sz="2800" b="0" i="0" dirty="0">
                  <a:solidFill>
                    <a:srgbClr val="1A292C"/>
                  </a:solidFill>
                  <a:effectLst/>
                  <a:latin typeface="Fira Sans" panose="020B0503050000020004" pitchFamily="34" charset="0"/>
                </a:rPr>
                <a:t> Summary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7768607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1802</Words>
  <Application>Microsoft Office PowerPoint</Application>
  <PresentationFormat>Widescreen</PresentationFormat>
  <Paragraphs>224</Paragraphs>
  <Slides>20</Slides>
  <Notes>0</Notes>
  <HiddenSlides>9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20</vt:i4>
      </vt:variant>
    </vt:vector>
  </HeadingPairs>
  <TitlesOfParts>
    <vt:vector size="28" baseType="lpstr">
      <vt:lpstr>Aptos</vt:lpstr>
      <vt:lpstr>Aptos Display</vt:lpstr>
      <vt:lpstr>Arial</vt:lpstr>
      <vt:lpstr>Fira Sans</vt:lpstr>
      <vt:lpstr>Google Sans</vt:lpstr>
      <vt:lpstr>Wingdings</vt:lpstr>
      <vt:lpstr>Custom Design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Dany MUKESHA</dc:creator>
  <cp:lastModifiedBy>Kabandana Dany Mukesha</cp:lastModifiedBy>
  <cp:revision>64</cp:revision>
  <dcterms:created xsi:type="dcterms:W3CDTF">2025-10-20T08:43:40Z</dcterms:created>
  <dcterms:modified xsi:type="dcterms:W3CDTF">2025-11-26T07:28:05Z</dcterms:modified>
</cp:coreProperties>
</file>