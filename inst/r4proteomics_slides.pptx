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5" r:id="rId2"/>
  </p:sldMasterIdLst>
  <p:handoutMasterIdLst>
    <p:handoutMasterId r:id="rId23"/>
  </p:handoutMasterIdLst>
  <p:sldIdLst>
    <p:sldId id="256" r:id="rId3"/>
    <p:sldId id="269" r:id="rId4"/>
    <p:sldId id="270" r:id="rId5"/>
    <p:sldId id="27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57" r:id="rId15"/>
    <p:sldId id="280" r:id="rId16"/>
    <p:sldId id="281" r:id="rId17"/>
    <p:sldId id="262" r:id="rId18"/>
    <p:sldId id="258" r:id="rId19"/>
    <p:sldId id="263" r:id="rId20"/>
    <p:sldId id="264" r:id="rId21"/>
    <p:sldId id="26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y 0" id="{1D16D1DA-ACAD-4E10-B283-AADBC3F5CDBD}">
          <p14:sldIdLst>
            <p14:sldId id="256"/>
          </p14:sldIdLst>
        </p14:section>
        <p14:section name="Introduction to Proteomics" id="{009DB6D5-D618-4EE1-9400-4D6CB9DB5524}">
          <p14:sldIdLst>
            <p14:sldId id="269"/>
            <p14:sldId id="270"/>
            <p14:sldId id="279"/>
            <p14:sldId id="278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hy R for Proteomics?" id="{BE54181E-1A31-4CBB-9345-522D443F5CD2}">
          <p14:sldIdLst>
            <p14:sldId id="257"/>
            <p14:sldId id="280"/>
            <p14:sldId id="281"/>
          </p14:sldIdLst>
        </p14:section>
        <p14:section name="Day 1" id="{DDFC6817-248C-4506-BF7B-72F113843825}">
          <p14:sldIdLst>
            <p14:sldId id="262"/>
          </p14:sldIdLst>
        </p14:section>
        <p14:section name="Day 2" id="{242C94B5-5723-4560-AC01-F8C2AEC294E4}">
          <p14:sldIdLst>
            <p14:sldId id="258"/>
          </p14:sldIdLst>
        </p14:section>
        <p14:section name="Day 3" id="{DBDF1725-7FEC-4A1C-9869-445A2D466A1E}">
          <p14:sldIdLst>
            <p14:sldId id="263"/>
          </p14:sldIdLst>
        </p14:section>
        <p14:section name="Day 4" id="{FCD4091A-B4AF-4ABB-B2D5-ACF1733E43E6}">
          <p14:sldIdLst>
            <p14:sldId id="264"/>
          </p14:sldIdLst>
        </p14:section>
        <p14:section name="Day 5" id="{0AEBB606-CEA4-4116-A7BE-9F75C924F27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CCFF66"/>
    <a:srgbClr val="6666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6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112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0C9003-8DC8-4681-8013-2E17C0F4D07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F6A2854-6E66-4C4A-8EC7-2C1133BE5977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Genomics</a:t>
          </a:r>
          <a:endParaRPr lang="en-GB" dirty="0">
            <a:latin typeface="Fira Sans" panose="020B0503050000020004" pitchFamily="34" charset="0"/>
          </a:endParaRPr>
        </a:p>
      </dgm:t>
    </dgm:pt>
    <dgm:pt modelId="{320780D8-1E72-4DF3-A83C-F61D33355BFF}" type="par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A1C74D9-0D42-45A9-A41A-D1CA32E01369}" type="sib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F75F3B35-2872-470C-BFE2-BDEBD79CEA6C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DNA Tells what is possible</a:t>
          </a:r>
          <a:endParaRPr lang="en-GB" dirty="0">
            <a:latin typeface="Fira Sans" panose="020B0503050000020004" pitchFamily="34" charset="0"/>
          </a:endParaRPr>
        </a:p>
      </dgm:t>
    </dgm:pt>
    <dgm:pt modelId="{AC8C69B5-B7A3-47F3-A086-8AB91389A4D7}" type="par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B7463E8-3AAB-46F8-99A6-F9DEC4E731EB}" type="sib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11C83499-1F80-49D3-9D27-88787508EA5F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Transcriptomics</a:t>
          </a:r>
          <a:endParaRPr lang="en-GB" dirty="0">
            <a:latin typeface="Fira Sans" panose="020B0503050000020004" pitchFamily="34" charset="0"/>
          </a:endParaRPr>
        </a:p>
      </dgm:t>
    </dgm:pt>
    <dgm:pt modelId="{245B8944-A5AF-4F05-A6C6-2A4EFF95D612}" type="par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EFC835B-08D7-4BE1-BCDB-E685DE809400}" type="sib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9B061B92-BE56-40EB-980E-CD17CDAE9F53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RNA  what is probable</a:t>
          </a:r>
          <a:endParaRPr lang="en-GB" dirty="0">
            <a:latin typeface="Fira Sans" panose="020B0503050000020004" pitchFamily="34" charset="0"/>
          </a:endParaRPr>
        </a:p>
      </dgm:t>
    </dgm:pt>
    <dgm:pt modelId="{44859338-67F5-4872-85FD-A4FF6035A095}" type="par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BA4C8ECF-A61E-49A4-8312-46B124B7B9F9}" type="sib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9598EE5-A6F2-4162-8E7E-70198C2525A0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Proteomics</a:t>
          </a:r>
          <a:endParaRPr lang="en-GB" dirty="0">
            <a:latin typeface="Fira Sans" panose="020B0503050000020004" pitchFamily="34" charset="0"/>
          </a:endParaRPr>
        </a:p>
      </dgm:t>
    </dgm:pt>
    <dgm:pt modelId="{53CE22DE-98ED-478B-BBC7-209165DC196B}" type="par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72A63480-31DE-4FA6-8C6D-7B5C5A7D955F}" type="sib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695EEA04-DF00-45BF-A788-AE540DAB38B8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Proteins what actually happens</a:t>
          </a:r>
          <a:endParaRPr lang="en-GB" dirty="0">
            <a:latin typeface="Fira Sans" panose="020B0503050000020004" pitchFamily="34" charset="0"/>
          </a:endParaRPr>
        </a:p>
      </dgm:t>
    </dgm:pt>
    <dgm:pt modelId="{591D114B-C981-45B6-9B80-E6FEC23D2191}" type="par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4B0C0EB-AC1B-4195-82C7-6302C7525DDD}" type="sib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042FB214-D9E4-45A8-81A8-9F1D921F1D90}" type="pres">
      <dgm:prSet presAssocID="{680C9003-8DC8-4681-8013-2E17C0F4D073}" presName="linearFlow" presStyleCnt="0">
        <dgm:presLayoutVars>
          <dgm:dir/>
          <dgm:animLvl val="lvl"/>
          <dgm:resizeHandles val="exact"/>
        </dgm:presLayoutVars>
      </dgm:prSet>
      <dgm:spPr/>
    </dgm:pt>
    <dgm:pt modelId="{3758F734-819A-4914-AB3C-A15C3A5DC22A}" type="pres">
      <dgm:prSet presAssocID="{BF6A2854-6E66-4C4A-8EC7-2C1133BE5977}" presName="composite" presStyleCnt="0"/>
      <dgm:spPr/>
    </dgm:pt>
    <dgm:pt modelId="{4EDD6120-3400-4DD2-AC20-C7B3280247FE}" type="pres">
      <dgm:prSet presAssocID="{BF6A2854-6E66-4C4A-8EC7-2C1133BE5977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9A92D7F-2EC2-4868-A6DD-E8F6D118245B}" type="pres">
      <dgm:prSet presAssocID="{BF6A2854-6E66-4C4A-8EC7-2C1133BE5977}" presName="parSh" presStyleLbl="node1" presStyleIdx="0" presStyleCnt="3"/>
      <dgm:spPr/>
    </dgm:pt>
    <dgm:pt modelId="{6C3F27B8-E7BF-402A-89CF-43870D0760BA}" type="pres">
      <dgm:prSet presAssocID="{BF6A2854-6E66-4C4A-8EC7-2C1133BE5977}" presName="desTx" presStyleLbl="fgAcc1" presStyleIdx="0" presStyleCnt="3">
        <dgm:presLayoutVars>
          <dgm:bulletEnabled val="1"/>
        </dgm:presLayoutVars>
      </dgm:prSet>
      <dgm:spPr/>
    </dgm:pt>
    <dgm:pt modelId="{30D05494-0256-4685-B2E3-3972B43097D8}" type="pres">
      <dgm:prSet presAssocID="{DA1C74D9-0D42-45A9-A41A-D1CA32E01369}" presName="sibTrans" presStyleLbl="sibTrans2D1" presStyleIdx="0" presStyleCnt="2"/>
      <dgm:spPr/>
    </dgm:pt>
    <dgm:pt modelId="{9FADBCE9-B95E-4A1C-9331-16295022841F}" type="pres">
      <dgm:prSet presAssocID="{DA1C74D9-0D42-45A9-A41A-D1CA32E01369}" presName="connTx" presStyleLbl="sibTrans2D1" presStyleIdx="0" presStyleCnt="2"/>
      <dgm:spPr/>
    </dgm:pt>
    <dgm:pt modelId="{C930CB3D-3031-47E0-ADB9-71CA98CF6C31}" type="pres">
      <dgm:prSet presAssocID="{11C83499-1F80-49D3-9D27-88787508EA5F}" presName="composite" presStyleCnt="0"/>
      <dgm:spPr/>
    </dgm:pt>
    <dgm:pt modelId="{FD76CD0A-AB84-46CF-A02C-FAB241FB2DE1}" type="pres">
      <dgm:prSet presAssocID="{11C83499-1F80-49D3-9D27-88787508EA5F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9F5C4C2E-8FF3-4406-91AB-EAB07D1B1979}" type="pres">
      <dgm:prSet presAssocID="{11C83499-1F80-49D3-9D27-88787508EA5F}" presName="parSh" presStyleLbl="node1" presStyleIdx="1" presStyleCnt="3"/>
      <dgm:spPr/>
    </dgm:pt>
    <dgm:pt modelId="{85EDB52D-D114-40A6-8C94-B784F6E73FBF}" type="pres">
      <dgm:prSet presAssocID="{11C83499-1F80-49D3-9D27-88787508EA5F}" presName="desTx" presStyleLbl="fgAcc1" presStyleIdx="1" presStyleCnt="3">
        <dgm:presLayoutVars>
          <dgm:bulletEnabled val="1"/>
        </dgm:presLayoutVars>
      </dgm:prSet>
      <dgm:spPr/>
    </dgm:pt>
    <dgm:pt modelId="{C92655EA-F9BC-4810-8D5B-A5321AABFFF8}" type="pres">
      <dgm:prSet presAssocID="{4EFC835B-08D7-4BE1-BCDB-E685DE809400}" presName="sibTrans" presStyleLbl="sibTrans2D1" presStyleIdx="1" presStyleCnt="2"/>
      <dgm:spPr/>
    </dgm:pt>
    <dgm:pt modelId="{1E1F9C64-4C15-43B5-9C79-FF25C4AFF313}" type="pres">
      <dgm:prSet presAssocID="{4EFC835B-08D7-4BE1-BCDB-E685DE809400}" presName="connTx" presStyleLbl="sibTrans2D1" presStyleIdx="1" presStyleCnt="2"/>
      <dgm:spPr/>
    </dgm:pt>
    <dgm:pt modelId="{13BC6669-CDFF-4307-A0CD-D6A9D549A70E}" type="pres">
      <dgm:prSet presAssocID="{D9598EE5-A6F2-4162-8E7E-70198C2525A0}" presName="composite" presStyleCnt="0"/>
      <dgm:spPr/>
    </dgm:pt>
    <dgm:pt modelId="{7531D712-08E1-4CFD-9F99-5FC357CBF74E}" type="pres">
      <dgm:prSet presAssocID="{D9598EE5-A6F2-4162-8E7E-70198C2525A0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FF29BB00-53D8-4B85-AC11-2EAAAA084783}" type="pres">
      <dgm:prSet presAssocID="{D9598EE5-A6F2-4162-8E7E-70198C2525A0}" presName="parSh" presStyleLbl="node1" presStyleIdx="2" presStyleCnt="3"/>
      <dgm:spPr/>
    </dgm:pt>
    <dgm:pt modelId="{A3451F05-A3FE-4804-B721-F2F914896671}" type="pres">
      <dgm:prSet presAssocID="{D9598EE5-A6F2-4162-8E7E-70198C2525A0}" presName="desTx" presStyleLbl="fgAcc1" presStyleIdx="2" presStyleCnt="3">
        <dgm:presLayoutVars>
          <dgm:bulletEnabled val="1"/>
        </dgm:presLayoutVars>
      </dgm:prSet>
      <dgm:spPr/>
    </dgm:pt>
  </dgm:ptLst>
  <dgm:cxnLst>
    <dgm:cxn modelId="{AF3E6800-9189-4633-BBD9-8E4423A351A9}" type="presOf" srcId="{DA1C74D9-0D42-45A9-A41A-D1CA32E01369}" destId="{9FADBCE9-B95E-4A1C-9331-16295022841F}" srcOrd="1" destOrd="0" presId="urn:microsoft.com/office/officeart/2005/8/layout/process3"/>
    <dgm:cxn modelId="{D5DE4B00-770E-4CC0-A822-C8AB34FD303D}" type="presOf" srcId="{680C9003-8DC8-4681-8013-2E17C0F4D073}" destId="{042FB214-D9E4-45A8-81A8-9F1D921F1D90}" srcOrd="0" destOrd="0" presId="urn:microsoft.com/office/officeart/2005/8/layout/process3"/>
    <dgm:cxn modelId="{A0985902-79FC-4BE7-BF1E-1664CEBF2C2F}" type="presOf" srcId="{4EFC835B-08D7-4BE1-BCDB-E685DE809400}" destId="{1E1F9C64-4C15-43B5-9C79-FF25C4AFF313}" srcOrd="1" destOrd="0" presId="urn:microsoft.com/office/officeart/2005/8/layout/process3"/>
    <dgm:cxn modelId="{7964840B-C644-45D5-A0F6-35F7B997BEA8}" type="presOf" srcId="{11C83499-1F80-49D3-9D27-88787508EA5F}" destId="{FD76CD0A-AB84-46CF-A02C-FAB241FB2DE1}" srcOrd="0" destOrd="0" presId="urn:microsoft.com/office/officeart/2005/8/layout/process3"/>
    <dgm:cxn modelId="{6CADFA0F-7119-4159-9BA8-C46A0CCC6419}" type="presOf" srcId="{F75F3B35-2872-470C-BFE2-BDEBD79CEA6C}" destId="{6C3F27B8-E7BF-402A-89CF-43870D0760BA}" srcOrd="0" destOrd="0" presId="urn:microsoft.com/office/officeart/2005/8/layout/process3"/>
    <dgm:cxn modelId="{57456E1B-FA47-47D4-85E9-E1329710B74C}" type="presOf" srcId="{D9598EE5-A6F2-4162-8E7E-70198C2525A0}" destId="{FF29BB00-53D8-4B85-AC11-2EAAAA084783}" srcOrd="1" destOrd="0" presId="urn:microsoft.com/office/officeart/2005/8/layout/process3"/>
    <dgm:cxn modelId="{0254FC2D-FB19-451F-9829-C292634BBA69}" type="presOf" srcId="{695EEA04-DF00-45BF-A788-AE540DAB38B8}" destId="{A3451F05-A3FE-4804-B721-F2F914896671}" srcOrd="0" destOrd="0" presId="urn:microsoft.com/office/officeart/2005/8/layout/process3"/>
    <dgm:cxn modelId="{13F4FB3C-DE71-4479-942A-3154FD755682}" type="presOf" srcId="{DA1C74D9-0D42-45A9-A41A-D1CA32E01369}" destId="{30D05494-0256-4685-B2E3-3972B43097D8}" srcOrd="0" destOrd="0" presId="urn:microsoft.com/office/officeart/2005/8/layout/process3"/>
    <dgm:cxn modelId="{6E848F5C-4253-448C-8D93-BFA9C46D3604}" srcId="{BF6A2854-6E66-4C4A-8EC7-2C1133BE5977}" destId="{F75F3B35-2872-470C-BFE2-BDEBD79CEA6C}" srcOrd="0" destOrd="0" parTransId="{AC8C69B5-B7A3-47F3-A086-8AB91389A4D7}" sibTransId="{4B7463E8-3AAB-46F8-99A6-F9DEC4E731EB}"/>
    <dgm:cxn modelId="{E7506C41-9270-4DE6-B9F1-946D27D431A5}" type="presOf" srcId="{4EFC835B-08D7-4BE1-BCDB-E685DE809400}" destId="{C92655EA-F9BC-4810-8D5B-A5321AABFFF8}" srcOrd="0" destOrd="0" presId="urn:microsoft.com/office/officeart/2005/8/layout/process3"/>
    <dgm:cxn modelId="{FC2A3D42-9A59-4304-B8B3-E1348B6DF18D}" type="presOf" srcId="{11C83499-1F80-49D3-9D27-88787508EA5F}" destId="{9F5C4C2E-8FF3-4406-91AB-EAB07D1B1979}" srcOrd="1" destOrd="0" presId="urn:microsoft.com/office/officeart/2005/8/layout/process3"/>
    <dgm:cxn modelId="{8CF8A07D-9083-4887-A0D1-AFCD61189C38}" type="presOf" srcId="{D9598EE5-A6F2-4162-8E7E-70198C2525A0}" destId="{7531D712-08E1-4CFD-9F99-5FC357CBF74E}" srcOrd="0" destOrd="0" presId="urn:microsoft.com/office/officeart/2005/8/layout/process3"/>
    <dgm:cxn modelId="{98EAF589-96EB-46BC-82CC-EC97746F500E}" type="presOf" srcId="{BF6A2854-6E66-4C4A-8EC7-2C1133BE5977}" destId="{4EDD6120-3400-4DD2-AC20-C7B3280247FE}" srcOrd="0" destOrd="0" presId="urn:microsoft.com/office/officeart/2005/8/layout/process3"/>
    <dgm:cxn modelId="{32F17495-72AF-42C8-BE5A-B27E0A45CD57}" srcId="{680C9003-8DC8-4681-8013-2E17C0F4D073}" destId="{D9598EE5-A6F2-4162-8E7E-70198C2525A0}" srcOrd="2" destOrd="0" parTransId="{53CE22DE-98ED-478B-BBC7-209165DC196B}" sibTransId="{72A63480-31DE-4FA6-8C6D-7B5C5A7D955F}"/>
    <dgm:cxn modelId="{4DA3DBA9-5AD6-4734-A5E2-25A2407B28E9}" srcId="{680C9003-8DC8-4681-8013-2E17C0F4D073}" destId="{BF6A2854-6E66-4C4A-8EC7-2C1133BE5977}" srcOrd="0" destOrd="0" parTransId="{320780D8-1E72-4DF3-A83C-F61D33355BFF}" sibTransId="{DA1C74D9-0D42-45A9-A41A-D1CA32E01369}"/>
    <dgm:cxn modelId="{9F7C12D3-9EE2-48B9-BE81-B2DF6CAF7EC4}" srcId="{D9598EE5-A6F2-4162-8E7E-70198C2525A0}" destId="{695EEA04-DF00-45BF-A788-AE540DAB38B8}" srcOrd="0" destOrd="0" parTransId="{591D114B-C981-45B6-9B80-E6FEC23D2191}" sibTransId="{44B0C0EB-AC1B-4195-82C7-6302C7525DDD}"/>
    <dgm:cxn modelId="{A98D97D7-2223-4594-B649-252F74C5F2B0}" type="presOf" srcId="{BF6A2854-6E66-4C4A-8EC7-2C1133BE5977}" destId="{89A92D7F-2EC2-4868-A6DD-E8F6D118245B}" srcOrd="1" destOrd="0" presId="urn:microsoft.com/office/officeart/2005/8/layout/process3"/>
    <dgm:cxn modelId="{1C2F42E8-D3FA-43FC-B228-D212004C5DBB}" type="presOf" srcId="{9B061B92-BE56-40EB-980E-CD17CDAE9F53}" destId="{85EDB52D-D114-40A6-8C94-B784F6E73FBF}" srcOrd="0" destOrd="0" presId="urn:microsoft.com/office/officeart/2005/8/layout/process3"/>
    <dgm:cxn modelId="{0693DBF2-7AE0-460B-A528-FFE37743762A}" srcId="{11C83499-1F80-49D3-9D27-88787508EA5F}" destId="{9B061B92-BE56-40EB-980E-CD17CDAE9F53}" srcOrd="0" destOrd="0" parTransId="{44859338-67F5-4872-85FD-A4FF6035A095}" sibTransId="{BA4C8ECF-A61E-49A4-8312-46B124B7B9F9}"/>
    <dgm:cxn modelId="{368A05F9-ADD3-4FF0-9F28-20D50D027450}" srcId="{680C9003-8DC8-4681-8013-2E17C0F4D073}" destId="{11C83499-1F80-49D3-9D27-88787508EA5F}" srcOrd="1" destOrd="0" parTransId="{245B8944-A5AF-4F05-A6C6-2A4EFF95D612}" sibTransId="{4EFC835B-08D7-4BE1-BCDB-E685DE809400}"/>
    <dgm:cxn modelId="{6621C857-7721-421A-A651-D4AFA25ADDEE}" type="presParOf" srcId="{042FB214-D9E4-45A8-81A8-9F1D921F1D90}" destId="{3758F734-819A-4914-AB3C-A15C3A5DC22A}" srcOrd="0" destOrd="0" presId="urn:microsoft.com/office/officeart/2005/8/layout/process3"/>
    <dgm:cxn modelId="{019217B4-F22E-4528-9A92-E039D20E19A1}" type="presParOf" srcId="{3758F734-819A-4914-AB3C-A15C3A5DC22A}" destId="{4EDD6120-3400-4DD2-AC20-C7B3280247FE}" srcOrd="0" destOrd="0" presId="urn:microsoft.com/office/officeart/2005/8/layout/process3"/>
    <dgm:cxn modelId="{5A67833A-EE1F-4E66-A8CD-557F16117EBC}" type="presParOf" srcId="{3758F734-819A-4914-AB3C-A15C3A5DC22A}" destId="{89A92D7F-2EC2-4868-A6DD-E8F6D118245B}" srcOrd="1" destOrd="0" presId="urn:microsoft.com/office/officeart/2005/8/layout/process3"/>
    <dgm:cxn modelId="{D1317015-215F-43FB-AB0B-DA84E109ABB0}" type="presParOf" srcId="{3758F734-819A-4914-AB3C-A15C3A5DC22A}" destId="{6C3F27B8-E7BF-402A-89CF-43870D0760BA}" srcOrd="2" destOrd="0" presId="urn:microsoft.com/office/officeart/2005/8/layout/process3"/>
    <dgm:cxn modelId="{00A17745-1C52-4775-9515-63B989FA7718}" type="presParOf" srcId="{042FB214-D9E4-45A8-81A8-9F1D921F1D90}" destId="{30D05494-0256-4685-B2E3-3972B43097D8}" srcOrd="1" destOrd="0" presId="urn:microsoft.com/office/officeart/2005/8/layout/process3"/>
    <dgm:cxn modelId="{4411A21A-E50D-49BE-88D2-D704FCFD60FD}" type="presParOf" srcId="{30D05494-0256-4685-B2E3-3972B43097D8}" destId="{9FADBCE9-B95E-4A1C-9331-16295022841F}" srcOrd="0" destOrd="0" presId="urn:microsoft.com/office/officeart/2005/8/layout/process3"/>
    <dgm:cxn modelId="{77F1A0E2-DDA4-427A-984B-B4DBB227A389}" type="presParOf" srcId="{042FB214-D9E4-45A8-81A8-9F1D921F1D90}" destId="{C930CB3D-3031-47E0-ADB9-71CA98CF6C31}" srcOrd="2" destOrd="0" presId="urn:microsoft.com/office/officeart/2005/8/layout/process3"/>
    <dgm:cxn modelId="{92C34156-2504-4CDF-94B7-722BDC507A73}" type="presParOf" srcId="{C930CB3D-3031-47E0-ADB9-71CA98CF6C31}" destId="{FD76CD0A-AB84-46CF-A02C-FAB241FB2DE1}" srcOrd="0" destOrd="0" presId="urn:microsoft.com/office/officeart/2005/8/layout/process3"/>
    <dgm:cxn modelId="{0D69E788-5D31-4440-983D-BE328D88998E}" type="presParOf" srcId="{C930CB3D-3031-47E0-ADB9-71CA98CF6C31}" destId="{9F5C4C2E-8FF3-4406-91AB-EAB07D1B1979}" srcOrd="1" destOrd="0" presId="urn:microsoft.com/office/officeart/2005/8/layout/process3"/>
    <dgm:cxn modelId="{DCAE2106-145A-4B4B-AD9C-7F3A55F2BCC5}" type="presParOf" srcId="{C930CB3D-3031-47E0-ADB9-71CA98CF6C31}" destId="{85EDB52D-D114-40A6-8C94-B784F6E73FBF}" srcOrd="2" destOrd="0" presId="urn:microsoft.com/office/officeart/2005/8/layout/process3"/>
    <dgm:cxn modelId="{FA830340-D05C-494C-BCE2-F6EEF1C3E787}" type="presParOf" srcId="{042FB214-D9E4-45A8-81A8-9F1D921F1D90}" destId="{C92655EA-F9BC-4810-8D5B-A5321AABFFF8}" srcOrd="3" destOrd="0" presId="urn:microsoft.com/office/officeart/2005/8/layout/process3"/>
    <dgm:cxn modelId="{09AD054B-E29F-4C82-9E64-070DE6C7895C}" type="presParOf" srcId="{C92655EA-F9BC-4810-8D5B-A5321AABFFF8}" destId="{1E1F9C64-4C15-43B5-9C79-FF25C4AFF313}" srcOrd="0" destOrd="0" presId="urn:microsoft.com/office/officeart/2005/8/layout/process3"/>
    <dgm:cxn modelId="{42DDBA8F-111E-4352-B36C-AD532A82F7F8}" type="presParOf" srcId="{042FB214-D9E4-45A8-81A8-9F1D921F1D90}" destId="{13BC6669-CDFF-4307-A0CD-D6A9D549A70E}" srcOrd="4" destOrd="0" presId="urn:microsoft.com/office/officeart/2005/8/layout/process3"/>
    <dgm:cxn modelId="{E2131123-BA59-4115-AB6E-B42C6E021832}" type="presParOf" srcId="{13BC6669-CDFF-4307-A0CD-D6A9D549A70E}" destId="{7531D712-08E1-4CFD-9F99-5FC357CBF74E}" srcOrd="0" destOrd="0" presId="urn:microsoft.com/office/officeart/2005/8/layout/process3"/>
    <dgm:cxn modelId="{1D6DAB3A-1159-4BFE-B81A-56235469EF45}" type="presParOf" srcId="{13BC6669-CDFF-4307-A0CD-D6A9D549A70E}" destId="{FF29BB00-53D8-4B85-AC11-2EAAAA084783}" srcOrd="1" destOrd="0" presId="urn:microsoft.com/office/officeart/2005/8/layout/process3"/>
    <dgm:cxn modelId="{42A7ABA6-ACAD-45B8-879F-4001B7B89B37}" type="presParOf" srcId="{13BC6669-CDFF-4307-A0CD-D6A9D549A70E}" destId="{A3451F05-A3FE-4804-B721-F2F914896671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A92D7F-2EC2-4868-A6DD-E8F6D118245B}">
      <dsp:nvSpPr>
        <dsp:cNvPr id="0" name=""/>
        <dsp:cNvSpPr/>
      </dsp:nvSpPr>
      <dsp:spPr>
        <a:xfrm>
          <a:off x="4707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Genomics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07" y="1513728"/>
        <a:ext cx="2140222" cy="576000"/>
      </dsp:txXfrm>
    </dsp:sp>
    <dsp:sp modelId="{6C3F27B8-E7BF-402A-89CF-43870D0760BA}">
      <dsp:nvSpPr>
        <dsp:cNvPr id="0" name=""/>
        <dsp:cNvSpPr/>
      </dsp:nvSpPr>
      <dsp:spPr>
        <a:xfrm>
          <a:off x="443065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DNA Tells what is possible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7860" y="2124523"/>
        <a:ext cx="2070632" cy="1118410"/>
      </dsp:txXfrm>
    </dsp:sp>
    <dsp:sp modelId="{30D05494-0256-4685-B2E3-3972B43097D8}">
      <dsp:nvSpPr>
        <dsp:cNvPr id="0" name=""/>
        <dsp:cNvSpPr/>
      </dsp:nvSpPr>
      <dsp:spPr>
        <a:xfrm>
          <a:off x="2469379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2469379" y="1641872"/>
        <a:ext cx="527977" cy="319711"/>
      </dsp:txXfrm>
    </dsp:sp>
    <dsp:sp modelId="{9F5C4C2E-8FF3-4406-91AB-EAB07D1B1979}">
      <dsp:nvSpPr>
        <dsp:cNvPr id="0" name=""/>
        <dsp:cNvSpPr/>
      </dsp:nvSpPr>
      <dsp:spPr>
        <a:xfrm>
          <a:off x="3442729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Transcriptomics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442729" y="1513728"/>
        <a:ext cx="2140222" cy="576000"/>
      </dsp:txXfrm>
    </dsp:sp>
    <dsp:sp modelId="{85EDB52D-D114-40A6-8C94-B784F6E73FBF}">
      <dsp:nvSpPr>
        <dsp:cNvPr id="0" name=""/>
        <dsp:cNvSpPr/>
      </dsp:nvSpPr>
      <dsp:spPr>
        <a:xfrm>
          <a:off x="3881088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RNA  what is probable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915883" y="2124523"/>
        <a:ext cx="2070632" cy="1118410"/>
      </dsp:txXfrm>
    </dsp:sp>
    <dsp:sp modelId="{C92655EA-F9BC-4810-8D5B-A5321AABFFF8}">
      <dsp:nvSpPr>
        <dsp:cNvPr id="0" name=""/>
        <dsp:cNvSpPr/>
      </dsp:nvSpPr>
      <dsp:spPr>
        <a:xfrm>
          <a:off x="5907401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5907401" y="1641872"/>
        <a:ext cx="527977" cy="319711"/>
      </dsp:txXfrm>
    </dsp:sp>
    <dsp:sp modelId="{FF29BB00-53D8-4B85-AC11-2EAAAA084783}">
      <dsp:nvSpPr>
        <dsp:cNvPr id="0" name=""/>
        <dsp:cNvSpPr/>
      </dsp:nvSpPr>
      <dsp:spPr>
        <a:xfrm>
          <a:off x="6880751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Proteomics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6880751" y="1513728"/>
        <a:ext cx="2140222" cy="576000"/>
      </dsp:txXfrm>
    </dsp:sp>
    <dsp:sp modelId="{A3451F05-A3FE-4804-B721-F2F914896671}">
      <dsp:nvSpPr>
        <dsp:cNvPr id="0" name=""/>
        <dsp:cNvSpPr/>
      </dsp:nvSpPr>
      <dsp:spPr>
        <a:xfrm>
          <a:off x="7319110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Proteins what actually happens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7353905" y="2124523"/>
        <a:ext cx="2070632" cy="11184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811C3A-C856-8E56-A361-5FE394F82E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E1C0B-3932-59C0-4223-D1360A9D5A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6D668-90A6-4547-97E8-9A0A42296A1B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A79FD-2E89-9494-D82D-3873DF53E6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4DBB4-BE94-3199-9671-8748230B2E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6F5ED-71F6-45E5-82DF-65EBF20CB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0616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4EFA-8755-909F-D781-9856271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C5202E-2CFC-EB67-1273-23945863F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F937A-FD08-00C3-8E65-300EE6040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CD0A0-301E-3B0B-8759-B0307CAF6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0E1CE-3AE2-9015-ABB2-F69E6A70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43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6257-5DCB-61A4-75F9-B906668C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46769-6A84-B1E6-5D04-35FC24938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42F98-B003-6D5C-BFB8-48A2260F9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5C427-565B-F449-B5A1-E0A9E8D1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8768A-AA2A-18E5-EE64-4CB427174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74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3F2E3-E103-3295-54BD-082FC4969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EEAD7-B0FA-9057-FA62-9A7B1C9AF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1DF24-2DB8-60D4-47A0-1B0EE7F2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DE035-0A93-DC31-41A5-00DFCAB2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1F62D-D748-37A7-506A-B00DF0ED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364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9491F-C18C-DE8D-B92C-305550F26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A1F15-F9F4-3DBE-B9FA-47DC566A5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6F5A2-0214-E15D-43A4-595407DCF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84CCA-BC1A-30D3-CDDD-789D37E06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1BD09-A0FD-8063-5FF3-610F7147D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27CD3-B41B-34C0-8E1A-4F77326E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28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8CC0-FE5C-9FC7-C3CA-D8D315582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B43E3-924E-DAFF-937D-50DA8D8C4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5B8C0-63BF-79EF-DE0D-7E27AD7A0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1B9FB-E529-189A-73AF-1BF545595C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79CA2F-A1FF-2774-A945-AF560083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CD5-918E-67CC-F064-39BCF79CA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2B903-4D0C-C0F5-AFC0-5D4448AB3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601465-A4B5-A1DC-FA15-F010C83CF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940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97AED-52B8-10A5-2C07-D8600CED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B7FD4-99FD-AEBE-5F01-E9E31DC5A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01B40-67F3-9CCC-52A7-7629E78C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C70C1-EDAB-4BA7-17AF-09E9FDC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133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CE18F8-9126-BBBF-A4FB-1BD98CAD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2FC4-F558-D173-1D38-F0CB66714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1FA29-9661-7EF7-2AFE-CBDA2402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68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220-0CE9-86DD-E8D6-8C117A232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324E7-EFBE-DCE2-745C-A161A5688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DD762D-7A23-0922-D2B9-3EA5CB937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66E6F-D672-6C51-112E-56C81C244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EA04C-0975-029E-F1F5-E5CA7E59A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776E9-C17C-6ECC-A4BF-0AAEDEDF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9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AA2B0-FEA6-AEBE-7443-33430C52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194663-319C-B848-593E-2FAC8612BC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C5737-17ED-E2F6-06C1-896C7ADA9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215F2-8EFC-5617-C453-F90D29B1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12E1B-D145-2BCD-B78B-745CB2F4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4796F-6AF2-46EC-679B-721883193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6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9026-65E2-8CD1-929B-3D5F2785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81676-15A1-1299-6D38-5B1BFC68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B340E-E4A6-DAFC-FA0D-64898C8E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89099-47CE-2DC6-A608-FA022143C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EAE2-20C1-11D6-D7A8-8EE65D08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47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25E57F-1C4E-D022-E7E6-A559DB6FD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32FF7-96C4-2541-0A60-FC578F078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53BAE-2CD6-0E70-210E-8ADB80780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0FABD-E5FC-0C31-696C-F20AECD39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BF063-16D4-EE36-BAD8-BA8DB827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214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91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310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474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848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4067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879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663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291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735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9998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6124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F07F-24C8-7322-A903-2FA6D9CE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C8592E-A485-718A-8F3A-9EA7497B8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C2B1DF-8020-7DCD-4F60-8E4224B42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42A22-9395-FFDC-E859-C300E9C3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85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D1C31-EC50-EB4D-EAF6-19B203B33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E7544-D756-6B37-688B-BFAA3307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C584E-D936-8FBA-FF9F-41BBCFB95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29722-6D9A-B35A-E425-2AB7F7172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50808-0D33-E467-B60E-E55445E0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38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448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lodiag-holocron.github.io/r4proteomics/" TargetMode="Externa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mgTlo_kndzQ" TargetMode="Externa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1.html" TargetMode="Externa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2.html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3.html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4.html" TargetMode="Externa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5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332D5630-14D6-1110-97A0-0B4473CFD2EB}"/>
              </a:ext>
            </a:extLst>
          </p:cNvPr>
          <p:cNvSpPr/>
          <p:nvPr/>
        </p:nvSpPr>
        <p:spPr>
          <a:xfrm>
            <a:off x="403075" y="1041061"/>
            <a:ext cx="6437746" cy="5581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0B2404C-6DD2-560B-C6BF-C49A7258BEBC}"/>
              </a:ext>
            </a:extLst>
          </p:cNvPr>
          <p:cNvCxnSpPr>
            <a:endCxn id="31" idx="0"/>
          </p:cNvCxnSpPr>
          <p:nvPr/>
        </p:nvCxnSpPr>
        <p:spPr>
          <a:xfrm>
            <a:off x="1038165" y="1530668"/>
            <a:ext cx="1" cy="403904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DCC7ED-73CF-5B87-8E7D-48D6AC68F436}"/>
              </a:ext>
            </a:extLst>
          </p:cNvPr>
          <p:cNvCxnSpPr>
            <a:stCxn id="3" idx="4"/>
            <a:endCxn id="30" idx="0"/>
          </p:cNvCxnSpPr>
          <p:nvPr/>
        </p:nvCxnSpPr>
        <p:spPr>
          <a:xfrm>
            <a:off x="-485835" y="1530670"/>
            <a:ext cx="0" cy="3989651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AFDD196-F3B6-5B82-1124-065EA7402ACC}"/>
              </a:ext>
            </a:extLst>
          </p:cNvPr>
          <p:cNvGrpSpPr/>
          <p:nvPr/>
        </p:nvGrpSpPr>
        <p:grpSpPr>
          <a:xfrm>
            <a:off x="904815" y="1233428"/>
            <a:ext cx="3124438" cy="583388"/>
            <a:chOff x="2171462" y="1271528"/>
            <a:chExt cx="3124438" cy="5833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F0BA193-91EC-8482-C54D-041E1FE32CA7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9DE1701-0F7B-A227-6670-C72EDFC7FB64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D971003-87F9-9338-3CE5-A57F964DD647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183863-4AB4-37C1-FE31-9CC40224DE67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1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E5821D-817C-47BC-5D5C-9724DD182F3C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Introduction to R and RStudio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D3C1AE5-B545-4FE1-C6BF-8DA872C3A65F}"/>
              </a:ext>
            </a:extLst>
          </p:cNvPr>
          <p:cNvGrpSpPr/>
          <p:nvPr/>
        </p:nvGrpSpPr>
        <p:grpSpPr>
          <a:xfrm>
            <a:off x="904815" y="2298863"/>
            <a:ext cx="3124438" cy="752665"/>
            <a:chOff x="2171462" y="1271528"/>
            <a:chExt cx="3124438" cy="75266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F8DB19A-1F9A-B2E3-99E8-FA3DA4076E2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D98D4C-7A6A-6F08-D59F-21C90776BF2F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6DB0F75-D479-0AE3-61C8-B1565D53CD94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B0C9955-CC95-C4D7-9ED2-FB143EBDEB3E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2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B71933-E529-9DA2-CAA3-E62CE75EEE76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Applying Statistics  and Core Data science Techniques in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27758F-AA16-9593-598B-61589C3CA0A5}"/>
              </a:ext>
            </a:extLst>
          </p:cNvPr>
          <p:cNvGrpSpPr/>
          <p:nvPr/>
        </p:nvGrpSpPr>
        <p:grpSpPr>
          <a:xfrm>
            <a:off x="904815" y="3364296"/>
            <a:ext cx="3124438" cy="752665"/>
            <a:chOff x="2171462" y="1271528"/>
            <a:chExt cx="3124438" cy="7526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AA9F51A-5755-BC81-754C-ED4218524AF8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9976B80-90AF-72D4-9183-5D49E7A94000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11AAFFD-EB1E-B596-B2C9-9C4A17C32DC1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EF5FE77-72C6-8B6A-D9B8-14D2DD353220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3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064275A-F63F-3F80-6F74-5CEC90AC07B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Quality Control, Preprocessing and Differential Expression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05D4D7B-B8B8-58DD-919C-DABA4E0E1AF0}"/>
              </a:ext>
            </a:extLst>
          </p:cNvPr>
          <p:cNvGrpSpPr/>
          <p:nvPr/>
        </p:nvGrpSpPr>
        <p:grpSpPr>
          <a:xfrm>
            <a:off x="904815" y="4429729"/>
            <a:ext cx="3124438" cy="752665"/>
            <a:chOff x="2171462" y="1271528"/>
            <a:chExt cx="3124438" cy="75266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BED34-4936-6F6C-4B7D-2E2028D1A5AE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7D0CBC1-1A30-F5EA-8BF7-CB35FA192272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BE0FAC-BA21-CB40-ABDA-1D02ADA973AB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E0423E0-7802-1A8B-DC34-B25E9465BA69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4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15258EA-40A6-7749-BE1A-233AB7AC5431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Functional Analysis, Longitudinal &amp; Public Data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0A57D1-D13B-5FC5-7489-97894F11DB97}"/>
              </a:ext>
            </a:extLst>
          </p:cNvPr>
          <p:cNvGrpSpPr/>
          <p:nvPr/>
        </p:nvGrpSpPr>
        <p:grpSpPr>
          <a:xfrm>
            <a:off x="904815" y="5495163"/>
            <a:ext cx="3124438" cy="1091219"/>
            <a:chOff x="2171462" y="1271528"/>
            <a:chExt cx="3124438" cy="109121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D7D4EB97-C476-CF68-1DD0-869586D2AEE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9910088-4F1D-EC50-9031-50DE4E46233A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EE60E8-22B7-B32C-28E9-6F32D6F78726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5D76C50-EADD-A25F-3D49-14489BA25418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5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8416BA-66D8-4178-B3F5-46041029CF8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Application on Real Data, Advanced techniques, solving problems with supervised learning + Exploring future direction of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8B5DA55-DF4E-3061-3827-C7AB22D31D59}"/>
              </a:ext>
            </a:extLst>
          </p:cNvPr>
          <p:cNvSpPr txBox="1"/>
          <p:nvPr/>
        </p:nvSpPr>
        <p:spPr>
          <a:xfrm>
            <a:off x="292238" y="692420"/>
            <a:ext cx="4738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In-person: </a:t>
            </a:r>
            <a:r>
              <a:rPr lang="en-US" i="1" dirty="0">
                <a:latin typeface="Fira Sans" panose="020B0503050000020004" pitchFamily="34" charset="0"/>
                <a:cs typeface="Arial" panose="020B0604020202020204" pitchFamily="34" charset="0"/>
              </a:rPr>
              <a:t>r4proteomics</a:t>
            </a:r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 training</a:t>
            </a:r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B3AA0A-771C-EAC7-8AC7-7B518661E70D}"/>
              </a:ext>
            </a:extLst>
          </p:cNvPr>
          <p:cNvSpPr txBox="1"/>
          <p:nvPr/>
        </p:nvSpPr>
        <p:spPr>
          <a:xfrm>
            <a:off x="292238" y="139157"/>
            <a:ext cx="785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A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5-day training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 on proteomics data analysis using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R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.</a:t>
            </a:r>
            <a:endParaRPr lang="en-GB" sz="24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0EA54D-5BA8-0C63-00E1-F88E4F3B6ABC}"/>
              </a:ext>
            </a:extLst>
          </p:cNvPr>
          <p:cNvSpPr txBox="1"/>
          <p:nvPr/>
        </p:nvSpPr>
        <p:spPr>
          <a:xfrm>
            <a:off x="7256456" y="2459752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ira Sans" panose="020B0503050000020004" pitchFamily="34" charset="0"/>
                <a:cs typeface="Arial" panose="020B0604020202020204" pitchFamily="34" charset="0"/>
              </a:rPr>
              <a:t>Supporting materials available on: 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  <a:hlinkClick r:id="rId2"/>
              </a:rPr>
              <a:t>Welcome | r4proteomics</a:t>
            </a:r>
            <a:endParaRPr lang="en-GB" sz="16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46BE8C-7F4D-1804-64A2-49AD13A8398F}"/>
              </a:ext>
            </a:extLst>
          </p:cNvPr>
          <p:cNvSpPr txBox="1"/>
          <p:nvPr/>
        </p:nvSpPr>
        <p:spPr>
          <a:xfrm>
            <a:off x="7256456" y="4597619"/>
            <a:ext cx="3469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written by: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Miguel CASANOVA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, PhD &amp;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Dany MUKESHA</a:t>
            </a:r>
          </a:p>
        </p:txBody>
      </p:sp>
    </p:spTree>
    <p:extLst>
      <p:ext uri="{BB962C8B-B14F-4D97-AF65-F5344CB8AC3E}">
        <p14:creationId xmlns:p14="http://schemas.microsoft.com/office/powerpoint/2010/main" val="348016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35DA-D8F6-7F15-8D5B-043761D1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750B68-637C-C5F2-FC29-4389140D957B}"/>
              </a:ext>
            </a:extLst>
          </p:cNvPr>
          <p:cNvGrpSpPr/>
          <p:nvPr/>
        </p:nvGrpSpPr>
        <p:grpSpPr>
          <a:xfrm>
            <a:off x="493776" y="270357"/>
            <a:ext cx="8366759" cy="5042227"/>
            <a:chOff x="624077" y="270357"/>
            <a:chExt cx="7800596" cy="504222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1A50992-8086-C255-B20E-5F8837D9DA27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9430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spcAft>
                  <a:spcPts val="600"/>
                </a:spcAft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Proteome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Definition: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entire complement of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expressed by a cell, tissue, or organism at a particular time, under specific conditions. 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Nature: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Unlike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genome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(which is relatively static), the proteome is highly dynamic, fluctuating rapidly in response to environmental stimuli, cell cycle stage, and disease state.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E06FD-1EA2-945F-48CA-0068FDEF4E49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Introduction to the Proteome and Proteomics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5210272-5E23-833B-0B85-59B8C9223EFD}"/>
              </a:ext>
            </a:extLst>
          </p:cNvPr>
          <p:cNvGrpSpPr/>
          <p:nvPr/>
        </p:nvGrpSpPr>
        <p:grpSpPr>
          <a:xfrm>
            <a:off x="6169152" y="270357"/>
            <a:ext cx="5946648" cy="4057342"/>
            <a:chOff x="624078" y="270357"/>
            <a:chExt cx="5869258" cy="40573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847023A-EED8-B1A6-4C53-C8A9DF6124E0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Proteomics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Definition: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The large-scale study of the proteome, including the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expression, structure, function, interactions,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and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modifications of proteins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.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Goal: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To provide a holistic, functional understanding of biological systems that cannot be achieved by studying DNA or RNA alone.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5AAA06-1A16-B640-709E-EA14E0072BB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endPara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36B0F0-B1AF-69D3-77EB-59D71AFA75AD}"/>
              </a:ext>
            </a:extLst>
          </p:cNvPr>
          <p:cNvSpPr txBox="1"/>
          <p:nvPr/>
        </p:nvSpPr>
        <p:spPr>
          <a:xfrm>
            <a:off x="493776" y="5739574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</p:spTree>
    <p:extLst>
      <p:ext uri="{BB962C8B-B14F-4D97-AF65-F5344CB8AC3E}">
        <p14:creationId xmlns:p14="http://schemas.microsoft.com/office/powerpoint/2010/main" val="1928302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04044-DBF9-041B-50E1-B4DA9077B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777F88-CDC2-EC0B-0458-F8B34A4DD222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C7B7A-CD7F-963A-C3E4-507D25F72B86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EF42C7BF-A724-9CFA-E87A-63682ECFBE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5781231"/>
              </p:ext>
            </p:extLst>
          </p:nvPr>
        </p:nvGraphicFramePr>
        <p:xfrm>
          <a:off x="758952" y="1289305"/>
          <a:ext cx="9464040" cy="47914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591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31D11-4662-77BC-1E54-B26B3144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8087569-FEBB-15FA-0402-00BD8259AC40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77B539-2E42-9FE4-A98E-0ADFEC6DB7E1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A8EFB0-210E-15BF-2003-FC8EAE99F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377966"/>
              </p:ext>
            </p:extLst>
          </p:nvPr>
        </p:nvGraphicFramePr>
        <p:xfrm>
          <a:off x="838200" y="1216152"/>
          <a:ext cx="10783824" cy="4498848"/>
        </p:xfrm>
        <a:graphic>
          <a:graphicData uri="http://schemas.openxmlformats.org/drawingml/2006/table">
            <a:tbl>
              <a:tblPr/>
              <a:tblGrid>
                <a:gridCol w="2462784">
                  <a:extLst>
                    <a:ext uri="{9D8B030D-6E8A-4147-A177-3AD203B41FA5}">
                      <a16:colId xmlns:a16="http://schemas.microsoft.com/office/drawing/2014/main" val="659332361"/>
                    </a:ext>
                  </a:extLst>
                </a:gridCol>
                <a:gridCol w="3483864">
                  <a:extLst>
                    <a:ext uri="{9D8B030D-6E8A-4147-A177-3AD203B41FA5}">
                      <a16:colId xmlns:a16="http://schemas.microsoft.com/office/drawing/2014/main" val="3942756304"/>
                    </a:ext>
                  </a:extLst>
                </a:gridCol>
                <a:gridCol w="4837176">
                  <a:extLst>
                    <a:ext uri="{9D8B030D-6E8A-4147-A177-3AD203B41FA5}">
                      <a16:colId xmlns:a16="http://schemas.microsoft.com/office/drawing/2014/main" val="3866461926"/>
                    </a:ext>
                  </a:extLst>
                </a:gridCol>
              </a:tblGrid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Feature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Genomics/Transcriptomics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896938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Analyte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DNA/RNA (genes/transcripts)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Proteins</a:t>
                      </a: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(functional molecules)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096751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Complexity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Relatively simple (linear sequence)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Extremely Complex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388566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 Count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~20,000 human genes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&gt;1,000,000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distinct protein species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085833"/>
                  </a:ext>
                </a:extLst>
              </a:tr>
              <a:tr h="20374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Regulation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Does not account for PTMs, splicing, or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Accounts for: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Post-Translational Modifications (PTMs), Isoforms, Protein-Protein Interactions,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696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661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A5AB3-623D-28B6-2FE1-0292DB6DB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266964-57C8-3F4D-5E80-9698C64D9FA8}"/>
              </a:ext>
            </a:extLst>
          </p:cNvPr>
          <p:cNvCxnSpPr>
            <a:cxnSpLocks/>
            <a:stCxn id="25" idx="2"/>
            <a:endCxn id="36" idx="0"/>
          </p:cNvCxnSpPr>
          <p:nvPr/>
        </p:nvCxnSpPr>
        <p:spPr>
          <a:xfrm>
            <a:off x="5433060" y="2523364"/>
            <a:ext cx="0" cy="294737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B6AB14F-CDC9-AAB5-D32C-C07D6FA43E3E}"/>
              </a:ext>
            </a:extLst>
          </p:cNvPr>
          <p:cNvSpPr txBox="1"/>
          <p:nvPr/>
        </p:nvSpPr>
        <p:spPr>
          <a:xfrm>
            <a:off x="493776" y="270357"/>
            <a:ext cx="9381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1A292C"/>
                </a:solidFill>
                <a:latin typeface="Fira Sans" panose="020F0502020204030204" pitchFamily="34" charset="0"/>
              </a:rPr>
              <a:t>Protein Complexity: From Gene to Functional Proteome</a:t>
            </a: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A01F04-35D8-2F06-7500-006819AB1C6A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93CC6-5DBC-6B6C-765E-ABA55CE33B23}"/>
              </a:ext>
            </a:extLst>
          </p:cNvPr>
          <p:cNvSpPr txBox="1"/>
          <p:nvPr/>
        </p:nvSpPr>
        <p:spPr>
          <a:xfrm>
            <a:off x="493776" y="5946202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252B45-29D7-E73D-3DEC-99F1968A0D8A}"/>
              </a:ext>
            </a:extLst>
          </p:cNvPr>
          <p:cNvGrpSpPr/>
          <p:nvPr/>
        </p:nvGrpSpPr>
        <p:grpSpPr>
          <a:xfrm>
            <a:off x="621792" y="1014984"/>
            <a:ext cx="1472184" cy="2623249"/>
            <a:chOff x="621792" y="1014984"/>
            <a:chExt cx="1472184" cy="262324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C4C178-FEFA-49FE-47E6-9077CD5B82DA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Genomics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1A5758-A215-03C2-53D0-6C2A8CDBC08E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DNA Level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FC753A5-040F-4C89-2307-562B4C11AC7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~20,000 Genes </a:t>
              </a:r>
              <a:r>
                <a:rPr lang="en-US" sz="1200" dirty="0">
                  <a:latin typeface="Fira Sans" panose="020B0503050000020004" pitchFamily="34" charset="0"/>
                </a:rPr>
                <a:t>Statics Blueprint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D1953E4-268F-9059-F4D3-0C182BFCEE48}"/>
              </a:ext>
            </a:extLst>
          </p:cNvPr>
          <p:cNvGrpSpPr/>
          <p:nvPr/>
        </p:nvGrpSpPr>
        <p:grpSpPr>
          <a:xfrm>
            <a:off x="2703576" y="1015640"/>
            <a:ext cx="1472184" cy="2623249"/>
            <a:chOff x="621792" y="1014984"/>
            <a:chExt cx="1472184" cy="2623249"/>
          </a:xfrm>
          <a:solidFill>
            <a:srgbClr val="FFFF00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FCAF340-225D-DC4D-E7D4-28957A33C7BC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Transcriptomics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CF3705F-06AE-DC16-762C-E6EAB327FB4B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RNA Level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C190223-F207-61C5-1B95-A28636BDD1B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~100,000 Transcripts </a:t>
              </a:r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Dynamic Expression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F9393-38E5-E068-D7FA-933C0930A794}"/>
              </a:ext>
            </a:extLst>
          </p:cNvPr>
          <p:cNvSpPr/>
          <p:nvPr/>
        </p:nvSpPr>
        <p:spPr>
          <a:xfrm>
            <a:off x="4696968" y="1015640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Proteomics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E0C36CA-490C-9395-796E-33D727C9CD02}"/>
              </a:ext>
            </a:extLst>
          </p:cNvPr>
          <p:cNvSpPr/>
          <p:nvPr/>
        </p:nvSpPr>
        <p:spPr>
          <a:xfrm>
            <a:off x="4696968" y="2000144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Protein Level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B4D78-1386-1F96-AC6A-388D5CE3C258}"/>
              </a:ext>
            </a:extLst>
          </p:cNvPr>
          <p:cNvSpPr/>
          <p:nvPr/>
        </p:nvSpPr>
        <p:spPr>
          <a:xfrm>
            <a:off x="4696968" y="3115669"/>
            <a:ext cx="1472184" cy="52322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&gt;1,000,000 species </a:t>
            </a:r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Functional diversity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C96D40C-87D9-5CAD-AD17-4D1DB9400760}"/>
              </a:ext>
            </a:extLst>
          </p:cNvPr>
          <p:cNvGrpSpPr/>
          <p:nvPr/>
        </p:nvGrpSpPr>
        <p:grpSpPr>
          <a:xfrm>
            <a:off x="6690360" y="1014984"/>
            <a:ext cx="1472184" cy="3042279"/>
            <a:chOff x="621792" y="1014984"/>
            <a:chExt cx="1472184" cy="3042279"/>
          </a:xfrm>
          <a:solidFill>
            <a:srgbClr val="CC99FF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3E226D7-5828-721C-62FD-7C7D5C3D018E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Functional Outcome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87D15A5-D267-A81C-1325-DE7ED02169B5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Biological Function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E23E30E-0B2C-8F3C-EA55-84863B2A0A0D}"/>
                </a:ext>
              </a:extLst>
            </p:cNvPr>
            <p:cNvSpPr/>
            <p:nvPr/>
          </p:nvSpPr>
          <p:spPr>
            <a:xfrm>
              <a:off x="621792" y="3115012"/>
              <a:ext cx="1472184" cy="9422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Enzymatic activity 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Signaling Pathways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Structure support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Cellular regulation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3C8B5C-9F47-59E7-F2B4-2965E901DB50}"/>
              </a:ext>
            </a:extLst>
          </p:cNvPr>
          <p:cNvCxnSpPr/>
          <p:nvPr/>
        </p:nvCxnSpPr>
        <p:spPr>
          <a:xfrm>
            <a:off x="420624" y="2798064"/>
            <a:ext cx="89794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42161A6A-F7FD-1DCC-3744-B5D390DB5950}"/>
              </a:ext>
            </a:extLst>
          </p:cNvPr>
          <p:cNvSpPr/>
          <p:nvPr/>
        </p:nvSpPr>
        <p:spPr>
          <a:xfrm>
            <a:off x="4696968" y="4445237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Post-Translational Modifications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0F5D23-B27A-FE8E-CADC-6DF731360712}"/>
              </a:ext>
            </a:extLst>
          </p:cNvPr>
          <p:cNvSpPr/>
          <p:nvPr/>
        </p:nvSpPr>
        <p:spPr>
          <a:xfrm>
            <a:off x="4696968" y="3932488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Folding &amp; Structure</a:t>
            </a:r>
            <a:endParaRPr lang="en-GB" sz="12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2F5892-793A-BC1D-0CA8-82ED582DA7D0}"/>
              </a:ext>
            </a:extLst>
          </p:cNvPr>
          <p:cNvSpPr/>
          <p:nvPr/>
        </p:nvSpPr>
        <p:spPr>
          <a:xfrm>
            <a:off x="4696968" y="4957986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Protein Complex Formation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894C332-861A-4AAE-75FF-8F834CCC1853}"/>
              </a:ext>
            </a:extLst>
          </p:cNvPr>
          <p:cNvSpPr/>
          <p:nvPr/>
        </p:nvSpPr>
        <p:spPr>
          <a:xfrm>
            <a:off x="4696968" y="5470734"/>
            <a:ext cx="1472184" cy="37162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Cellular Localization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DF0BBD-4458-45ED-BBC3-766C3B614DF1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357884" y="2522708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1952713-E696-4CB1-2FDE-7F09CA1CAF8D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3439668" y="2523364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9DB188-204F-B99D-9A0C-0780B7FF9742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7426452" y="2522708"/>
            <a:ext cx="0" cy="5923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697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75733-583A-605D-2744-BA4A959E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E5FE515-F04F-3AD6-4A08-36B3FB3D11B5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22D647B-C5E7-069B-B3FF-1ED2D430E001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Expression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Quantitative and qualitative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comparison of protein levels between different biological states (e.g., healthy vs. diseased tissue).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 proteins that are up- or down-regulated in specific conditions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(potential biomarkers).	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Structural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Determining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three-dimensional (3D) structures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all proteins in a proteome.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X-ray Crystallography, Nuclear Magnetic Resonance (NMR), and Cryo-Electron Microscopy (Cryo-EM).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Functional Proteomics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Interactomics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biological role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proteins, their cellular location, and their network of interactions (Protein-Protein Interactions).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 cellular pathways and signaling cascades.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E24E8-D856-2FC1-2951-44E442C09B71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Branches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11F5A1A-E786-85D7-ADB3-8BC87172A24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998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7215-12EC-B1D0-F68F-5C499C6F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EB8EC2-84FD-3263-855C-E14E377049FF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E916EA-D56D-D897-FE37-786C11E1704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600"/>
                </a:spcAft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standard methodology involves four main steps: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Extraction &amp; Solubilization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Lysis of cells/tissues to extract total protein content.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Digestion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Proteins are enzymatically cleaved (typically using Trypsin) into smaller, more manageable fragments called peptides.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Separation/Fractionation: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 peptide mixtures are separated to reduce complexity before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Technique: Liquid Chromatography (LC)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(e.g., Nano-HPLC or multi-dimensional LC).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 Identification &amp; Quantification (Mass Spectrometry)</a:t>
              </a:r>
            </a:p>
            <a:p>
              <a:pPr marL="742950" lvl="1" indent="-28575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ionized and analyzed based on their mass-to-charge ratio (m/z).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Data Analysis (Bioinformatics)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spectra are matched against protein sequence databases (e.g., FASTA files) to identify the original proteins and quantify their abundance.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47C17B8-75B5-9F99-F3FB-8E2382F349D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The General Proteomics Workflow (Bottom-Up Approach)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4324AC-CAB1-3565-F668-55AACDCAB3E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66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B494-7A2E-342A-469F-252FBD246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0E094CA-A719-517C-B03A-00D48FCF81A9}"/>
              </a:ext>
            </a:extLst>
          </p:cNvPr>
          <p:cNvGrpSpPr/>
          <p:nvPr/>
        </p:nvGrpSpPr>
        <p:grpSpPr>
          <a:xfrm>
            <a:off x="493776" y="270357"/>
            <a:ext cx="10735055" cy="4654044"/>
            <a:chOff x="624077" y="270357"/>
            <a:chExt cx="10008634" cy="465404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A40F4B-95F7-0EA6-5527-C12F336CB797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5548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Two-Dimensional Gel Electrophoresis (2D-PAGE)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Separates intact proteins in two steps: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1st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isoelectric point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pI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Isoelectric Focusing (IEF).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2nd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molecular mass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kDa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SDS-PAGE.</a:t>
              </a:r>
            </a:p>
            <a:p>
              <a:pPr marL="800100" lvl="1" indent="-342900">
                <a:spcAft>
                  <a:spcPts val="18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Output: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Creates a visual map of the proteome as a series of distinct spots, allowing comparison between samples (e.g., 2D-DIGE).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Liquid Chromatography (LC)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Used for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"Gel-Free"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Shotgun Proteomics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separated based on their hydrophobicity before being injected directly into the Mass Spectrometer.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9B1A01-32F5-D19E-DF1F-453EB8A3F8F2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Key Technologies: Separation and Visualization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50A8DBB-DDBF-2270-5293-7E1332732247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13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1094-15C6-E7B2-E040-4E8DDB0BE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3DC995-8AAE-F6D9-3144-4154D6FD4C81}"/>
              </a:ext>
            </a:extLst>
          </p:cNvPr>
          <p:cNvGrpSpPr/>
          <p:nvPr/>
        </p:nvGrpSpPr>
        <p:grpSpPr>
          <a:xfrm>
            <a:off x="493776" y="270358"/>
            <a:ext cx="5529073" cy="5476039"/>
            <a:chOff x="624077" y="270357"/>
            <a:chExt cx="10008634" cy="50113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7532384-E6F9-76FA-6C1F-C7868F4B2983}"/>
                </a:ext>
              </a:extLst>
            </p:cNvPr>
            <p:cNvSpPr txBox="1"/>
            <p:nvPr/>
          </p:nvSpPr>
          <p:spPr>
            <a:xfrm>
              <a:off x="624077" y="1479310"/>
              <a:ext cx="10008634" cy="3802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Spectrometry (MS)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 the central tool in modern proteomics. 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Ionization: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converted into charged ions (e.g., using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Electrospray Ionization (ESI)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MS1 (Precursor Scan)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Measures 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mass-to-charge ratio (m/z)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the intact peptides.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(MS/MS or MS2):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Selected peptides are isolated and broken down into smaller fragment ions (e.g., b-ions and y-ions) via Collision-Induced Dissociation (CID).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Identification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The unique pattern of fragment ions (the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spectrum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acts as a fingerprint that is used to determine the peptide's amino acid sequence.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061AB1-861D-E3C0-2D86-56CF7DF1CE56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Core Technology: </a:t>
              </a:r>
            </a:p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Mass Spectrometry (MS)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2E95E44-8C72-A009-CF40-B5A41F5894E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pic>
        <p:nvPicPr>
          <p:cNvPr id="1026" name="Picture 2" descr="a tandem mass spectrometer (MS/MS) diagram">
            <a:extLst>
              <a:ext uri="{FF2B5EF4-FFF2-40B4-BE49-F238E27FC236}">
                <a16:creationId xmlns:a16="http://schemas.microsoft.com/office/drawing/2014/main" id="{ACCEE40B-2671-7AD4-FF65-737A7995C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34" y="1252729"/>
            <a:ext cx="5817378" cy="387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5532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C47C5-65D4-4090-4226-2FB915F38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E0F3E9-BF60-8CD8-5192-3F13EA744A97}"/>
              </a:ext>
            </a:extLst>
          </p:cNvPr>
          <p:cNvGrpSpPr/>
          <p:nvPr/>
        </p:nvGrpSpPr>
        <p:grpSpPr>
          <a:xfrm>
            <a:off x="493776" y="270357"/>
            <a:ext cx="10735055" cy="4577100"/>
            <a:chOff x="624077" y="270357"/>
            <a:chExt cx="10008634" cy="457710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E0AB6-1EB1-CE2A-3ACC-C7A0027ED2E8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Label-Free Quantification (LFQ)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Compares the intensity or abundance of peptide ions in the mass spectra directly between different experimental runs.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Cost-effective, simple sample preparation.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Isotope Labeling Quantification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Chemical labels containing stable isotopes are introduced to the peptides, allowing samples to be mixed and run together in the same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Examples: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SILAC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(Stable Isotope Labeling with Amino acids in Cell culture)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iTRAQ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/TMT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(Isobaric tags for Relative and Absolute Quantification / Tandem Mass Tags)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C9DD9F-09DB-B66E-C8AC-434D20D23BB9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Quantification Strategies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4754634-67FB-C5B0-8F93-B1F0CC5D82A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7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9DAC0-AA6C-FA77-4C28-5E7AC944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3BFE538-4796-357A-3143-3AF456FF7ED1}"/>
              </a:ext>
            </a:extLst>
          </p:cNvPr>
          <p:cNvGrpSpPr/>
          <p:nvPr/>
        </p:nvGrpSpPr>
        <p:grpSpPr>
          <a:xfrm>
            <a:off x="493776" y="270357"/>
            <a:ext cx="10735055" cy="5131098"/>
            <a:chOff x="624077" y="270357"/>
            <a:chExt cx="10008634" cy="513109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D19F7DA-9679-C9E9-1372-E04CF428EED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031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Biomarker Discovery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Identifying proteins whose abundance or modification state is altered in disease (e.g., cancer, neurodegeneration) for early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diagnosis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Drug Target Identification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Mapping out cellular signaling pathways to find key proteins whose activity can be modulated by pharmaceuticals.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mechanism of action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toxicity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of new drug candidates.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Personalized Medicine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Analyzing individual patient proteomes to predict drug response and tailor treatment. 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Post-Translational Modification (PTM) Analysis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Studying modifications like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phosphorylation, glycosylation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,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ubiquitination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that regulate protein activity and signaling.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12436-E6BD-EC34-4770-72A74AB15F0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Applications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D2FD6CB-8169-3874-02C4-25D556DF4C6C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92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E40F3-4B6A-65E1-1A7F-58CA6C6C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2E2AAB-0C37-B276-0A4E-37E8E133295A}"/>
              </a:ext>
            </a:extLst>
          </p:cNvPr>
          <p:cNvGrpSpPr/>
          <p:nvPr/>
        </p:nvGrpSpPr>
        <p:grpSpPr>
          <a:xfrm>
            <a:off x="493776" y="270357"/>
            <a:ext cx="9729216" cy="4469378"/>
            <a:chOff x="624077" y="270357"/>
            <a:chExt cx="9070858" cy="446937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AB5C63C-D031-D34E-81B9-91F7A6D90EA7}"/>
                </a:ext>
              </a:extLst>
            </p:cNvPr>
            <p:cNvSpPr txBox="1"/>
            <p:nvPr/>
          </p:nvSpPr>
          <p:spPr>
            <a:xfrm>
              <a:off x="624078" y="1369582"/>
              <a:ext cx="5089570" cy="3370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Challenges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Range: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 exist in vastly different concentrations (up to 12 orders of magnitude). Low-abundance regulatory proteins are difficult to detect.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Complexity: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sheer number of isoforms, modifications, and protein-protein interactions complicates analysis.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Throughput: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 and data processing remain time-consuming bottlenecks.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D0889E-89DA-658E-E1C6-C7636C8B09B0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Challenges and Future Directions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4F43ED4-BFEF-7148-8910-BC9AD265E69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5B62C5-10C5-FBEE-86CF-A650552BFD7A}"/>
              </a:ext>
            </a:extLst>
          </p:cNvPr>
          <p:cNvSpPr txBox="1"/>
          <p:nvPr/>
        </p:nvSpPr>
        <p:spPr>
          <a:xfrm>
            <a:off x="585216" y="5397149"/>
            <a:ext cx="8019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introduction to the core concepts, you may find this video useful: </a:t>
            </a:r>
            <a:r>
              <a:rPr lang="en-US" dirty="0">
                <a:hlinkClick r:id="rId2"/>
              </a:rPr>
              <a:t>Introduction to Proteomics | 2021 EMSL Summer School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EDDA7A-C70B-084D-441C-A0C56C2CA1D9}"/>
              </a:ext>
            </a:extLst>
          </p:cNvPr>
          <p:cNvSpPr txBox="1"/>
          <p:nvPr/>
        </p:nvSpPr>
        <p:spPr>
          <a:xfrm>
            <a:off x="6169152" y="1369582"/>
            <a:ext cx="592836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Future Directions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Targeted Proteomics (PRM/SRM):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Highly accurate quantification of a small, predefined set of proteins.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Single-Cell Proteomics: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Analyzing the protein content of individual cells to understand heterogeneity in tissues.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Data Integration: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Merging proteomics data with genomics and metabolomics data for a complete system-wide picture (System Biology).</a:t>
            </a:r>
          </a:p>
        </p:txBody>
      </p:sp>
    </p:spTree>
    <p:extLst>
      <p:ext uri="{BB962C8B-B14F-4D97-AF65-F5344CB8AC3E}">
        <p14:creationId xmlns:p14="http://schemas.microsoft.com/office/powerpoint/2010/main" val="3822102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C8B0EBC-B656-E35D-A0F4-FCE2D438F528}"/>
              </a:ext>
            </a:extLst>
          </p:cNvPr>
          <p:cNvGrpSpPr/>
          <p:nvPr/>
        </p:nvGrpSpPr>
        <p:grpSpPr>
          <a:xfrm>
            <a:off x="493777" y="270357"/>
            <a:ext cx="5529072" cy="4057342"/>
            <a:chOff x="624078" y="270357"/>
            <a:chExt cx="5154930" cy="405734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1A16537-008A-D8C4-4987-3D36D08AA530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Advantages: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F0502020204030204" pitchFamily="34" charset="0"/>
              </a:endParaRP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Free and open-source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Extensive statistical packages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Reproducible analysis workflows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Publication-quality graphics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Active bioinformatics community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Integration with proteomics tools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4B8D22-0EC8-213E-B7EF-8E7BD055802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Why R for Proteomics?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7489F-553A-E12F-FAAD-4D892A9B638F}"/>
              </a:ext>
            </a:extLst>
          </p:cNvPr>
          <p:cNvGrpSpPr/>
          <p:nvPr/>
        </p:nvGrpSpPr>
        <p:grpSpPr>
          <a:xfrm>
            <a:off x="6169152" y="270357"/>
            <a:ext cx="5946648" cy="3595614"/>
            <a:chOff x="624078" y="270357"/>
            <a:chExt cx="5869258" cy="359561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1510CF-D717-E4B8-EA4D-2B5EA7A94AA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4963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Four Main Panels: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Source Editor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Write and save your code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Console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Execute commands interactively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Environment/History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View objects and command history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Files/Plots/Help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Navigate files, view plots, access help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C12DE0-4EA5-FA69-7B14-B28D1440415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RStudio Interface Tour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E94C54D-3D28-2A20-6A54-2BE41404A5BB}"/>
              </a:ext>
            </a:extLst>
          </p:cNvPr>
          <p:cNvSpPr txBox="1"/>
          <p:nvPr/>
        </p:nvSpPr>
        <p:spPr>
          <a:xfrm>
            <a:off x="6096000" y="3945415"/>
            <a:ext cx="6094476" cy="402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Best Practice: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 Always work in R scripts (.R) or R Markdown (.</a:t>
            </a:r>
            <a:r>
              <a:rPr lang="en-US" sz="1500" i="1" dirty="0" err="1">
                <a:solidFill>
                  <a:srgbClr val="000000"/>
                </a:solidFill>
                <a:latin typeface="Fira Sans" panose="020B0503050000020004" pitchFamily="34" charset="0"/>
              </a:rPr>
              <a:t>Rmd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) files</a:t>
            </a:r>
          </a:p>
        </p:txBody>
      </p:sp>
    </p:spTree>
    <p:extLst>
      <p:ext uri="{BB962C8B-B14F-4D97-AF65-F5344CB8AC3E}">
        <p14:creationId xmlns:p14="http://schemas.microsoft.com/office/powerpoint/2010/main" val="2363963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14F9A-73B0-E0AA-10BA-F0316F77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D69BAD-7D9F-7F49-C33D-6B1D5498720A}"/>
              </a:ext>
            </a:extLst>
          </p:cNvPr>
          <p:cNvSpPr txBox="1"/>
          <p:nvPr/>
        </p:nvSpPr>
        <p:spPr>
          <a:xfrm>
            <a:off x="493776" y="270357"/>
            <a:ext cx="6848855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Bioinformatics methods &amp; visualizations</a:t>
            </a:r>
          </a:p>
        </p:txBody>
      </p:sp>
      <p:pic>
        <p:nvPicPr>
          <p:cNvPr id="1026" name="Picture 2" descr="Proteomic and metabolomic data analysis - Genevia Technologies">
            <a:extLst>
              <a:ext uri="{FF2B5EF4-FFF2-40B4-BE49-F238E27FC236}">
                <a16:creationId xmlns:a16="http://schemas.microsoft.com/office/drawing/2014/main" id="{4BFDCA59-BAF7-B6F1-71BC-56A03BBB60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" y="980189"/>
            <a:ext cx="5886831" cy="547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57DF62-B94A-C791-3904-ACF2DE09E7AB}"/>
              </a:ext>
            </a:extLst>
          </p:cNvPr>
          <p:cNvSpPr txBox="1"/>
          <p:nvPr/>
        </p:nvSpPr>
        <p:spPr>
          <a:xfrm>
            <a:off x="2478024" y="6231119"/>
            <a:ext cx="316972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00" dirty="0"/>
              <a:t>https://geneviatechnologies.com/bioinformatics-analyses/proteomic-and-metabolomic-data-analysis/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44917E0-65F0-C9D4-64AE-ED7CE1D3E654}"/>
              </a:ext>
            </a:extLst>
          </p:cNvPr>
          <p:cNvGrpSpPr/>
          <p:nvPr/>
        </p:nvGrpSpPr>
        <p:grpSpPr>
          <a:xfrm>
            <a:off x="6096000" y="1170432"/>
            <a:ext cx="5068633" cy="5060687"/>
            <a:chOff x="6532054" y="1102369"/>
            <a:chExt cx="5068633" cy="506068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9D2BCAD5-7563-FEC7-88FB-89834A5BE3C3}"/>
                </a:ext>
              </a:extLst>
            </p:cNvPr>
            <p:cNvSpPr/>
            <p:nvPr/>
          </p:nvSpPr>
          <p:spPr>
            <a:xfrm>
              <a:off x="6532054" y="1102369"/>
              <a:ext cx="2057400" cy="5060687"/>
            </a:xfrm>
            <a:prstGeom prst="rightBrace">
              <a:avLst>
                <a:gd name="adj1" fmla="val 3500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8D98A71-295A-F06E-C661-9ECB84E1F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14053" y="2665243"/>
              <a:ext cx="2716399" cy="2104834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A48D0E-4F96-869C-97A4-4B2C41107523}"/>
                </a:ext>
              </a:extLst>
            </p:cNvPr>
            <p:cNvSpPr txBox="1"/>
            <p:nvPr/>
          </p:nvSpPr>
          <p:spPr>
            <a:xfrm>
              <a:off x="8814053" y="5038343"/>
              <a:ext cx="278663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i="0" dirty="0">
                  <a:solidFill>
                    <a:srgbClr val="0A0A0A"/>
                  </a:solidFill>
                  <a:effectLst/>
                  <a:latin typeface="Google Sans"/>
                </a:rPr>
                <a:t>R (programming language)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92090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9EF47-7F38-9B38-36F2-6CA7C528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08F327-5CE3-F64B-DC5E-10A3B772AA06}"/>
              </a:ext>
            </a:extLst>
          </p:cNvPr>
          <p:cNvSpPr txBox="1"/>
          <p:nvPr/>
        </p:nvSpPr>
        <p:spPr>
          <a:xfrm>
            <a:off x="493777" y="270357"/>
            <a:ext cx="5529072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R, </a:t>
            </a:r>
            <a:r>
              <a:rPr lang="en-US" sz="2800" b="0" i="0" dirty="0" err="1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Rstudio</a:t>
            </a: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, </a:t>
            </a:r>
            <a:r>
              <a:rPr lang="en-US" sz="2800" b="0" i="0" dirty="0" err="1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Tidyverse</a:t>
            </a: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, Notebooks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2A226-0998-B400-7B85-AE3FC07EC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1" y="1638252"/>
            <a:ext cx="7897599" cy="467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15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85850C7-B4BC-9A8F-3939-4CAC96919E89}"/>
              </a:ext>
            </a:extLst>
          </p:cNvPr>
          <p:cNvGrpSpPr/>
          <p:nvPr/>
        </p:nvGrpSpPr>
        <p:grpSpPr>
          <a:xfrm>
            <a:off x="493777" y="270357"/>
            <a:ext cx="5529072" cy="3641844"/>
            <a:chOff x="624078" y="270357"/>
            <a:chExt cx="5154930" cy="36418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E14C34-A149-925D-04EF-0298D025F9A3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5426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B0503050000020004" pitchFamily="34" charset="0"/>
                </a:rPr>
                <a:t>Agendas: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Setting Up and Getting Started with R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Data Types and Structures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Control Flow and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4: Importing and exploring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5: Data Wrangling with `tidyverse`</a:t>
              </a:r>
              <a:endParaRPr lang="en-GB" dirty="0">
                <a:latin typeface="Fira Sans" panose="020B05030500000200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CBD90-B104-1ED6-712C-5BEA66A22916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Introduction</a:t>
              </a:r>
              <a:r>
                <a:rPr lang="en-US" dirty="0">
                  <a:latin typeface="Fira Sans" panose="020B0503050000020004" pitchFamily="34" charset="0"/>
                  <a:hlinkClick r:id="rId2" action="ppaction://hlinkfile"/>
                </a:rPr>
                <a:t> to R and RStudio</a:t>
              </a:r>
              <a:endParaRPr lang="en-US" sz="28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0918E-6333-1FCA-7B2D-DBFDA27B50A4}"/>
              </a:ext>
            </a:extLst>
          </p:cNvPr>
          <p:cNvGrpSpPr/>
          <p:nvPr/>
        </p:nvGrpSpPr>
        <p:grpSpPr>
          <a:xfrm>
            <a:off x="6169152" y="270357"/>
            <a:ext cx="5946648" cy="4470917"/>
            <a:chOff x="624078" y="270357"/>
            <a:chExt cx="5869258" cy="44709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787D50-6D13-0575-2630-1BAFE04894D8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3716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How to set up R and </a:t>
              </a:r>
              <a:r>
                <a:rPr lang="en-GB" dirty="0" err="1">
                  <a:latin typeface="Fira Sans" panose="020B0503050000020004" pitchFamily="34" charset="0"/>
                </a:rPr>
                <a:t>Rstudio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Basic R operators and syntax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Data structures: vectors, data frames, lists, factors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Indexing and sub-setting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Control flow: if/else, loops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Writing custom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Importing and exploring data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7DB8EC-2FE9-43E6-B31F-A0821907DA2D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1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04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BE1D3DC-971B-B0DF-DBB6-45FEE40D080A}"/>
              </a:ext>
            </a:extLst>
          </p:cNvPr>
          <p:cNvGrpSpPr/>
          <p:nvPr/>
        </p:nvGrpSpPr>
        <p:grpSpPr>
          <a:xfrm>
            <a:off x="493777" y="270357"/>
            <a:ext cx="5529072" cy="4426674"/>
            <a:chOff x="624078" y="270357"/>
            <a:chExt cx="5154930" cy="4426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E41810A-413B-5C95-6A7F-33448621376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3274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2, you will be able to: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Treat Proteomic Data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From Mass Spectrometry to Quantified Proteins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Structure of Proteomic Data Matrices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dirty="0">
                  <a:latin typeface="Fira Sans" panose="020B0503050000020004" pitchFamily="34" charset="0"/>
                </a:rPr>
                <a:t>Understanding Your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Initial Quality Control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Exploratory Data Analysis (EDA)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BB60C9-97D8-D5BB-9F1B-78D33A52D8A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u="sng" dirty="0">
                  <a:latin typeface="Fira Sans" panose="020B0503050000020004" pitchFamily="34" charset="0"/>
                  <a:hlinkClick r:id="rId2" action="ppaction://hlinkfile"/>
                </a:rPr>
                <a:t>Introduction to Proteomic Data &amp; Quality Control</a:t>
              </a:r>
              <a:endParaRPr lang="en-US" sz="40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F352149-06AE-19E8-6A8C-8577B9412E81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DFDA27-2473-25EF-0AD6-F620E47A52C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Structure of proteomic data matrices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Common data quality issues (</a:t>
              </a:r>
              <a:r>
                <a:rPr lang="en-GB" b="1" dirty="0">
                  <a:latin typeface="Fira Sans" panose="020B0503050000020004" pitchFamily="34" charset="0"/>
                </a:rPr>
                <a:t>missing values, outliers, batch effects</a:t>
              </a:r>
              <a:r>
                <a:rPr lang="en-GB" dirty="0">
                  <a:latin typeface="Fira Sans" panose="020B05030500000200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Quality control </a:t>
              </a:r>
              <a:r>
                <a:rPr lang="en-GB" b="1" dirty="0">
                  <a:latin typeface="Fira Sans" panose="020B0503050000020004" pitchFamily="34" charset="0"/>
                </a:rPr>
                <a:t>visualization</a:t>
              </a:r>
              <a:r>
                <a:rPr lang="en-GB" dirty="0">
                  <a:latin typeface="Fira Sans" panose="020B0503050000020004" pitchFamily="34" charset="0"/>
                </a:rPr>
                <a:t> techniques (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PCA, boxplots, and heatmaps)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exploratory data analysis (EDA)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Exploratory data analysis methods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Sample correlation and clustering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2F47AD5-8550-4A89-A148-B2E533BED619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2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169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F8CE-D733-4D7D-285E-20951FEE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368535-A238-3DDB-D876-E02FD3651AE2}"/>
              </a:ext>
            </a:extLst>
          </p:cNvPr>
          <p:cNvGrpSpPr/>
          <p:nvPr/>
        </p:nvGrpSpPr>
        <p:grpSpPr>
          <a:xfrm>
            <a:off x="493777" y="270357"/>
            <a:ext cx="5529072" cy="3229103"/>
            <a:chOff x="624078" y="270357"/>
            <a:chExt cx="5154930" cy="3229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5CE10-0707-081B-4479-B1A2A38C4D8E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1298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3,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Data Preprocessing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3: Differential Expression 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EF09D1-D6C3-5A0A-3C90-15D8172E0C8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Preprocessing and Differential Expression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F47EB-5D25-7980-17B5-9826F098B01D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8F76C9-3560-34EE-B3A9-E22A7DC9FF7B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Apply different normalization methods to proteomic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Perform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differential expression analysis using `</a:t>
              </a:r>
              <a:r>
                <a:rPr lang="en-US" dirty="0" err="1">
                  <a:solidFill>
                    <a:srgbClr val="212529"/>
                  </a:solidFill>
                  <a:latin typeface="Fira Sans" panose="020B0503050000020004" pitchFamily="34" charset="0"/>
                </a:rPr>
                <a:t>limma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`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Interpret and visualize differential expression results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Create volcano plots and MA plots</a:t>
              </a:r>
              <a:endParaRPr lang="en-US" dirty="0">
                <a:latin typeface="Fira Sans" panose="020B05030500000200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79BF9D-074F-C8EF-EDAF-419880F72D38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3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9097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15CF-E6DA-FCC8-5AFE-97D63C8A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B5BCAA-00E9-2D81-592C-971F28D67D2A}"/>
              </a:ext>
            </a:extLst>
          </p:cNvPr>
          <p:cNvGrpSpPr/>
          <p:nvPr/>
        </p:nvGrpSpPr>
        <p:grpSpPr>
          <a:xfrm>
            <a:off x="493777" y="270357"/>
            <a:ext cx="5529072" cy="2810847"/>
            <a:chOff x="624078" y="270357"/>
            <a:chExt cx="5154930" cy="28108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11EBA82-F3AE-35F8-E43F-DB7CB82228C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17116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4,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Functional Enrichment &amp; GSEA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Public Data integration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7D1AC-ED87-36D8-2225-32CE7A87D3E1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Functional Analysis, Longitudinal &amp; Public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61908C-E107-33B9-0723-A58D5516E8DB}"/>
              </a:ext>
            </a:extLst>
          </p:cNvPr>
          <p:cNvGrpSpPr/>
          <p:nvPr/>
        </p:nvGrpSpPr>
        <p:grpSpPr>
          <a:xfrm>
            <a:off x="6169152" y="270357"/>
            <a:ext cx="5946648" cy="2811040"/>
            <a:chOff x="624078" y="270357"/>
            <a:chExt cx="5869258" cy="28110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5C63589-B290-AA70-03AA-45F8C2D4CDE3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118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DE results biologically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Explore longitudinal trajectories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Work with public datasets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F0B2C5-393B-8A0D-E03C-9202C77693A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4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5383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3B58-32F8-5A8B-62B2-B2EA29E1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5856232-84D3-1727-8C54-CBB27D4D50E8}"/>
              </a:ext>
            </a:extLst>
          </p:cNvPr>
          <p:cNvGrpSpPr/>
          <p:nvPr/>
        </p:nvGrpSpPr>
        <p:grpSpPr>
          <a:xfrm>
            <a:off x="493777" y="270357"/>
            <a:ext cx="5529072" cy="5677914"/>
            <a:chOff x="624078" y="270357"/>
            <a:chExt cx="5154930" cy="56779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1A67873-3E2F-11B9-25B3-69B32E10E0AC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45786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GB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Modules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Full Analysis Pipeline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From QC → normalization → DE → functional → longitudinal (if relevant).</a:t>
              </a:r>
              <a:b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2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Run through all steps on a provided dataset (or participants’ data).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Group Discussion &amp; Interpretation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Interpret results, compare across participants, discuss limitations, challenges, possible variations.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Presentation &amp; Reporting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Generate basic report/graphics (ggplot2), integrate into R Markdown / html / PDF.</a:t>
              </a:r>
              <a:b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Provide guidance for next steps.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2F423-B178-6D5E-07FE-6572830A50C3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Application on Real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B53B61-64C3-6CF1-C7B7-04EA0D82DD1D}"/>
              </a:ext>
            </a:extLst>
          </p:cNvPr>
          <p:cNvGrpSpPr/>
          <p:nvPr/>
        </p:nvGrpSpPr>
        <p:grpSpPr>
          <a:xfrm>
            <a:off x="6169152" y="270357"/>
            <a:ext cx="5946648" cy="2808924"/>
            <a:chOff x="624078" y="270357"/>
            <a:chExt cx="5869258" cy="280892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A4D673-2AFB-8626-2E84-D6A4F1C1E624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096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Apply full workflow to real or internal dataset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results in biological context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Troubleshoot and discuss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FB6393-4146-87E5-C61E-159BF2FED89A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5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768607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1794</Words>
  <Application>Microsoft Office PowerPoint</Application>
  <PresentationFormat>Widescreen</PresentationFormat>
  <Paragraphs>223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Display</vt:lpstr>
      <vt:lpstr>Arial</vt:lpstr>
      <vt:lpstr>Fira Sans</vt:lpstr>
      <vt:lpstr>Google Sans</vt:lpstr>
      <vt:lpstr>Wingdings</vt:lpstr>
      <vt:lpstr>Custom Design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 MUKESHA</dc:creator>
  <cp:lastModifiedBy>Kabandana Dany Mukesha</cp:lastModifiedBy>
  <cp:revision>62</cp:revision>
  <dcterms:created xsi:type="dcterms:W3CDTF">2025-10-20T08:43:40Z</dcterms:created>
  <dcterms:modified xsi:type="dcterms:W3CDTF">2025-11-24T00:17:32Z</dcterms:modified>
</cp:coreProperties>
</file>