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5" r:id="rId2"/>
  </p:sldMasterIdLst>
  <p:handoutMasterIdLst>
    <p:handoutMasterId r:id="rId19"/>
  </p:handoutMasterIdLst>
  <p:sldIdLst>
    <p:sldId id="256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57" r:id="rId13"/>
    <p:sldId id="262" r:id="rId14"/>
    <p:sldId id="258" r:id="rId15"/>
    <p:sldId id="263" r:id="rId16"/>
    <p:sldId id="264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y 0" id="{1D16D1DA-ACAD-4E10-B283-AADBC3F5CDBD}">
          <p14:sldIdLst>
            <p14:sldId id="256"/>
          </p14:sldIdLst>
        </p14:section>
        <p14:section name="Introduction to Proteomics" id="{009DB6D5-D618-4EE1-9400-4D6CB9DB5524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R for Proteomics" id="{BE54181E-1A31-4CBB-9345-522D443F5CD2}">
          <p14:sldIdLst>
            <p14:sldId id="257"/>
          </p14:sldIdLst>
        </p14:section>
        <p14:section name="Day 1" id="{DDFC6817-248C-4506-BF7B-72F113843825}">
          <p14:sldIdLst>
            <p14:sldId id="262"/>
          </p14:sldIdLst>
        </p14:section>
        <p14:section name="Day 2" id="{242C94B5-5723-4560-AC01-F8C2AEC294E4}">
          <p14:sldIdLst>
            <p14:sldId id="258"/>
          </p14:sldIdLst>
        </p14:section>
        <p14:section name="Day 3" id="{DBDF1725-7FEC-4A1C-9869-445A2D466A1E}">
          <p14:sldIdLst>
            <p14:sldId id="263"/>
          </p14:sldIdLst>
        </p14:section>
        <p14:section name="Day 4" id="{FCD4091A-B4AF-4ABB-B2D5-ACF1733E43E6}">
          <p14:sldIdLst>
            <p14:sldId id="264"/>
          </p14:sldIdLst>
        </p14:section>
        <p14:section name="Day 5" id="{0AEBB606-CEA4-4116-A7BE-9F75C924F278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06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12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811C3A-C856-8E56-A361-5FE394F82E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E1C0B-3932-59C0-4223-D1360A9D5A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6D668-90A6-4547-97E8-9A0A42296A1B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2A79FD-2E89-9494-D82D-3873DF53E6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4DBB4-BE94-3199-9671-8748230B2E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F6F5ED-71F6-45E5-82DF-65EBF20CB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0616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4EFA-8755-909F-D781-9856271C2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5202E-2CFC-EB67-1273-23945863F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F937A-FD08-00C3-8E65-300EE6040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CD0A0-301E-3B0B-8759-B0307CAF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0E1CE-3AE2-9015-ABB2-F69E6A70B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43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6257-5DCB-61A4-75F9-B906668C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46769-6A84-B1E6-5D04-35FC24938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42F98-B003-6D5C-BFB8-48A2260F9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5C427-565B-F449-B5A1-E0A9E8D1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8768A-AA2A-18E5-EE64-4CB42717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74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F2E3-E103-3295-54BD-082FC4969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EEAD7-B0FA-9057-FA62-9A7B1C9AF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1DF24-2DB8-60D4-47A0-1B0EE7F29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DE035-0A93-DC31-41A5-00DFCAB2D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1F62D-D748-37A7-506A-B00DF0EDE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364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9491F-C18C-DE8D-B92C-305550F26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1F15-F9F4-3DBE-B9FA-47DC566A5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6F5A2-0214-E15D-43A4-595407DCF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84CCA-BC1A-30D3-CDDD-789D37E0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1BD09-A0FD-8063-5FF3-610F7147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27CD3-B41B-34C0-8E1A-4F77326E1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2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8CC0-FE5C-9FC7-C3CA-D8D315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B43E3-924E-DAFF-937D-50DA8D8C4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5B8C0-63BF-79EF-DE0D-7E27AD7A0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1B9FB-E529-189A-73AF-1BF545595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79CA2F-A1FF-2774-A945-AF560083B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F02CD5-918E-67CC-F064-39BCF79CA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2B903-4D0C-C0F5-AFC0-5D4448AB3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601465-A4B5-A1DC-FA15-F010C83CF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940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97AED-52B8-10A5-2C07-D8600CED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B7FD4-99FD-AEBE-5F01-E9E31DC5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01B40-67F3-9CCC-52A7-7629E78CA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C70C1-EDAB-4BA7-17AF-09E9FDCA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133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CE18F8-9126-BBBF-A4FB-1BD98CAD1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E2FC4-F558-D173-1D38-F0CB66714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1FA29-9661-7EF7-2AFE-CBDA2402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76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1F220-0CE9-86DD-E8D6-8C117A23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324E7-EFBE-DCE2-745C-A161A5688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D762D-7A23-0922-D2B9-3EA5CB937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066E6F-D672-6C51-112E-56C81C244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EA04C-0975-029E-F1F5-E5CA7E59A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776E9-C17C-6ECC-A4BF-0AAEDEDF9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95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A2B0-FEA6-AEBE-7443-33430C52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194663-319C-B848-593E-2FAC8612B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C5737-17ED-E2F6-06C1-896C7ADA9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215F2-8EFC-5617-C453-F90D29B1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12E1B-D145-2BCD-B78B-745CB2F4A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24796F-6AF2-46EC-679B-72188319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6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09026-65E2-8CD1-929B-3D5F27856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C81676-15A1-1299-6D38-5B1BFC68A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B340E-E4A6-DAFC-FA0D-64898C8EE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89099-47CE-2DC6-A608-FA022143C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0EAE2-20C1-11D6-D7A8-8EE65D08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47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25E57F-1C4E-D022-E7E6-A559DB6FD2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32FF7-96C4-2541-0A60-FC578F078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53BAE-2CD6-0E70-210E-8ADB8078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0FABD-E5FC-0C31-696C-F20AECD3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BF063-16D4-EE36-BAD8-BA8DB827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214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 training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691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 training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3100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 training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3047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 training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2848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 training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4067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798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 training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1663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 training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291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 training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735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9998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6124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4F07F-24C8-7322-A903-2FA6D9CEB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C8592E-A485-718A-8F3A-9EA7497B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DCF0-A78D-4AB5-8D9E-D2EFF770385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2B1DF-8020-7DCD-4F60-8E4224B4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R4proteomics training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42A22-9395-FFDC-E859-C300E9C3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29F5F-460F-49AE-87DA-1D95142FDB1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85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4D1C31-EC50-EB4D-EAF6-19B203B33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7544-D756-6B37-688B-BFAA3307B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C584E-D936-8FBA-FF9F-41BBCFB95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29722-6D9A-B35A-E425-2AB7F7172A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50808-0D33-E467-B60E-E55445E02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3538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761CF2-C4C9-4DEE-8992-FAB361DB7BD4}" type="datetimeFigureOut">
              <a:rPr lang="en-GB" smtClean="0"/>
              <a:t>20/11/2025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1CE529-1585-47F1-9CE6-8FC05A8760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44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lodiag-holocron.github.io/r4proteomics/" TargetMode="Externa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mgTlo_kndzQ" TargetMode="Externa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file:///C:\08_pkgs\r4proteomics\_book\day1.html" TargetMode="Externa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file:///C:\08_pkgs\r4proteomics\_book\day2.html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file:///C:\08_pkgs\r4proteomics\_book\day3.html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file:///C:\08_pkgs\r4proteomics\_book\day4.html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file:///C:\08_pkgs\r4proteomics\_book\day5.html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32D5630-14D6-1110-97A0-0B4473CFD2EB}"/>
              </a:ext>
            </a:extLst>
          </p:cNvPr>
          <p:cNvSpPr/>
          <p:nvPr/>
        </p:nvSpPr>
        <p:spPr>
          <a:xfrm>
            <a:off x="403075" y="1041061"/>
            <a:ext cx="6437746" cy="55810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Fira Sans" panose="020B05030500000200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0B2404C-6DD2-560B-C6BF-C49A7258BEBC}"/>
              </a:ext>
            </a:extLst>
          </p:cNvPr>
          <p:cNvCxnSpPr>
            <a:endCxn id="31" idx="0"/>
          </p:cNvCxnSpPr>
          <p:nvPr/>
        </p:nvCxnSpPr>
        <p:spPr>
          <a:xfrm>
            <a:off x="1038165" y="1530668"/>
            <a:ext cx="1" cy="4039040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DCC7ED-73CF-5B87-8E7D-48D6AC68F436}"/>
              </a:ext>
            </a:extLst>
          </p:cNvPr>
          <p:cNvCxnSpPr>
            <a:stCxn id="3" idx="4"/>
            <a:endCxn id="30" idx="0"/>
          </p:cNvCxnSpPr>
          <p:nvPr/>
        </p:nvCxnSpPr>
        <p:spPr>
          <a:xfrm>
            <a:off x="-485835" y="1530670"/>
            <a:ext cx="0" cy="3989651"/>
          </a:xfrm>
          <a:prstGeom prst="line">
            <a:avLst/>
          </a:prstGeom>
          <a:ln w="19050">
            <a:solidFill>
              <a:schemeClr val="bg1"/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EAFDD196-F3B6-5B82-1124-065EA7402ACC}"/>
              </a:ext>
            </a:extLst>
          </p:cNvPr>
          <p:cNvGrpSpPr/>
          <p:nvPr/>
        </p:nvGrpSpPr>
        <p:grpSpPr>
          <a:xfrm>
            <a:off x="904815" y="1233428"/>
            <a:ext cx="3124438" cy="583388"/>
            <a:chOff x="2171462" y="1271528"/>
            <a:chExt cx="3124438" cy="58338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F0BA193-91EC-8482-C54D-041E1FE32CA7}"/>
                </a:ext>
              </a:extLst>
            </p:cNvPr>
            <p:cNvGrpSpPr/>
            <p:nvPr/>
          </p:nvGrpSpPr>
          <p:grpSpPr>
            <a:xfrm>
              <a:off x="2171462" y="1296686"/>
              <a:ext cx="266700" cy="272082"/>
              <a:chOff x="1295162" y="847106"/>
              <a:chExt cx="266700" cy="272082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19DE1701-0F7B-A227-6670-C72EDFC7FB64}"/>
                  </a:ext>
                </a:extLst>
              </p:cNvPr>
              <p:cNvSpPr/>
              <p:nvPr/>
            </p:nvSpPr>
            <p:spPr>
              <a:xfrm>
                <a:off x="1295162" y="847106"/>
                <a:ext cx="266700" cy="27208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DD971003-87F9-9338-3CE5-A57F964DD647}"/>
                  </a:ext>
                </a:extLst>
              </p:cNvPr>
              <p:cNvSpPr/>
              <p:nvPr/>
            </p:nvSpPr>
            <p:spPr>
              <a:xfrm>
                <a:off x="1340168" y="896493"/>
                <a:ext cx="176689" cy="172688"/>
              </a:xfrm>
              <a:prstGeom prst="ellipse">
                <a:avLst/>
              </a:prstGeom>
              <a:solidFill>
                <a:srgbClr val="CCEC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6183863-4AB4-37C1-FE31-9CC40224DE67}"/>
                </a:ext>
              </a:extLst>
            </p:cNvPr>
            <p:cNvSpPr/>
            <p:nvPr/>
          </p:nvSpPr>
          <p:spPr>
            <a:xfrm>
              <a:off x="2933700" y="1271528"/>
              <a:ext cx="1516380" cy="321778"/>
            </a:xfrm>
            <a:prstGeom prst="rect">
              <a:avLst/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Day Course 1</a:t>
              </a:r>
              <a:endParaRPr lang="en-GB" sz="1200" b="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E5821D-817C-47BC-5D5C-9724DD182F3C}"/>
                </a:ext>
              </a:extLst>
            </p:cNvPr>
            <p:cNvSpPr txBox="1"/>
            <p:nvPr/>
          </p:nvSpPr>
          <p:spPr>
            <a:xfrm>
              <a:off x="2842260" y="1593306"/>
              <a:ext cx="245364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Introduction to R and RStudio</a:t>
              </a:r>
              <a:endParaRPr lang="en-GB" sz="1100" dirty="0">
                <a:solidFill>
                  <a:schemeClr val="bg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D3C1AE5-B545-4FE1-C6BF-8DA872C3A65F}"/>
              </a:ext>
            </a:extLst>
          </p:cNvPr>
          <p:cNvGrpSpPr/>
          <p:nvPr/>
        </p:nvGrpSpPr>
        <p:grpSpPr>
          <a:xfrm>
            <a:off x="904815" y="2298863"/>
            <a:ext cx="3124438" cy="752665"/>
            <a:chOff x="2171462" y="1271528"/>
            <a:chExt cx="3124438" cy="75266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F8DB19A-1F9A-B2E3-99E8-FA3DA4076E29}"/>
                </a:ext>
              </a:extLst>
            </p:cNvPr>
            <p:cNvGrpSpPr/>
            <p:nvPr/>
          </p:nvGrpSpPr>
          <p:grpSpPr>
            <a:xfrm>
              <a:off x="2171462" y="1296686"/>
              <a:ext cx="266700" cy="272082"/>
              <a:chOff x="1295162" y="847106"/>
              <a:chExt cx="266700" cy="272082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ED98D4C-7A6A-6F08-D59F-21C90776BF2F}"/>
                  </a:ext>
                </a:extLst>
              </p:cNvPr>
              <p:cNvSpPr/>
              <p:nvPr/>
            </p:nvSpPr>
            <p:spPr>
              <a:xfrm>
                <a:off x="1295162" y="847106"/>
                <a:ext cx="266700" cy="27208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6DB0F75-D479-0AE3-61C8-B1565D53CD94}"/>
                  </a:ext>
                </a:extLst>
              </p:cNvPr>
              <p:cNvSpPr/>
              <p:nvPr/>
            </p:nvSpPr>
            <p:spPr>
              <a:xfrm>
                <a:off x="1340168" y="896493"/>
                <a:ext cx="176689" cy="172688"/>
              </a:xfrm>
              <a:prstGeom prst="ellipse">
                <a:avLst/>
              </a:prstGeom>
              <a:solidFill>
                <a:srgbClr val="CCEC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B0C9955-CC95-C4D7-9ED2-FB143EBDEB3E}"/>
                </a:ext>
              </a:extLst>
            </p:cNvPr>
            <p:cNvSpPr/>
            <p:nvPr/>
          </p:nvSpPr>
          <p:spPr>
            <a:xfrm>
              <a:off x="2933700" y="1271528"/>
              <a:ext cx="1516380" cy="321778"/>
            </a:xfrm>
            <a:prstGeom prst="rect">
              <a:avLst/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Day Course 2</a:t>
              </a:r>
              <a:endParaRPr lang="en-GB" sz="1200" b="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7B71933-E529-9DA2-CAA3-E62CE75EEE76}"/>
                </a:ext>
              </a:extLst>
            </p:cNvPr>
            <p:cNvSpPr txBox="1"/>
            <p:nvPr/>
          </p:nvSpPr>
          <p:spPr>
            <a:xfrm>
              <a:off x="2842260" y="1593306"/>
              <a:ext cx="24536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Applying Statistics  and Core Data science Techniques in Proteomics</a:t>
              </a:r>
              <a:endParaRPr lang="en-GB" sz="1100" dirty="0">
                <a:solidFill>
                  <a:schemeClr val="bg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7758F-AA16-9593-598B-61589C3CA0A5}"/>
              </a:ext>
            </a:extLst>
          </p:cNvPr>
          <p:cNvGrpSpPr/>
          <p:nvPr/>
        </p:nvGrpSpPr>
        <p:grpSpPr>
          <a:xfrm>
            <a:off x="904815" y="3364296"/>
            <a:ext cx="3124438" cy="752665"/>
            <a:chOff x="2171462" y="1271528"/>
            <a:chExt cx="3124438" cy="75266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AA9F51A-5755-BC81-754C-ED4218524AF8}"/>
                </a:ext>
              </a:extLst>
            </p:cNvPr>
            <p:cNvGrpSpPr/>
            <p:nvPr/>
          </p:nvGrpSpPr>
          <p:grpSpPr>
            <a:xfrm>
              <a:off x="2171462" y="1296686"/>
              <a:ext cx="266700" cy="272082"/>
              <a:chOff x="1295162" y="847106"/>
              <a:chExt cx="266700" cy="272082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9976B80-90AF-72D4-9183-5D49E7A94000}"/>
                  </a:ext>
                </a:extLst>
              </p:cNvPr>
              <p:cNvSpPr/>
              <p:nvPr/>
            </p:nvSpPr>
            <p:spPr>
              <a:xfrm>
                <a:off x="1295162" y="847106"/>
                <a:ext cx="266700" cy="27208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11AAFFD-EB1E-B596-B2C9-9C4A17C32DC1}"/>
                  </a:ext>
                </a:extLst>
              </p:cNvPr>
              <p:cNvSpPr/>
              <p:nvPr/>
            </p:nvSpPr>
            <p:spPr>
              <a:xfrm>
                <a:off x="1340168" y="896493"/>
                <a:ext cx="176689" cy="172688"/>
              </a:xfrm>
              <a:prstGeom prst="ellipse">
                <a:avLst/>
              </a:prstGeom>
              <a:solidFill>
                <a:srgbClr val="CCEC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EF5FE77-72C6-8B6A-D9B8-14D2DD353220}"/>
                </a:ext>
              </a:extLst>
            </p:cNvPr>
            <p:cNvSpPr/>
            <p:nvPr/>
          </p:nvSpPr>
          <p:spPr>
            <a:xfrm>
              <a:off x="2933700" y="1271528"/>
              <a:ext cx="1516380" cy="321778"/>
            </a:xfrm>
            <a:prstGeom prst="rect">
              <a:avLst/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Day Course 3</a:t>
              </a:r>
              <a:endParaRPr lang="en-GB" sz="1200" b="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064275A-F63F-3F80-6F74-5CEC90AC07B9}"/>
                </a:ext>
              </a:extLst>
            </p:cNvPr>
            <p:cNvSpPr txBox="1"/>
            <p:nvPr/>
          </p:nvSpPr>
          <p:spPr>
            <a:xfrm>
              <a:off x="2842260" y="1593306"/>
              <a:ext cx="24536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Quality Control, Preprocessing and Differential Expression</a:t>
              </a:r>
              <a:endParaRPr lang="en-GB" sz="1100" dirty="0">
                <a:solidFill>
                  <a:schemeClr val="bg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5D4D7B-B8B8-58DD-919C-DABA4E0E1AF0}"/>
              </a:ext>
            </a:extLst>
          </p:cNvPr>
          <p:cNvGrpSpPr/>
          <p:nvPr/>
        </p:nvGrpSpPr>
        <p:grpSpPr>
          <a:xfrm>
            <a:off x="904815" y="4429729"/>
            <a:ext cx="3124438" cy="752665"/>
            <a:chOff x="2171462" y="1271528"/>
            <a:chExt cx="3124438" cy="752665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E8BED34-4936-6F6C-4B7D-2E2028D1A5AE}"/>
                </a:ext>
              </a:extLst>
            </p:cNvPr>
            <p:cNvGrpSpPr/>
            <p:nvPr/>
          </p:nvGrpSpPr>
          <p:grpSpPr>
            <a:xfrm>
              <a:off x="2171462" y="1296686"/>
              <a:ext cx="266700" cy="272082"/>
              <a:chOff x="1295162" y="847106"/>
              <a:chExt cx="266700" cy="272082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F7D0CBC1-1A30-F5EA-8BF7-CB35FA192272}"/>
                  </a:ext>
                </a:extLst>
              </p:cNvPr>
              <p:cNvSpPr/>
              <p:nvPr/>
            </p:nvSpPr>
            <p:spPr>
              <a:xfrm>
                <a:off x="1295162" y="847106"/>
                <a:ext cx="266700" cy="27208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BE0FAC-BA21-CB40-ABDA-1D02ADA973AB}"/>
                  </a:ext>
                </a:extLst>
              </p:cNvPr>
              <p:cNvSpPr/>
              <p:nvPr/>
            </p:nvSpPr>
            <p:spPr>
              <a:xfrm>
                <a:off x="1340168" y="896493"/>
                <a:ext cx="176689" cy="172688"/>
              </a:xfrm>
              <a:prstGeom prst="ellipse">
                <a:avLst/>
              </a:prstGeom>
              <a:solidFill>
                <a:srgbClr val="CCEC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E0423E0-7802-1A8B-DC34-B25E9465BA69}"/>
                </a:ext>
              </a:extLst>
            </p:cNvPr>
            <p:cNvSpPr/>
            <p:nvPr/>
          </p:nvSpPr>
          <p:spPr>
            <a:xfrm>
              <a:off x="2933700" y="1271528"/>
              <a:ext cx="1516380" cy="321778"/>
            </a:xfrm>
            <a:prstGeom prst="rect">
              <a:avLst/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Day Course 4</a:t>
              </a:r>
              <a:endParaRPr lang="en-GB" sz="1200" b="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5258EA-40A6-7749-BE1A-233AB7AC5431}"/>
                </a:ext>
              </a:extLst>
            </p:cNvPr>
            <p:cNvSpPr txBox="1"/>
            <p:nvPr/>
          </p:nvSpPr>
          <p:spPr>
            <a:xfrm>
              <a:off x="2842260" y="1593306"/>
              <a:ext cx="24536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Functional Analysis, Longitudinal &amp; Public Data</a:t>
              </a:r>
              <a:endParaRPr lang="en-GB" sz="1100" dirty="0">
                <a:solidFill>
                  <a:schemeClr val="bg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B0A57D1-D13B-5FC5-7489-97894F11DB97}"/>
              </a:ext>
            </a:extLst>
          </p:cNvPr>
          <p:cNvGrpSpPr/>
          <p:nvPr/>
        </p:nvGrpSpPr>
        <p:grpSpPr>
          <a:xfrm>
            <a:off x="904815" y="5495163"/>
            <a:ext cx="3124438" cy="1091219"/>
            <a:chOff x="2171462" y="1271528"/>
            <a:chExt cx="3124438" cy="109121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D4EB97-C476-CF68-1DD0-869586D2AEE9}"/>
                </a:ext>
              </a:extLst>
            </p:cNvPr>
            <p:cNvGrpSpPr/>
            <p:nvPr/>
          </p:nvGrpSpPr>
          <p:grpSpPr>
            <a:xfrm>
              <a:off x="2171462" y="1296686"/>
              <a:ext cx="266700" cy="272082"/>
              <a:chOff x="1295162" y="847106"/>
              <a:chExt cx="266700" cy="272082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9910088-4F1D-EC50-9031-50DE4E46233A}"/>
                  </a:ext>
                </a:extLst>
              </p:cNvPr>
              <p:cNvSpPr/>
              <p:nvPr/>
            </p:nvSpPr>
            <p:spPr>
              <a:xfrm>
                <a:off x="1295162" y="847106"/>
                <a:ext cx="266700" cy="27208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5BEE60E8-22B7-B32C-28E9-6F32D6F78726}"/>
                  </a:ext>
                </a:extLst>
              </p:cNvPr>
              <p:cNvSpPr/>
              <p:nvPr/>
            </p:nvSpPr>
            <p:spPr>
              <a:xfrm>
                <a:off x="1340168" y="896493"/>
                <a:ext cx="176689" cy="172688"/>
              </a:xfrm>
              <a:prstGeom prst="ellipse">
                <a:avLst/>
              </a:prstGeom>
              <a:solidFill>
                <a:srgbClr val="CCEC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 dirty="0">
                  <a:latin typeface="Fira Sans" panose="020B05030500000200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5D76C50-EADD-A25F-3D49-14489BA25418}"/>
                </a:ext>
              </a:extLst>
            </p:cNvPr>
            <p:cNvSpPr/>
            <p:nvPr/>
          </p:nvSpPr>
          <p:spPr>
            <a:xfrm>
              <a:off x="2933700" y="1271528"/>
              <a:ext cx="1516380" cy="321778"/>
            </a:xfrm>
            <a:prstGeom prst="rect">
              <a:avLst/>
            </a:prstGeom>
            <a:solidFill>
              <a:srgbClr val="CCEC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Day Course 5</a:t>
              </a:r>
              <a:endParaRPr lang="en-GB" sz="1200" b="1" dirty="0">
                <a:solidFill>
                  <a:schemeClr val="tx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68416BA-66D8-4178-B3F5-46041029CF89}"/>
                </a:ext>
              </a:extLst>
            </p:cNvPr>
            <p:cNvSpPr txBox="1"/>
            <p:nvPr/>
          </p:nvSpPr>
          <p:spPr>
            <a:xfrm>
              <a:off x="2842260" y="1593306"/>
              <a:ext cx="2453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Fira Sans" panose="020B0503050000020004" pitchFamily="34" charset="0"/>
                  <a:cs typeface="Arial" panose="020B0604020202020204" pitchFamily="34" charset="0"/>
                </a:rPr>
                <a:t>Application on Real Data, Advanced techniques, solving problems with supervised learning + Exploring future direction of proteomics</a:t>
              </a:r>
              <a:endParaRPr lang="en-GB" sz="1100" dirty="0">
                <a:solidFill>
                  <a:schemeClr val="bg1"/>
                </a:solidFill>
                <a:latin typeface="Fira Sans" panose="020B05030500000200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58B5DA55-DF4E-3061-3827-C7AB22D31D59}"/>
              </a:ext>
            </a:extLst>
          </p:cNvPr>
          <p:cNvSpPr txBox="1"/>
          <p:nvPr/>
        </p:nvSpPr>
        <p:spPr>
          <a:xfrm>
            <a:off x="292238" y="692420"/>
            <a:ext cx="4738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ira Sans" panose="020B0503050000020004" pitchFamily="34" charset="0"/>
                <a:cs typeface="Arial" panose="020B0604020202020204" pitchFamily="34" charset="0"/>
              </a:rPr>
              <a:t>In-person: </a:t>
            </a:r>
            <a:r>
              <a:rPr lang="en-US" i="1" dirty="0">
                <a:latin typeface="Fira Sans" panose="020B0503050000020004" pitchFamily="34" charset="0"/>
                <a:cs typeface="Arial" panose="020B0604020202020204" pitchFamily="34" charset="0"/>
              </a:rPr>
              <a:t>r4proteomics</a:t>
            </a:r>
            <a:r>
              <a:rPr lang="en-US" dirty="0">
                <a:latin typeface="Fira Sans" panose="020B0503050000020004" pitchFamily="34" charset="0"/>
                <a:cs typeface="Arial" panose="020B0604020202020204" pitchFamily="34" charset="0"/>
              </a:rPr>
              <a:t> training</a:t>
            </a:r>
            <a:endParaRPr lang="en-GB" dirty="0">
              <a:latin typeface="Fira Sans" panose="020B05030500000200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AB3AA0A-771C-EAC7-8AC7-7B518661E70D}"/>
              </a:ext>
            </a:extLst>
          </p:cNvPr>
          <p:cNvSpPr txBox="1"/>
          <p:nvPr/>
        </p:nvSpPr>
        <p:spPr>
          <a:xfrm>
            <a:off x="292238" y="139157"/>
            <a:ext cx="7850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ira Sans" panose="020B0503050000020004" pitchFamily="34" charset="0"/>
                <a:cs typeface="Arial" panose="020B0604020202020204" pitchFamily="34" charset="0"/>
              </a:rPr>
              <a:t>A </a:t>
            </a:r>
            <a:r>
              <a:rPr lang="en-US" sz="2400" b="1" dirty="0">
                <a:latin typeface="Fira Sans" panose="020B0503050000020004" pitchFamily="34" charset="0"/>
                <a:cs typeface="Arial" panose="020B0604020202020204" pitchFamily="34" charset="0"/>
              </a:rPr>
              <a:t>5-day training</a:t>
            </a:r>
            <a:r>
              <a:rPr lang="en-US" sz="2400" dirty="0">
                <a:latin typeface="Fira Sans" panose="020B0503050000020004" pitchFamily="34" charset="0"/>
                <a:cs typeface="Arial" panose="020B0604020202020204" pitchFamily="34" charset="0"/>
              </a:rPr>
              <a:t> on proteomics data analysis using </a:t>
            </a:r>
            <a:r>
              <a:rPr lang="en-US" sz="2400" b="1" dirty="0">
                <a:latin typeface="Fira Sans" panose="020B0503050000020004" pitchFamily="34" charset="0"/>
                <a:cs typeface="Arial" panose="020B0604020202020204" pitchFamily="34" charset="0"/>
              </a:rPr>
              <a:t>R</a:t>
            </a:r>
            <a:r>
              <a:rPr lang="en-US" sz="2400" dirty="0">
                <a:latin typeface="Fira Sans" panose="020B0503050000020004" pitchFamily="34" charset="0"/>
                <a:cs typeface="Arial" panose="020B0604020202020204" pitchFamily="34" charset="0"/>
              </a:rPr>
              <a:t>.</a:t>
            </a:r>
            <a:endParaRPr lang="en-GB" sz="2400" dirty="0">
              <a:latin typeface="Fira Sans" panose="020B05030500000200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0EA54D-5BA8-0C63-00E1-F88E4F3B6ABC}"/>
              </a:ext>
            </a:extLst>
          </p:cNvPr>
          <p:cNvSpPr txBox="1"/>
          <p:nvPr/>
        </p:nvSpPr>
        <p:spPr>
          <a:xfrm>
            <a:off x="7256456" y="2459752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Fira Sans" panose="020B0503050000020004" pitchFamily="34" charset="0"/>
                <a:cs typeface="Arial" panose="020B0604020202020204" pitchFamily="34" charset="0"/>
              </a:rPr>
              <a:t>Supporting materials available on: </a:t>
            </a:r>
            <a:r>
              <a:rPr lang="en-GB" sz="1600" dirty="0">
                <a:latin typeface="Fira Sans" panose="020B0503050000020004" pitchFamily="34" charset="0"/>
                <a:cs typeface="Arial" panose="020B0604020202020204" pitchFamily="34" charset="0"/>
                <a:hlinkClick r:id="rId2"/>
              </a:rPr>
              <a:t>Welcome | r4proteomics</a:t>
            </a:r>
            <a:endParaRPr lang="en-GB" sz="1600" dirty="0">
              <a:latin typeface="Fira Sans" panose="020B05030500000200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46BE8C-7F4D-1804-64A2-49AD13A8398F}"/>
              </a:ext>
            </a:extLst>
          </p:cNvPr>
          <p:cNvSpPr txBox="1"/>
          <p:nvPr/>
        </p:nvSpPr>
        <p:spPr>
          <a:xfrm>
            <a:off x="7256456" y="4597619"/>
            <a:ext cx="3469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Fira Sans" panose="020B0503050000020004" pitchFamily="34" charset="0"/>
                <a:cs typeface="Arial" panose="020B0604020202020204" pitchFamily="34" charset="0"/>
              </a:rPr>
              <a:t>written by: </a:t>
            </a:r>
          </a:p>
          <a:p>
            <a:r>
              <a:rPr lang="en-GB" sz="1600" b="1" dirty="0">
                <a:latin typeface="Fira Sans" panose="020B0503050000020004" pitchFamily="34" charset="0"/>
                <a:cs typeface="Arial" panose="020B0604020202020204" pitchFamily="34" charset="0"/>
              </a:rPr>
              <a:t>Miguel CASANOVA</a:t>
            </a:r>
            <a:r>
              <a:rPr lang="en-GB" sz="1600" dirty="0">
                <a:latin typeface="Fira Sans" panose="020B0503050000020004" pitchFamily="34" charset="0"/>
                <a:cs typeface="Arial" panose="020B0604020202020204" pitchFamily="34" charset="0"/>
              </a:rPr>
              <a:t>, PhD &amp; </a:t>
            </a:r>
          </a:p>
          <a:p>
            <a:r>
              <a:rPr lang="en-GB" sz="1600" b="1" dirty="0">
                <a:latin typeface="Fira Sans" panose="020B0503050000020004" pitchFamily="34" charset="0"/>
                <a:cs typeface="Arial" panose="020B0604020202020204" pitchFamily="34" charset="0"/>
              </a:rPr>
              <a:t>Dany MUKESHA</a:t>
            </a:r>
          </a:p>
        </p:txBody>
      </p:sp>
    </p:spTree>
    <p:extLst>
      <p:ext uri="{BB962C8B-B14F-4D97-AF65-F5344CB8AC3E}">
        <p14:creationId xmlns:p14="http://schemas.microsoft.com/office/powerpoint/2010/main" val="34801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35DA-D8F6-7F15-8D5B-043761D12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3750B68-637C-C5F2-FC29-4389140D957B}"/>
              </a:ext>
            </a:extLst>
          </p:cNvPr>
          <p:cNvGrpSpPr/>
          <p:nvPr/>
        </p:nvGrpSpPr>
        <p:grpSpPr>
          <a:xfrm>
            <a:off x="493776" y="270357"/>
            <a:ext cx="8366759" cy="5042227"/>
            <a:chOff x="624077" y="270357"/>
            <a:chExt cx="7800596" cy="504222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1A50992-8086-C255-B20E-5F8837D9DA27}"/>
                </a:ext>
              </a:extLst>
            </p:cNvPr>
            <p:cNvSpPr txBox="1"/>
            <p:nvPr/>
          </p:nvSpPr>
          <p:spPr>
            <a:xfrm>
              <a:off x="624078" y="1369582"/>
              <a:ext cx="5154930" cy="39430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spcAft>
                  <a:spcPts val="600"/>
                </a:spcAft>
                <a:buNone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The Proteome</a:t>
              </a:r>
            </a:p>
            <a:p>
              <a:pPr marL="285750" indent="-285750" algn="l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Definition: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The entire complement of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proteins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expressed by a cell, tissue, or organism at a particular time, under specific conditions. </a:t>
              </a:r>
            </a:p>
            <a:p>
              <a:pPr marL="285750" indent="-285750" algn="l">
                <a:lnSpc>
                  <a:spcPct val="150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Dynamic Nature: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Unlike the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genome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(which is relatively static), the proteome is highly dynamic, fluctuating rapidly in response to environmental stimuli, cell cycle stage, and disease state.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5AE06FD-1EA2-945F-48CA-0068FDEF4E49}"/>
                </a:ext>
              </a:extLst>
            </p:cNvPr>
            <p:cNvSpPr txBox="1"/>
            <p:nvPr/>
          </p:nvSpPr>
          <p:spPr>
            <a:xfrm>
              <a:off x="624077" y="270357"/>
              <a:ext cx="780059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Introduction to the Proteome and Proteomics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5210272-5E23-833B-0B85-59B8C9223EFD}"/>
              </a:ext>
            </a:extLst>
          </p:cNvPr>
          <p:cNvGrpSpPr/>
          <p:nvPr/>
        </p:nvGrpSpPr>
        <p:grpSpPr>
          <a:xfrm>
            <a:off x="6169152" y="270357"/>
            <a:ext cx="5946648" cy="4057342"/>
            <a:chOff x="624078" y="270357"/>
            <a:chExt cx="5869258" cy="4057342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847023A-EED8-B1A6-4C53-C8A9DF6124E0}"/>
                </a:ext>
              </a:extLst>
            </p:cNvPr>
            <p:cNvSpPr txBox="1"/>
            <p:nvPr/>
          </p:nvSpPr>
          <p:spPr>
            <a:xfrm>
              <a:off x="624078" y="1369582"/>
              <a:ext cx="5869258" cy="2958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Proteomics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Definition: 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</a:rPr>
                <a:t>The large-scale study of the proteome, including the </a:t>
              </a: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expression, structure, function, interactions, 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</a:rPr>
                <a:t>and </a:t>
              </a: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modifications of proteins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</a:rPr>
                <a:t>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Goal: 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</a:rPr>
                <a:t>To provide a holistic, functional understanding of biological systems that cannot be achieved by studying DNA or RNA alone.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5AAA06-1A16-B640-709E-EA14E0072BB4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672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endParaRPr lang="en-US" sz="2800" b="0" i="0" dirty="0">
                <a:solidFill>
                  <a:srgbClr val="1A292C"/>
                </a:solidFill>
                <a:effectLst/>
                <a:latin typeface="Fira Sans" panose="020F050202020403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A36B0F0-B1AF-69D3-77EB-59D71AFA75AD}"/>
              </a:ext>
            </a:extLst>
          </p:cNvPr>
          <p:cNvSpPr txBox="1"/>
          <p:nvPr/>
        </p:nvSpPr>
        <p:spPr>
          <a:xfrm>
            <a:off x="493776" y="5739574"/>
            <a:ext cx="9747504" cy="40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>
              <a:lnSpc>
                <a:spcPct val="150000"/>
              </a:lnSpc>
            </a:pPr>
            <a:r>
              <a:rPr lang="en-US" sz="1500" i="1" dirty="0">
                <a:solidFill>
                  <a:srgbClr val="000000"/>
                </a:solidFill>
                <a:latin typeface="Fira Sans" panose="020B0503050000020004" pitchFamily="34" charset="0"/>
              </a:rPr>
              <a:t>Changes in </a:t>
            </a:r>
            <a:r>
              <a:rPr lang="en-US" sz="1500" b="1" i="1" dirty="0">
                <a:solidFill>
                  <a:srgbClr val="000000"/>
                </a:solidFill>
                <a:latin typeface="Fira Sans" panose="020B0503050000020004" pitchFamily="34" charset="0"/>
              </a:rPr>
              <a:t>mRNA</a:t>
            </a:r>
            <a:r>
              <a:rPr lang="en-US" sz="1500" i="1" dirty="0">
                <a:solidFill>
                  <a:srgbClr val="000000"/>
                </a:solidFill>
                <a:latin typeface="Fira Sans" panose="020B0503050000020004" pitchFamily="34" charset="0"/>
              </a:rPr>
              <a:t> </a:t>
            </a:r>
            <a:r>
              <a:rPr lang="en-US" sz="1500" b="1" i="1" dirty="0">
                <a:solidFill>
                  <a:srgbClr val="000000"/>
                </a:solidFill>
                <a:latin typeface="Fira Sans" panose="020B0503050000020004" pitchFamily="34" charset="0"/>
              </a:rPr>
              <a:t>expression</a:t>
            </a:r>
            <a:r>
              <a:rPr lang="en-US" sz="1500" i="1" dirty="0">
                <a:solidFill>
                  <a:srgbClr val="000000"/>
                </a:solidFill>
                <a:latin typeface="Fira Sans" panose="020B0503050000020004" pitchFamily="34" charset="0"/>
              </a:rPr>
              <a:t> rarely perfectly correlate with changes in </a:t>
            </a:r>
            <a:r>
              <a:rPr lang="en-US" sz="1500" b="1" i="1" dirty="0">
                <a:solidFill>
                  <a:srgbClr val="000000"/>
                </a:solidFill>
                <a:latin typeface="Fira Sans" panose="020B0503050000020004" pitchFamily="34" charset="0"/>
              </a:rPr>
              <a:t>protein function or abundance.</a:t>
            </a:r>
          </a:p>
        </p:txBody>
      </p:sp>
    </p:spTree>
    <p:extLst>
      <p:ext uri="{BB962C8B-B14F-4D97-AF65-F5344CB8AC3E}">
        <p14:creationId xmlns:p14="http://schemas.microsoft.com/office/powerpoint/2010/main" val="1928302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04044-DBF9-041B-50E1-B4DA9077B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777F88-CDC2-EC0B-0458-F8B34A4DD222}"/>
              </a:ext>
            </a:extLst>
          </p:cNvPr>
          <p:cNvSpPr txBox="1"/>
          <p:nvPr/>
        </p:nvSpPr>
        <p:spPr>
          <a:xfrm>
            <a:off x="493776" y="270357"/>
            <a:ext cx="83667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0" i="0" dirty="0">
                <a:solidFill>
                  <a:srgbClr val="1A292C"/>
                </a:solidFill>
                <a:effectLst/>
                <a:latin typeface="Fira Sans" panose="020F0502020204030204" pitchFamily="34" charset="0"/>
              </a:rPr>
              <a:t>Why Study Proteins? (The Complexity Gap)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EC7B7A-CD7F-963A-C3E4-507D25F72B86}"/>
              </a:ext>
            </a:extLst>
          </p:cNvPr>
          <p:cNvSpPr txBox="1"/>
          <p:nvPr/>
        </p:nvSpPr>
        <p:spPr>
          <a:xfrm>
            <a:off x="6169152" y="270357"/>
            <a:ext cx="5222901" cy="672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1A292C"/>
              </a:solidFill>
              <a:effectLst/>
              <a:latin typeface="Fira Sans" panose="020F050202020403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FE75EC5-CD74-CF0B-58DA-55AAD6885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336058"/>
              </p:ext>
            </p:extLst>
          </p:nvPr>
        </p:nvGraphicFramePr>
        <p:xfrm>
          <a:off x="838200" y="1216152"/>
          <a:ext cx="10783824" cy="4263421"/>
        </p:xfrm>
        <a:graphic>
          <a:graphicData uri="http://schemas.openxmlformats.org/drawingml/2006/table">
            <a:tbl>
              <a:tblPr/>
              <a:tblGrid>
                <a:gridCol w="2462784">
                  <a:extLst>
                    <a:ext uri="{9D8B030D-6E8A-4147-A177-3AD203B41FA5}">
                      <a16:colId xmlns:a16="http://schemas.microsoft.com/office/drawing/2014/main" val="659332361"/>
                    </a:ext>
                  </a:extLst>
                </a:gridCol>
                <a:gridCol w="3483864">
                  <a:extLst>
                    <a:ext uri="{9D8B030D-6E8A-4147-A177-3AD203B41FA5}">
                      <a16:colId xmlns:a16="http://schemas.microsoft.com/office/drawing/2014/main" val="3942756304"/>
                    </a:ext>
                  </a:extLst>
                </a:gridCol>
                <a:gridCol w="4837176">
                  <a:extLst>
                    <a:ext uri="{9D8B030D-6E8A-4147-A177-3AD203B41FA5}">
                      <a16:colId xmlns:a16="http://schemas.microsoft.com/office/drawing/2014/main" val="3866461926"/>
                    </a:ext>
                  </a:extLst>
                </a:gridCol>
              </a:tblGrid>
              <a:tr h="6153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Feature</a:t>
                      </a:r>
                      <a:endParaRPr lang="en-GB" sz="1600" dirty="0">
                        <a:solidFill>
                          <a:srgbClr val="1B1C1D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Genomics/Transcriptomics</a:t>
                      </a:r>
                      <a:endParaRPr lang="en-GB" sz="1600" dirty="0">
                        <a:solidFill>
                          <a:srgbClr val="1B1C1D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Proteomics</a:t>
                      </a:r>
                      <a:endParaRPr lang="en-GB" sz="1600" dirty="0">
                        <a:solidFill>
                          <a:srgbClr val="1B1C1D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896938"/>
                  </a:ext>
                </a:extLst>
              </a:tr>
              <a:tr h="6153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Analyte</a:t>
                      </a:r>
                      <a:endParaRPr lang="en-GB" sz="1600">
                        <a:solidFill>
                          <a:srgbClr val="1B1C1D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DNA/RNA (genes/transcripts)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Proteins</a:t>
                      </a:r>
                      <a:r>
                        <a:rPr lang="en-GB" sz="160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 (functional molecules)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096751"/>
                  </a:ext>
                </a:extLst>
              </a:tr>
              <a:tr h="6153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Complexity</a:t>
                      </a:r>
                      <a:endParaRPr lang="en-GB" sz="1600">
                        <a:solidFill>
                          <a:srgbClr val="1B1C1D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Relatively simple (linear sequence)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Extremely Complex</a:t>
                      </a:r>
                      <a:endParaRPr lang="en-GB" sz="1600">
                        <a:solidFill>
                          <a:srgbClr val="1B1C1D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388566"/>
                  </a:ext>
                </a:extLst>
              </a:tr>
              <a:tr h="6153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Protein Count</a:t>
                      </a:r>
                      <a:endParaRPr lang="en-GB" sz="1600">
                        <a:solidFill>
                          <a:srgbClr val="1B1C1D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~20,000 human genes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&gt;1,000,000</a:t>
                      </a: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 distinct protein species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085833"/>
                  </a:ext>
                </a:extLst>
              </a:tr>
              <a:tr h="18020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Regulation</a:t>
                      </a:r>
                      <a:endParaRPr lang="en-GB" sz="1600" dirty="0">
                        <a:solidFill>
                          <a:srgbClr val="1B1C1D"/>
                        </a:solidFill>
                        <a:effectLst/>
                        <a:latin typeface="Fira Sans" panose="020B0503050000020004" pitchFamily="34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Does not account for PTMs, splicing, or localization.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Accounts for:</a:t>
                      </a:r>
                      <a:r>
                        <a:rPr lang="en-GB" sz="1600" dirty="0">
                          <a:solidFill>
                            <a:srgbClr val="1B1C1D"/>
                          </a:solidFill>
                          <a:effectLst/>
                          <a:latin typeface="Fira Sans" panose="020B0503050000020004" pitchFamily="34" charset="0"/>
                        </a:rPr>
                        <a:t> Post-Translational Modifications (PTMs), Isoforms, Protein-Protein Interactions, Localization.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69636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C296230-7B02-0362-935C-F4E8DF9C9187}"/>
              </a:ext>
            </a:extLst>
          </p:cNvPr>
          <p:cNvSpPr txBox="1"/>
          <p:nvPr/>
        </p:nvSpPr>
        <p:spPr>
          <a:xfrm>
            <a:off x="493776" y="5739574"/>
            <a:ext cx="9747504" cy="402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>
              <a:lnSpc>
                <a:spcPct val="150000"/>
              </a:lnSpc>
            </a:pPr>
            <a:r>
              <a:rPr lang="en-US" sz="1500" i="1" dirty="0">
                <a:solidFill>
                  <a:srgbClr val="000000"/>
                </a:solidFill>
                <a:latin typeface="Fira Sans" panose="020B0503050000020004" pitchFamily="34" charset="0"/>
              </a:rPr>
              <a:t>Changes in </a:t>
            </a:r>
            <a:r>
              <a:rPr lang="en-US" sz="1500" b="1" i="1" dirty="0">
                <a:solidFill>
                  <a:srgbClr val="000000"/>
                </a:solidFill>
                <a:latin typeface="Fira Sans" panose="020B0503050000020004" pitchFamily="34" charset="0"/>
              </a:rPr>
              <a:t>mRNA</a:t>
            </a:r>
            <a:r>
              <a:rPr lang="en-US" sz="1500" i="1" dirty="0">
                <a:solidFill>
                  <a:srgbClr val="000000"/>
                </a:solidFill>
                <a:latin typeface="Fira Sans" panose="020B0503050000020004" pitchFamily="34" charset="0"/>
              </a:rPr>
              <a:t> </a:t>
            </a:r>
            <a:r>
              <a:rPr lang="en-US" sz="1500" b="1" i="1" dirty="0">
                <a:solidFill>
                  <a:srgbClr val="000000"/>
                </a:solidFill>
                <a:latin typeface="Fira Sans" panose="020B0503050000020004" pitchFamily="34" charset="0"/>
              </a:rPr>
              <a:t>expression</a:t>
            </a:r>
            <a:r>
              <a:rPr lang="en-US" sz="1500" i="1" dirty="0">
                <a:solidFill>
                  <a:srgbClr val="000000"/>
                </a:solidFill>
                <a:latin typeface="Fira Sans" panose="020B0503050000020004" pitchFamily="34" charset="0"/>
              </a:rPr>
              <a:t> rarely perfectly correlate with changes in </a:t>
            </a:r>
            <a:r>
              <a:rPr lang="en-US" sz="1500" b="1" i="1" dirty="0">
                <a:solidFill>
                  <a:srgbClr val="000000"/>
                </a:solidFill>
                <a:latin typeface="Fira Sans" panose="020B0503050000020004" pitchFamily="34" charset="0"/>
              </a:rPr>
              <a:t>protein function or abundance.</a:t>
            </a:r>
          </a:p>
        </p:txBody>
      </p:sp>
    </p:spTree>
    <p:extLst>
      <p:ext uri="{BB962C8B-B14F-4D97-AF65-F5344CB8AC3E}">
        <p14:creationId xmlns:p14="http://schemas.microsoft.com/office/powerpoint/2010/main" val="6759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75733-583A-605D-2744-BA4A959E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E5FE515-F04F-3AD6-4A08-36B3FB3D11B5}"/>
              </a:ext>
            </a:extLst>
          </p:cNvPr>
          <p:cNvGrpSpPr/>
          <p:nvPr/>
        </p:nvGrpSpPr>
        <p:grpSpPr>
          <a:xfrm>
            <a:off x="493776" y="270357"/>
            <a:ext cx="10735055" cy="5561985"/>
            <a:chOff x="624077" y="270357"/>
            <a:chExt cx="10008634" cy="556198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22D647B-C5E7-069B-B3FF-1ED2D430E001}"/>
                </a:ext>
              </a:extLst>
            </p:cNvPr>
            <p:cNvSpPr txBox="1"/>
            <p:nvPr/>
          </p:nvSpPr>
          <p:spPr>
            <a:xfrm>
              <a:off x="624077" y="1369582"/>
              <a:ext cx="10008634" cy="4462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Expression Proteomics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Focus: Quantitative and qualitative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comparison of protein levels between different biological states (e.g., healthy vs. diseased tissue).</a:t>
              </a:r>
            </a:p>
            <a:p>
              <a:pPr marL="800100" lvl="1" indent="-3429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Aims: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Identify proteins that are up- or down-regulated in specific conditions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(potential biomarkers).	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Structural Proteomics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Focus: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Determining the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three-dimensional (3D) structures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of all proteins in a proteome.</a:t>
              </a:r>
            </a:p>
            <a:p>
              <a:pPr marL="800100" lvl="1" indent="-3429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Techniques: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X-ray Crystallography, Nuclear Magnetic Resonance (NMR), and Cryo-Electron Microscopy (Cryo-EM).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Functional Proteomics (</a:t>
              </a:r>
              <a:r>
                <a:rPr lang="en-US" b="1" i="0" dirty="0" err="1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Interactomics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)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Focus: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Understanding the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biological role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of proteins, their cellular location, and their network of interactions (Protein-Protein Interactions).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Aims: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Map cellular pathways and signaling cascades.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31E24E8-D856-2FC1-2951-44E442C09B71}"/>
                </a:ext>
              </a:extLst>
            </p:cNvPr>
            <p:cNvSpPr txBox="1"/>
            <p:nvPr/>
          </p:nvSpPr>
          <p:spPr>
            <a:xfrm>
              <a:off x="624077" y="270357"/>
              <a:ext cx="780059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Branches of Proteomics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11F5A1A-E786-85D7-ADB3-8BC87172A244}"/>
              </a:ext>
            </a:extLst>
          </p:cNvPr>
          <p:cNvSpPr txBox="1"/>
          <p:nvPr/>
        </p:nvSpPr>
        <p:spPr>
          <a:xfrm>
            <a:off x="6169152" y="270357"/>
            <a:ext cx="5222901" cy="672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1A292C"/>
              </a:solidFill>
              <a:effectLst/>
              <a:latin typeface="Fira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99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97215-12EC-B1D0-F68F-5C499C6F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3EB8EC2-84FD-3263-855C-E14E377049FF}"/>
              </a:ext>
            </a:extLst>
          </p:cNvPr>
          <p:cNvGrpSpPr/>
          <p:nvPr/>
        </p:nvGrpSpPr>
        <p:grpSpPr>
          <a:xfrm>
            <a:off x="493776" y="270357"/>
            <a:ext cx="10735055" cy="5561985"/>
            <a:chOff x="624077" y="270357"/>
            <a:chExt cx="10008634" cy="556198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1E916EA-D56D-D897-FE37-786C11E1704A}"/>
                </a:ext>
              </a:extLst>
            </p:cNvPr>
            <p:cNvSpPr txBox="1"/>
            <p:nvPr/>
          </p:nvSpPr>
          <p:spPr>
            <a:xfrm>
              <a:off x="624077" y="1369582"/>
              <a:ext cx="10008634" cy="4462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The standard methodology involves four main steps:</a:t>
              </a:r>
            </a:p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Sample Preparation: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Extraction &amp; Solubilization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: Lysis of cells/tissues to extract total protein content.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Digestion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: Proteins are enzymatically cleaved (typically using Trypsin) into smaller, more manageable fragments called peptides.</a:t>
              </a:r>
            </a:p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Separation/Fractionation: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Complex peptide mixtures are separated to reduce complexity before MS analysis.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Technique: Liquid Chromatography (LC)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(e.g., Nano-HPLC or multi-dimensional LC).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Protein Identification &amp; Quantification (Mass Spectrometry)</a:t>
              </a:r>
            </a:p>
            <a:p>
              <a:pPr marL="742950" lvl="1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Peptides are ionized and analyzed based on their mass-to-charge ratio (m/z).</a:t>
              </a:r>
            </a:p>
            <a:p>
              <a:pPr marL="342900" indent="-342900" algn="l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Data Analysis (Bioinformatics)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Mass spectra are matched against protein sequence databases (e.g., FASTA files) to identify the original proteins and quantify their abundance.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47C17B8-75B5-9F99-F3FB-8E2382F349D1}"/>
                </a:ext>
              </a:extLst>
            </p:cNvPr>
            <p:cNvSpPr txBox="1"/>
            <p:nvPr/>
          </p:nvSpPr>
          <p:spPr>
            <a:xfrm>
              <a:off x="624077" y="270357"/>
              <a:ext cx="90708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The General Proteomics Workflow (Bottom-Up Approach)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D4324AC-CAB1-3565-F668-55AACDCAB3EE}"/>
              </a:ext>
            </a:extLst>
          </p:cNvPr>
          <p:cNvSpPr txBox="1"/>
          <p:nvPr/>
        </p:nvSpPr>
        <p:spPr>
          <a:xfrm>
            <a:off x="6169152" y="270357"/>
            <a:ext cx="5222901" cy="672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1A292C"/>
              </a:solidFill>
              <a:effectLst/>
              <a:latin typeface="Fira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96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AB494-7A2E-342A-469F-252FBD246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0E094CA-A719-517C-B03A-00D48FCF81A9}"/>
              </a:ext>
            </a:extLst>
          </p:cNvPr>
          <p:cNvGrpSpPr/>
          <p:nvPr/>
        </p:nvGrpSpPr>
        <p:grpSpPr>
          <a:xfrm>
            <a:off x="493776" y="270357"/>
            <a:ext cx="10735055" cy="4654044"/>
            <a:chOff x="624077" y="270357"/>
            <a:chExt cx="10008634" cy="465404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0A40F4B-95F7-0EA6-5527-C12F336CB797}"/>
                </a:ext>
              </a:extLst>
            </p:cNvPr>
            <p:cNvSpPr txBox="1"/>
            <p:nvPr/>
          </p:nvSpPr>
          <p:spPr>
            <a:xfrm>
              <a:off x="624077" y="1369582"/>
              <a:ext cx="10008634" cy="35548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Two-Dimensional Gel Electrophoresis (2D-PAGE)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Method: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Separates intact proteins in two steps:</a:t>
              </a:r>
            </a:p>
            <a:p>
              <a:pPr marL="1257300" lvl="2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1st Dimension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: Separation based on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isoelectric point (</a:t>
              </a:r>
              <a:r>
                <a:rPr lang="en-US" b="1" i="0" dirty="0" err="1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pI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)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using Isoelectric Focusing (IEF).</a:t>
              </a:r>
            </a:p>
            <a:p>
              <a:pPr marL="1257300" lvl="2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2nd Dimension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: Separation based on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molecular mass (</a:t>
              </a:r>
              <a:r>
                <a:rPr lang="en-US" b="1" i="0" dirty="0" err="1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kDa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)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using SDS-PAGE.</a:t>
              </a:r>
            </a:p>
            <a:p>
              <a:pPr marL="800100" lvl="1" indent="-342900">
                <a:spcAft>
                  <a:spcPts val="18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Output: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Creates a visual map of the proteome as a series of distinct spots, allowing comparison between samples (e.g., 2D-DIGE).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Liquid Chromatography (LC)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Method: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Used for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"Gel-Free"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or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Shotgun Proteomics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.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Peptides are separated based on their hydrophobicity before being injected directly into the Mass Spectrometer.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9B1A01-32F5-D19E-DF1F-453EB8A3F8F2}"/>
                </a:ext>
              </a:extLst>
            </p:cNvPr>
            <p:cNvSpPr txBox="1"/>
            <p:nvPr/>
          </p:nvSpPr>
          <p:spPr>
            <a:xfrm>
              <a:off x="624077" y="270357"/>
              <a:ext cx="90708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Key Technologies: Separation and Visualization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50A8DBB-DDBF-2270-5293-7E1332732247}"/>
              </a:ext>
            </a:extLst>
          </p:cNvPr>
          <p:cNvSpPr txBox="1"/>
          <p:nvPr/>
        </p:nvSpPr>
        <p:spPr>
          <a:xfrm>
            <a:off x="6169152" y="270357"/>
            <a:ext cx="5222901" cy="672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1A292C"/>
              </a:solidFill>
              <a:effectLst/>
              <a:latin typeface="Fira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134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1094-15C6-E7B2-E040-4E8DDB0BE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3DC995-8AAE-F6D9-3144-4154D6FD4C81}"/>
              </a:ext>
            </a:extLst>
          </p:cNvPr>
          <p:cNvGrpSpPr/>
          <p:nvPr/>
        </p:nvGrpSpPr>
        <p:grpSpPr>
          <a:xfrm>
            <a:off x="493776" y="270358"/>
            <a:ext cx="5529073" cy="5476039"/>
            <a:chOff x="624077" y="270357"/>
            <a:chExt cx="10008634" cy="501135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7532384-E6F9-76FA-6C1F-C7868F4B2983}"/>
                </a:ext>
              </a:extLst>
            </p:cNvPr>
            <p:cNvSpPr txBox="1"/>
            <p:nvPr/>
          </p:nvSpPr>
          <p:spPr>
            <a:xfrm>
              <a:off x="624077" y="1479310"/>
              <a:ext cx="10008634" cy="38023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1200"/>
                </a:spcAft>
                <a:buAutoNum type="arabicPeriod"/>
              </a:pPr>
              <a:r>
                <a:rPr lang="en-US" sz="1600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Mass Spectrometry (MS) </a:t>
              </a:r>
              <a:r>
                <a:rPr lang="en-US" sz="160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is the central tool in modern proteomics. </a:t>
              </a:r>
            </a:p>
            <a:p>
              <a:pPr marL="342900" indent="-342900" algn="l">
                <a:spcAft>
                  <a:spcPts val="1200"/>
                </a:spcAft>
                <a:buAutoNum type="arabicPeriod"/>
              </a:pPr>
              <a:r>
                <a:rPr lang="en-US" sz="1600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Ionization: </a:t>
              </a:r>
              <a:r>
                <a:rPr lang="en-US" sz="160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Peptides are converted into charged ions (e.g., using </a:t>
              </a:r>
              <a:r>
                <a:rPr lang="en-US" sz="1600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Electrospray Ionization (ESI)</a:t>
              </a:r>
              <a:r>
                <a:rPr lang="en-US" sz="160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).</a:t>
              </a:r>
            </a:p>
            <a:p>
              <a:pPr marL="342900" indent="-342900" algn="l">
                <a:spcAft>
                  <a:spcPts val="1200"/>
                </a:spcAft>
                <a:buAutoNum type="arabicPeriod"/>
              </a:pPr>
              <a:r>
                <a:rPr lang="en-US" sz="1600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MS1 (Precursor Scan)</a:t>
              </a:r>
              <a:r>
                <a:rPr lang="en-US" sz="160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: Measures the </a:t>
              </a:r>
              <a:r>
                <a:rPr lang="en-US" sz="1600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mass-to-charge ratio (m/z) </a:t>
              </a:r>
              <a:r>
                <a:rPr lang="en-US" sz="160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of the intact peptides.</a:t>
              </a:r>
            </a:p>
            <a:p>
              <a:pPr marL="342900" indent="-342900" algn="l">
                <a:spcAft>
                  <a:spcPts val="1200"/>
                </a:spcAft>
                <a:buAutoNum type="arabicPeriod"/>
              </a:pPr>
              <a:r>
                <a:rPr lang="en-US" sz="1600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Fragmentation (MS/MS or MS2): </a:t>
              </a:r>
              <a:r>
                <a:rPr lang="en-US" sz="160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Selected peptides are isolated and broken down into smaller fragment ions (e.g., b-ions and y-ions) via Collision-Induced Dissociation (CID).</a:t>
              </a:r>
            </a:p>
            <a:p>
              <a:pPr marL="342900" indent="-342900" algn="l">
                <a:spcAft>
                  <a:spcPts val="1200"/>
                </a:spcAft>
                <a:buAutoNum type="arabicPeriod"/>
              </a:pPr>
              <a:r>
                <a:rPr lang="en-US" sz="1600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Identification</a:t>
              </a:r>
              <a:r>
                <a:rPr lang="en-US" sz="160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: The unique pattern of fragment ions (the </a:t>
              </a:r>
              <a:r>
                <a:rPr lang="en-US" sz="1600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fragmentation spectrum</a:t>
              </a:r>
              <a:r>
                <a:rPr lang="en-US" sz="160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) acts as a fingerprint that is used to determine the peptide's amino acid sequence.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061AB1-861D-E3C0-2D86-56CF7DF1CE56}"/>
                </a:ext>
              </a:extLst>
            </p:cNvPr>
            <p:cNvSpPr txBox="1"/>
            <p:nvPr/>
          </p:nvSpPr>
          <p:spPr>
            <a:xfrm>
              <a:off x="624077" y="270357"/>
              <a:ext cx="907085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Core Technology: </a:t>
              </a:r>
            </a:p>
            <a:p>
              <a:pPr algn="l"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Mass Spectrometry (MS)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2E95E44-8C72-A009-CF40-B5A41F5894E4}"/>
              </a:ext>
            </a:extLst>
          </p:cNvPr>
          <p:cNvSpPr txBox="1"/>
          <p:nvPr/>
        </p:nvSpPr>
        <p:spPr>
          <a:xfrm>
            <a:off x="6169152" y="270357"/>
            <a:ext cx="5222901" cy="672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1A292C"/>
              </a:solidFill>
              <a:effectLst/>
              <a:latin typeface="Fira Sans" panose="020F0502020204030204" pitchFamily="34" charset="0"/>
            </a:endParaRPr>
          </a:p>
        </p:txBody>
      </p:sp>
      <p:pic>
        <p:nvPicPr>
          <p:cNvPr id="1026" name="Picture 2" descr="a tandem mass spectrometer (MS/MS) diagram">
            <a:extLst>
              <a:ext uri="{FF2B5EF4-FFF2-40B4-BE49-F238E27FC236}">
                <a16:creationId xmlns:a16="http://schemas.microsoft.com/office/drawing/2014/main" id="{ACCEE40B-2671-7AD4-FF65-737A7995C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434" y="1252729"/>
            <a:ext cx="5817378" cy="387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532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C47C5-65D4-4090-4226-2FB915F3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EE0F3E9-BF60-8CD8-5192-3F13EA744A97}"/>
              </a:ext>
            </a:extLst>
          </p:cNvPr>
          <p:cNvGrpSpPr/>
          <p:nvPr/>
        </p:nvGrpSpPr>
        <p:grpSpPr>
          <a:xfrm>
            <a:off x="493776" y="270357"/>
            <a:ext cx="10735055" cy="4577100"/>
            <a:chOff x="624077" y="270357"/>
            <a:chExt cx="10008634" cy="45771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62E0AB6-1EB1-CE2A-3ACC-C7A0027ED2E8}"/>
                </a:ext>
              </a:extLst>
            </p:cNvPr>
            <p:cNvSpPr txBox="1"/>
            <p:nvPr/>
          </p:nvSpPr>
          <p:spPr>
            <a:xfrm>
              <a:off x="624077" y="1369582"/>
              <a:ext cx="10008634" cy="34778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Label-Free Quantification (LFQ)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Method: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Compares the intensity or abundance of peptide ions in the mass spectra directly between different experimental runs.</a:t>
              </a:r>
            </a:p>
            <a:p>
              <a:pPr marL="800100" lvl="1" indent="-3429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Pros: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Cost-effective, simple sample preparation.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Isotope Labeling Quantification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Method: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Chemical labels containing stable isotopes are introduced to the peptides, allowing samples to be mixed and run together in the same MS analysis.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Examples:</a:t>
              </a:r>
            </a:p>
            <a:p>
              <a:pPr marL="1257300" lvl="2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SILAC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(Stable Isotope Labeling with Amino acids in Cell culture)</a:t>
              </a:r>
            </a:p>
            <a:p>
              <a:pPr marL="1257300" lvl="2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 err="1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iTRAQ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/TMT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(Isobaric tags for Relative and Absolute Quantification / Tandem Mass Tags)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C9DD9F-09DB-B66E-C8AC-434D20D23BB9}"/>
                </a:ext>
              </a:extLst>
            </p:cNvPr>
            <p:cNvSpPr txBox="1"/>
            <p:nvPr/>
          </p:nvSpPr>
          <p:spPr>
            <a:xfrm>
              <a:off x="624077" y="270357"/>
              <a:ext cx="90708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Quantification Strategies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4754634-67FB-C5B0-8F93-B1F0CC5D82AE}"/>
              </a:ext>
            </a:extLst>
          </p:cNvPr>
          <p:cNvSpPr txBox="1"/>
          <p:nvPr/>
        </p:nvSpPr>
        <p:spPr>
          <a:xfrm>
            <a:off x="6169152" y="270357"/>
            <a:ext cx="5222901" cy="672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1A292C"/>
              </a:solidFill>
              <a:effectLst/>
              <a:latin typeface="Fira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778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9DAC0-AA6C-FA77-4C28-5E7AC944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3BFE538-4796-357A-3143-3AF456FF7ED1}"/>
              </a:ext>
            </a:extLst>
          </p:cNvPr>
          <p:cNvGrpSpPr/>
          <p:nvPr/>
        </p:nvGrpSpPr>
        <p:grpSpPr>
          <a:xfrm>
            <a:off x="493776" y="270357"/>
            <a:ext cx="10735055" cy="5131098"/>
            <a:chOff x="624077" y="270357"/>
            <a:chExt cx="10008634" cy="513109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D19F7DA-9679-C9E9-1372-E04CF428EEDA}"/>
                </a:ext>
              </a:extLst>
            </p:cNvPr>
            <p:cNvSpPr txBox="1"/>
            <p:nvPr/>
          </p:nvSpPr>
          <p:spPr>
            <a:xfrm>
              <a:off x="624077" y="1369582"/>
              <a:ext cx="10008634" cy="40318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 algn="l">
                <a:spcAft>
                  <a:spcPts val="600"/>
                </a:spcAft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Biomarker Discovery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Identifying proteins whose abundance or modification state is altered in disease (e.g., cancer, neurodegeneration) for early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diagnosis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and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prognosis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.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Drug Target Identification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Mapping out cellular signaling pathways to find key proteins whose activity can be modulated by pharmaceuticals.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Understanding the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mechanism of action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and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toxicity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of new drug candidates.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Personalized Medicine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Analyzing individual patient proteomes to predict drug response and tailor treatment. </a:t>
              </a:r>
            </a:p>
            <a:p>
              <a:pPr marL="342900" indent="-342900">
                <a:spcAft>
                  <a:spcPts val="600"/>
                </a:spcAft>
                <a:buFont typeface="+mj-lt"/>
                <a:buAutoNum type="arabicPeriod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Post-Translational Modification (PTM) Analysis</a:t>
              </a:r>
            </a:p>
            <a:p>
              <a:pPr marL="800100" lvl="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Studying modifications like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phosphorylation, glycosylation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, and </a:t>
              </a: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ubiquitination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 that regulate protein activity and signaling.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312436-E6BD-EC34-4770-72A74AB15F01}"/>
                </a:ext>
              </a:extLst>
            </p:cNvPr>
            <p:cNvSpPr txBox="1"/>
            <p:nvPr/>
          </p:nvSpPr>
          <p:spPr>
            <a:xfrm>
              <a:off x="624077" y="270357"/>
              <a:ext cx="90708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Applications of Proteomics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D2FD6CB-8169-3874-02C4-25D556DF4C6C}"/>
              </a:ext>
            </a:extLst>
          </p:cNvPr>
          <p:cNvSpPr txBox="1"/>
          <p:nvPr/>
        </p:nvSpPr>
        <p:spPr>
          <a:xfrm>
            <a:off x="6169152" y="270357"/>
            <a:ext cx="5222901" cy="672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1A292C"/>
              </a:solidFill>
              <a:effectLst/>
              <a:latin typeface="Fira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929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40F3-4B6A-65E1-1A7F-58CA6C6C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62E2AAB-0C37-B276-0A4E-37E8E133295A}"/>
              </a:ext>
            </a:extLst>
          </p:cNvPr>
          <p:cNvGrpSpPr/>
          <p:nvPr/>
        </p:nvGrpSpPr>
        <p:grpSpPr>
          <a:xfrm>
            <a:off x="493776" y="270357"/>
            <a:ext cx="9729216" cy="4469378"/>
            <a:chOff x="624077" y="270357"/>
            <a:chExt cx="9070858" cy="4469378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AB5C63C-D031-D34E-81B9-91F7A6D90EA7}"/>
                </a:ext>
              </a:extLst>
            </p:cNvPr>
            <p:cNvSpPr txBox="1"/>
            <p:nvPr/>
          </p:nvSpPr>
          <p:spPr>
            <a:xfrm>
              <a:off x="624078" y="1369582"/>
              <a:ext cx="5089570" cy="33701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Challenges</a:t>
              </a:r>
            </a:p>
            <a:p>
              <a:pPr marL="342900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Dynamic Range: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Proteins exist in vastly different concentrations (up to 12 orders of magnitude). Low-abundance regulatory proteins are difficult to detect.</a:t>
              </a:r>
            </a:p>
            <a:p>
              <a:pPr marL="342900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Complexity: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The sheer number of isoforms, modifications, and protein-protein interactions complicates analysis.</a:t>
              </a:r>
            </a:p>
            <a:p>
              <a:pPr marL="342900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Throughput: </a:t>
              </a:r>
              <a:r>
                <a:rPr lang="en-US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Sample preparation and data processing remain time-consuming bottlenecks.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D0889E-89DA-658E-E1C6-C7636C8B09B0}"/>
                </a:ext>
              </a:extLst>
            </p:cNvPr>
            <p:cNvSpPr txBox="1"/>
            <p:nvPr/>
          </p:nvSpPr>
          <p:spPr>
            <a:xfrm>
              <a:off x="624077" y="270357"/>
              <a:ext cx="907085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Challenges and Future Directions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4F43ED4-BFEF-7148-8910-BC9AD265E694}"/>
              </a:ext>
            </a:extLst>
          </p:cNvPr>
          <p:cNvSpPr txBox="1"/>
          <p:nvPr/>
        </p:nvSpPr>
        <p:spPr>
          <a:xfrm>
            <a:off x="6169152" y="270357"/>
            <a:ext cx="5222901" cy="672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1A292C"/>
              </a:solidFill>
              <a:effectLst/>
              <a:latin typeface="Fira Sans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B62C5-10C5-FBEE-86CF-A650552BFD7A}"/>
              </a:ext>
            </a:extLst>
          </p:cNvPr>
          <p:cNvSpPr txBox="1"/>
          <p:nvPr/>
        </p:nvSpPr>
        <p:spPr>
          <a:xfrm>
            <a:off x="585216" y="5397149"/>
            <a:ext cx="8019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introduction to the core concepts, you may find this video useful: </a:t>
            </a:r>
            <a:r>
              <a:rPr lang="en-US" dirty="0">
                <a:hlinkClick r:id="rId2"/>
              </a:rPr>
              <a:t>Introduction to Proteomics | 2021 EMSL Summer School</a:t>
            </a:r>
            <a:r>
              <a:rPr lang="en-US" dirty="0"/>
              <a:t>.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EDDA7A-C70B-084D-441C-A0C56C2CA1D9}"/>
              </a:ext>
            </a:extLst>
          </p:cNvPr>
          <p:cNvSpPr txBox="1"/>
          <p:nvPr/>
        </p:nvSpPr>
        <p:spPr>
          <a:xfrm>
            <a:off x="6169152" y="1369582"/>
            <a:ext cx="592836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" panose="020F0502020204030204" pitchFamily="34" charset="0"/>
                <a:ea typeface="+mn-ea"/>
                <a:cs typeface="+mn-cs"/>
              </a:rPr>
              <a:t>Future Directions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" panose="020F0502020204030204" pitchFamily="34" charset="0"/>
                <a:ea typeface="+mn-ea"/>
                <a:cs typeface="+mn-cs"/>
              </a:rPr>
              <a:t>Targeted Proteomics (PRM/SRM):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" panose="020F0502020204030204" pitchFamily="34" charset="0"/>
                <a:ea typeface="+mn-ea"/>
                <a:cs typeface="+mn-cs"/>
              </a:rPr>
              <a:t>Highly accurate quantification of a small, predefined set of proteins.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" panose="020F0502020204030204" pitchFamily="34" charset="0"/>
                <a:ea typeface="+mn-ea"/>
                <a:cs typeface="+mn-cs"/>
              </a:rPr>
              <a:t>Single-Cell Proteomics: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" panose="020F0502020204030204" pitchFamily="34" charset="0"/>
                <a:ea typeface="+mn-ea"/>
                <a:cs typeface="+mn-cs"/>
              </a:rPr>
              <a:t>Analyzing the protein content of individual cells to understand heterogeneity in tissues.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" panose="020F0502020204030204" pitchFamily="34" charset="0"/>
                <a:ea typeface="+mn-ea"/>
                <a:cs typeface="+mn-cs"/>
              </a:rPr>
              <a:t>Data Integration: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" panose="020F0502020204030204" pitchFamily="34" charset="0"/>
                <a:ea typeface="+mn-ea"/>
                <a:cs typeface="+mn-cs"/>
              </a:rPr>
              <a:t>Merging proteomics data with genomics and metabolomics data for a complete system-wide picture (System Biology).</a:t>
            </a:r>
          </a:p>
        </p:txBody>
      </p:sp>
    </p:spTree>
    <p:extLst>
      <p:ext uri="{BB962C8B-B14F-4D97-AF65-F5344CB8AC3E}">
        <p14:creationId xmlns:p14="http://schemas.microsoft.com/office/powerpoint/2010/main" val="3822102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C8B0EBC-B656-E35D-A0F4-FCE2D438F528}"/>
              </a:ext>
            </a:extLst>
          </p:cNvPr>
          <p:cNvGrpSpPr/>
          <p:nvPr/>
        </p:nvGrpSpPr>
        <p:grpSpPr>
          <a:xfrm>
            <a:off x="493777" y="270357"/>
            <a:ext cx="5529072" cy="4057342"/>
            <a:chOff x="624078" y="270357"/>
            <a:chExt cx="5154930" cy="405734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1A16537-008A-D8C4-4987-3D36D08AA530}"/>
                </a:ext>
              </a:extLst>
            </p:cNvPr>
            <p:cNvSpPr txBox="1"/>
            <p:nvPr/>
          </p:nvSpPr>
          <p:spPr>
            <a:xfrm>
              <a:off x="624078" y="1369582"/>
              <a:ext cx="5154930" cy="29581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Advantages:</a:t>
              </a:r>
              <a:endParaRPr lang="en-US" b="0" i="0" dirty="0">
                <a:solidFill>
                  <a:srgbClr val="000000"/>
                </a:solidFill>
                <a:effectLst/>
                <a:latin typeface="Fira Sans" panose="020F0502020204030204" pitchFamily="34" charset="0"/>
              </a:endParaRPr>
            </a:p>
            <a:p>
              <a:pPr marL="182880" lvl="1" indent="18288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Free and open-source</a:t>
              </a:r>
            </a:p>
            <a:p>
              <a:pPr marL="182880" lvl="1" indent="18288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Extensive statistical packages</a:t>
              </a:r>
            </a:p>
            <a:p>
              <a:pPr marL="182880" lvl="1" indent="18288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Reproducible analysis workflows</a:t>
              </a:r>
            </a:p>
            <a:p>
              <a:pPr marL="182880" lvl="1" indent="18288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Publication-quality graphics</a:t>
              </a:r>
            </a:p>
            <a:p>
              <a:pPr marL="182880" lvl="1" indent="18288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Active bioinformatics community</a:t>
              </a:r>
            </a:p>
            <a:p>
              <a:pPr marL="182880" lvl="1" indent="18288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b="0" i="0" dirty="0">
                  <a:solidFill>
                    <a:srgbClr val="000000"/>
                  </a:solidFill>
                  <a:effectLst/>
                  <a:latin typeface="Fira Sans" panose="020F0502020204030204" pitchFamily="34" charset="0"/>
                </a:rPr>
                <a:t>Integration with proteomics tools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E4B8D22-0EC8-213E-B7EF-8E7BD055802F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672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Why R for Proteomics?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197489F-553A-E12F-FAAD-4D892A9B638F}"/>
              </a:ext>
            </a:extLst>
          </p:cNvPr>
          <p:cNvGrpSpPr/>
          <p:nvPr/>
        </p:nvGrpSpPr>
        <p:grpSpPr>
          <a:xfrm>
            <a:off x="6169152" y="270357"/>
            <a:ext cx="5946648" cy="3595614"/>
            <a:chOff x="624078" y="270357"/>
            <a:chExt cx="5869258" cy="3595614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1510CF-D717-E4B8-EA4D-2B5EA7A94AAC}"/>
                </a:ext>
              </a:extLst>
            </p:cNvPr>
            <p:cNvSpPr txBox="1"/>
            <p:nvPr/>
          </p:nvSpPr>
          <p:spPr>
            <a:xfrm>
              <a:off x="624078" y="1369582"/>
              <a:ext cx="5869258" cy="24963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Four Main Panels:</a:t>
              </a:r>
              <a:endParaRPr lang="en-US" dirty="0">
                <a:solidFill>
                  <a:srgbClr val="000000"/>
                </a:solidFill>
                <a:latin typeface="Fira Sans" panose="020B0503050000020004" pitchFamily="34" charset="0"/>
              </a:endParaRPr>
            </a:p>
            <a:p>
              <a:pPr marL="91440" lvl="1" indent="182880">
                <a:lnSpc>
                  <a:spcPct val="150000"/>
                </a:lnSpc>
                <a:buFont typeface="+mj-lt"/>
                <a:buAutoNum type="arabicPeriod"/>
              </a:pP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Source Editor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</a:rPr>
                <a:t> - </a:t>
              </a:r>
              <a:r>
                <a:rPr lang="en-US" sz="1600" dirty="0">
                  <a:solidFill>
                    <a:srgbClr val="000000"/>
                  </a:solidFill>
                  <a:latin typeface="Fira Sans" panose="020B0503050000020004" pitchFamily="34" charset="0"/>
                </a:rPr>
                <a:t>Write and save your code</a:t>
              </a:r>
              <a:endParaRPr lang="en-US" dirty="0">
                <a:solidFill>
                  <a:srgbClr val="000000"/>
                </a:solidFill>
                <a:latin typeface="Fira Sans" panose="020B0503050000020004" pitchFamily="34" charset="0"/>
              </a:endParaRPr>
            </a:p>
            <a:p>
              <a:pPr marL="91440" lvl="1" indent="182880">
                <a:lnSpc>
                  <a:spcPct val="150000"/>
                </a:lnSpc>
                <a:buFont typeface="+mj-lt"/>
                <a:buAutoNum type="arabicPeriod"/>
              </a:pP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Console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</a:rPr>
                <a:t> - </a:t>
              </a:r>
              <a:r>
                <a:rPr lang="en-US" sz="1600" dirty="0">
                  <a:solidFill>
                    <a:srgbClr val="000000"/>
                  </a:solidFill>
                  <a:latin typeface="Fira Sans" panose="020B0503050000020004" pitchFamily="34" charset="0"/>
                </a:rPr>
                <a:t>Execute commands interactively</a:t>
              </a:r>
              <a:endParaRPr lang="en-US" dirty="0">
                <a:solidFill>
                  <a:srgbClr val="000000"/>
                </a:solidFill>
                <a:latin typeface="Fira Sans" panose="020B0503050000020004" pitchFamily="34" charset="0"/>
              </a:endParaRPr>
            </a:p>
            <a:p>
              <a:pPr marL="91440" lvl="1" indent="182880">
                <a:lnSpc>
                  <a:spcPct val="150000"/>
                </a:lnSpc>
                <a:buFont typeface="+mj-lt"/>
                <a:buAutoNum type="arabicPeriod"/>
              </a:pP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Environment/History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</a:rPr>
                <a:t> - </a:t>
              </a:r>
              <a:r>
                <a:rPr lang="en-US" sz="1600" dirty="0">
                  <a:solidFill>
                    <a:srgbClr val="000000"/>
                  </a:solidFill>
                  <a:latin typeface="Fira Sans" panose="020B0503050000020004" pitchFamily="34" charset="0"/>
                </a:rPr>
                <a:t>View objects and command history</a:t>
              </a:r>
              <a:endParaRPr lang="en-US" dirty="0">
                <a:solidFill>
                  <a:srgbClr val="000000"/>
                </a:solidFill>
                <a:latin typeface="Fira Sans" panose="020B0503050000020004" pitchFamily="34" charset="0"/>
              </a:endParaRPr>
            </a:p>
            <a:p>
              <a:pPr marL="91440" lvl="1" indent="182880">
                <a:lnSpc>
                  <a:spcPct val="150000"/>
                </a:lnSpc>
                <a:buFont typeface="+mj-lt"/>
                <a:buAutoNum type="arabicPeriod"/>
              </a:pPr>
              <a:r>
                <a:rPr lang="en-US" b="1" dirty="0">
                  <a:solidFill>
                    <a:srgbClr val="000000"/>
                  </a:solidFill>
                  <a:latin typeface="Fira Sans" panose="020B0503050000020004" pitchFamily="34" charset="0"/>
                </a:rPr>
                <a:t>Files/Plots/Help</a:t>
              </a:r>
              <a:r>
                <a:rPr lang="en-US" dirty="0">
                  <a:solidFill>
                    <a:srgbClr val="000000"/>
                  </a:solidFill>
                  <a:latin typeface="Fira Sans" panose="020B0503050000020004" pitchFamily="34" charset="0"/>
                </a:rPr>
                <a:t> - </a:t>
              </a:r>
              <a:r>
                <a:rPr lang="en-US" sz="1600" dirty="0">
                  <a:solidFill>
                    <a:srgbClr val="000000"/>
                  </a:solidFill>
                  <a:latin typeface="Fira Sans" panose="020B0503050000020004" pitchFamily="34" charset="0"/>
                </a:rPr>
                <a:t>Navigate files, view plots, access help</a:t>
              </a:r>
              <a:endParaRPr lang="en-US" dirty="0">
                <a:solidFill>
                  <a:srgbClr val="000000"/>
                </a:solidFill>
                <a:latin typeface="Fira Sans" panose="020B0503050000020004" pitchFamily="34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C12DE0-4EA5-FA69-7B14-B28D14404157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672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F0502020204030204" pitchFamily="34" charset="0"/>
                </a:rPr>
                <a:t>RStudio Interface Tour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E94C54D-3D28-2A20-6A54-2BE41404A5BB}"/>
              </a:ext>
            </a:extLst>
          </p:cNvPr>
          <p:cNvSpPr txBox="1"/>
          <p:nvPr/>
        </p:nvSpPr>
        <p:spPr>
          <a:xfrm>
            <a:off x="6096000" y="3945415"/>
            <a:ext cx="6094476" cy="402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lvl="1">
              <a:lnSpc>
                <a:spcPct val="150000"/>
              </a:lnSpc>
            </a:pPr>
            <a:r>
              <a:rPr lang="en-US" sz="1500" b="1" i="1" dirty="0">
                <a:solidFill>
                  <a:srgbClr val="000000"/>
                </a:solidFill>
                <a:latin typeface="Fira Sans" panose="020B0503050000020004" pitchFamily="34" charset="0"/>
              </a:rPr>
              <a:t>Best Practice:</a:t>
            </a:r>
            <a:r>
              <a:rPr lang="en-US" sz="1500" i="1" dirty="0">
                <a:solidFill>
                  <a:srgbClr val="000000"/>
                </a:solidFill>
                <a:latin typeface="Fira Sans" panose="020B0503050000020004" pitchFamily="34" charset="0"/>
              </a:rPr>
              <a:t> Always work in R scripts (.R) or R Markdown (.</a:t>
            </a:r>
            <a:r>
              <a:rPr lang="en-US" sz="1500" i="1" dirty="0" err="1">
                <a:solidFill>
                  <a:srgbClr val="000000"/>
                </a:solidFill>
                <a:latin typeface="Fira Sans" panose="020B0503050000020004" pitchFamily="34" charset="0"/>
              </a:rPr>
              <a:t>Rmd</a:t>
            </a:r>
            <a:r>
              <a:rPr lang="en-US" sz="1500" i="1" dirty="0">
                <a:solidFill>
                  <a:srgbClr val="000000"/>
                </a:solidFill>
                <a:latin typeface="Fira Sans" panose="020B0503050000020004" pitchFamily="34" charset="0"/>
              </a:rPr>
              <a:t>) files</a:t>
            </a:r>
          </a:p>
        </p:txBody>
      </p:sp>
    </p:spTree>
    <p:extLst>
      <p:ext uri="{BB962C8B-B14F-4D97-AF65-F5344CB8AC3E}">
        <p14:creationId xmlns:p14="http://schemas.microsoft.com/office/powerpoint/2010/main" val="2363963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85850C7-B4BC-9A8F-3939-4CAC96919E89}"/>
              </a:ext>
            </a:extLst>
          </p:cNvPr>
          <p:cNvGrpSpPr/>
          <p:nvPr/>
        </p:nvGrpSpPr>
        <p:grpSpPr>
          <a:xfrm>
            <a:off x="493777" y="270357"/>
            <a:ext cx="5529072" cy="3641844"/>
            <a:chOff x="624078" y="270357"/>
            <a:chExt cx="5154930" cy="36418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0E14C34-A149-925D-04EF-0298D025F9A3}"/>
                </a:ext>
              </a:extLst>
            </p:cNvPr>
            <p:cNvSpPr txBox="1"/>
            <p:nvPr/>
          </p:nvSpPr>
          <p:spPr>
            <a:xfrm>
              <a:off x="624078" y="1369582"/>
              <a:ext cx="5154930" cy="25426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b="1" i="0" dirty="0">
                  <a:solidFill>
                    <a:srgbClr val="000000"/>
                  </a:solidFill>
                  <a:effectLst/>
                  <a:latin typeface="Fira Sans" panose="020B0503050000020004" pitchFamily="34" charset="0"/>
                </a:rPr>
                <a:t>Agendas:</a:t>
              </a:r>
              <a:endParaRPr lang="en-US" b="0" i="0" dirty="0">
                <a:solidFill>
                  <a:srgbClr val="000000"/>
                </a:solidFill>
                <a:effectLst/>
                <a:latin typeface="Fira Sans" panose="020B05030500000200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Fira Sans" panose="020B0503050000020004" pitchFamily="34" charset="0"/>
                </a:rPr>
                <a:t>Module 1: Setting Up and Getting Started with R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Fira Sans" panose="020B0503050000020004" pitchFamily="34" charset="0"/>
                </a:rPr>
                <a:t>Module 2: Data Types and Structures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Fira Sans" panose="020B0503050000020004" pitchFamily="34" charset="0"/>
                </a:rPr>
                <a:t>Module 3: Control Flow and Functions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Fira Sans" panose="020B0503050000020004" pitchFamily="34" charset="0"/>
                </a:rPr>
                <a:t>Module 4: Importing and exploring data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Fira Sans" panose="020B0503050000020004" pitchFamily="34" charset="0"/>
                </a:rPr>
                <a:t>Module 5: Data Wrangling with `tidyverse`</a:t>
              </a:r>
              <a:endParaRPr lang="en-GB" dirty="0">
                <a:latin typeface="Fira Sans" panose="020B05030500000200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D3CBD90-B104-1ED6-712C-5BEA66A22916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465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latin typeface="Fira Sans" panose="020B0503050000020004" pitchFamily="34" charset="0"/>
                  <a:hlinkClick r:id="rId2" action="ppaction://hlinkfile"/>
                </a:rPr>
                <a:t>Introduction</a:t>
              </a:r>
              <a:r>
                <a:rPr lang="en-US" dirty="0">
                  <a:latin typeface="Fira Sans" panose="020B0503050000020004" pitchFamily="34" charset="0"/>
                  <a:hlinkClick r:id="rId2" action="ppaction://hlinkfile"/>
                </a:rPr>
                <a:t> to R and RStudio</a:t>
              </a:r>
              <a:endParaRPr lang="en-US" sz="2800" b="0" i="0" dirty="0">
                <a:solidFill>
                  <a:srgbClr val="1A292C"/>
                </a:solidFill>
                <a:effectLst/>
                <a:latin typeface="Fira Sans" panose="020B05030500000200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040918E-6333-1FCA-7B2D-DBFDA27B50A4}"/>
              </a:ext>
            </a:extLst>
          </p:cNvPr>
          <p:cNvGrpSpPr/>
          <p:nvPr/>
        </p:nvGrpSpPr>
        <p:grpSpPr>
          <a:xfrm>
            <a:off x="6169152" y="270357"/>
            <a:ext cx="5946648" cy="4470917"/>
            <a:chOff x="624078" y="270357"/>
            <a:chExt cx="5869258" cy="447091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787D50-6D13-0575-2630-1BAFE04894D8}"/>
                </a:ext>
              </a:extLst>
            </p:cNvPr>
            <p:cNvSpPr txBox="1"/>
            <p:nvPr/>
          </p:nvSpPr>
          <p:spPr>
            <a:xfrm>
              <a:off x="624078" y="1369582"/>
              <a:ext cx="5869258" cy="33716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Today you will learn: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How to set up R and </a:t>
              </a:r>
              <a:r>
                <a:rPr lang="en-GB" dirty="0" err="1">
                  <a:latin typeface="Fira Sans" panose="020B0503050000020004" pitchFamily="34" charset="0"/>
                </a:rPr>
                <a:t>Rstudio</a:t>
              </a:r>
              <a:endParaRPr lang="en-GB" dirty="0">
                <a:latin typeface="Fira Sans" panose="020B05030500000200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Basic R operators and syntax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Data structures: vectors, data frames, lists, factors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Indexing and sub-setting data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Control flow: if/else, loops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Writing custom functions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Importing and exploring data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7DB8EC-2FE9-43E6-B31F-A0821907DA2D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672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B0503050000020004" pitchFamily="34" charset="0"/>
                </a:rPr>
                <a:t>Day 1 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804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BE1D3DC-971B-B0DF-DBB6-45FEE40D080A}"/>
              </a:ext>
            </a:extLst>
          </p:cNvPr>
          <p:cNvGrpSpPr/>
          <p:nvPr/>
        </p:nvGrpSpPr>
        <p:grpSpPr>
          <a:xfrm>
            <a:off x="493777" y="270357"/>
            <a:ext cx="5529072" cy="4426674"/>
            <a:chOff x="624078" y="270357"/>
            <a:chExt cx="5154930" cy="442667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E41810A-413B-5C95-6A7F-334486213768}"/>
                </a:ext>
              </a:extLst>
            </p:cNvPr>
            <p:cNvSpPr txBox="1"/>
            <p:nvPr/>
          </p:nvSpPr>
          <p:spPr>
            <a:xfrm>
              <a:off x="624078" y="1369582"/>
              <a:ext cx="5154930" cy="33274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b="1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Learning Objectives:</a:t>
              </a:r>
            </a:p>
            <a:p>
              <a:pPr algn="l">
                <a:lnSpc>
                  <a:spcPct val="150000"/>
                </a:lnSpc>
                <a:buNone/>
              </a:pPr>
              <a:r>
                <a:rPr lang="en-US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By the end of Day 2, you will be able to: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Fira Sans" panose="020B0503050000020004" pitchFamily="34" charset="0"/>
                </a:rPr>
                <a:t>Module 1: Treat Proteomic Data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Fira Sans" panose="020B0503050000020004" pitchFamily="34" charset="0"/>
                </a:rPr>
                <a:t>From Mass Spectrometry to Quantified Proteins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Fira Sans" panose="020B0503050000020004" pitchFamily="34" charset="0"/>
                </a:rPr>
                <a:t>Structure of Proteomic Data Matrices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1600" dirty="0">
                  <a:latin typeface="Fira Sans" panose="020B0503050000020004" pitchFamily="34" charset="0"/>
                </a:rPr>
                <a:t>Understanding Your Data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Fira Sans" panose="020B0503050000020004" pitchFamily="34" charset="0"/>
                </a:rPr>
                <a:t>Module 2: Initial Quality Control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latin typeface="Fira Sans" panose="020B0503050000020004" pitchFamily="34" charset="0"/>
                </a:rPr>
                <a:t>Module 3: Exploratory Data Analysis (EDA)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BB60C9-97D8-D5BB-9F1B-78D33A52D8AF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465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u="sng" dirty="0">
                  <a:latin typeface="Fira Sans" panose="020B0503050000020004" pitchFamily="34" charset="0"/>
                  <a:hlinkClick r:id="rId2" action="ppaction://hlinkfile"/>
                </a:rPr>
                <a:t>Introduction to Proteomic Data &amp; Quality Control</a:t>
              </a:r>
              <a:endParaRPr lang="en-US" sz="4000" b="0" i="0" dirty="0">
                <a:solidFill>
                  <a:srgbClr val="1A292C"/>
                </a:solidFill>
                <a:effectLst/>
                <a:latin typeface="Fira Sans" panose="020B05030500000200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F352149-06AE-19E8-6A8C-8577B9412E81}"/>
              </a:ext>
            </a:extLst>
          </p:cNvPr>
          <p:cNvGrpSpPr/>
          <p:nvPr/>
        </p:nvGrpSpPr>
        <p:grpSpPr>
          <a:xfrm>
            <a:off x="6169152" y="270357"/>
            <a:ext cx="5946648" cy="4886416"/>
            <a:chOff x="624078" y="270357"/>
            <a:chExt cx="5869258" cy="488641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DFDA27-2473-25EF-0AD6-F620E47A52CC}"/>
                </a:ext>
              </a:extLst>
            </p:cNvPr>
            <p:cNvSpPr txBox="1"/>
            <p:nvPr/>
          </p:nvSpPr>
          <p:spPr>
            <a:xfrm>
              <a:off x="624078" y="1369582"/>
              <a:ext cx="5869258" cy="3787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Today you will learn: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Structure of proteomic data matrices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Common data quality issues (</a:t>
              </a:r>
              <a:r>
                <a:rPr lang="en-GB" b="1" dirty="0">
                  <a:latin typeface="Fira Sans" panose="020B0503050000020004" pitchFamily="34" charset="0"/>
                </a:rPr>
                <a:t>missing values, outliers, batch effects</a:t>
              </a:r>
              <a:r>
                <a:rPr lang="en-GB" dirty="0">
                  <a:latin typeface="Fira Sans" panose="020B0503050000020004" pitchFamily="34" charset="0"/>
                </a:rPr>
                <a:t>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Quality control </a:t>
              </a:r>
              <a:r>
                <a:rPr lang="en-GB" b="1" dirty="0">
                  <a:latin typeface="Fira Sans" panose="020B0503050000020004" pitchFamily="34" charset="0"/>
                </a:rPr>
                <a:t>visualization</a:t>
              </a:r>
              <a:r>
                <a:rPr lang="en-GB" dirty="0">
                  <a:latin typeface="Fira Sans" panose="020B0503050000020004" pitchFamily="34" charset="0"/>
                </a:rPr>
                <a:t> techniques (</a:t>
              </a:r>
              <a:r>
                <a:rPr lang="en-US" dirty="0">
                  <a:solidFill>
                    <a:srgbClr val="212529"/>
                  </a:solidFill>
                  <a:latin typeface="Fira Sans" panose="020B0503050000020004" pitchFamily="34" charset="0"/>
                </a:rPr>
                <a:t>PCA, boxplots, and heatmaps)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212529"/>
                  </a:solidFill>
                  <a:latin typeface="Fira Sans" panose="020B0503050000020004" pitchFamily="34" charset="0"/>
                </a:rPr>
                <a:t>Conduct exploratory data analysis (EDA)</a:t>
              </a:r>
              <a:endParaRPr lang="en-GB" dirty="0">
                <a:latin typeface="Fira Sans" panose="020B0503050000020004" pitchFamily="34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Exploratory data analysis methods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Sample correlation and clustering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F47AD5-8550-4A89-A148-B2E533BED619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672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B0503050000020004" pitchFamily="34" charset="0"/>
                </a:rPr>
                <a:t>Day 2 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1697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F8CE-D733-4D7D-285E-20951FEEB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7368535-A238-3DDB-D876-E02FD3651AE2}"/>
              </a:ext>
            </a:extLst>
          </p:cNvPr>
          <p:cNvGrpSpPr/>
          <p:nvPr/>
        </p:nvGrpSpPr>
        <p:grpSpPr>
          <a:xfrm>
            <a:off x="493777" y="270357"/>
            <a:ext cx="5529072" cy="3229103"/>
            <a:chOff x="624078" y="270357"/>
            <a:chExt cx="5154930" cy="322910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315CE10-0707-081B-4479-B1A2A38C4D8E}"/>
                </a:ext>
              </a:extLst>
            </p:cNvPr>
            <p:cNvSpPr txBox="1"/>
            <p:nvPr/>
          </p:nvSpPr>
          <p:spPr>
            <a:xfrm>
              <a:off x="624078" y="1369582"/>
              <a:ext cx="5154930" cy="2129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b="1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Learning Objectives:</a:t>
              </a:r>
            </a:p>
            <a:p>
              <a:pPr algn="l">
                <a:lnSpc>
                  <a:spcPct val="150000"/>
                </a:lnSpc>
                <a:buNone/>
              </a:pPr>
              <a:r>
                <a:rPr lang="en-US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By the end of Day 3, you will be able to perform: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Module 1: Data Preprocessing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Module 2: Batch Effect Correction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Module 3: Differential Expression Analysis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EF09D1-D6C3-5A0A-3C90-15D8172E0C84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465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b="1" u="sng" dirty="0">
                  <a:latin typeface="Fira Sans" panose="020B0503050000020004" pitchFamily="34" charset="0"/>
                  <a:hlinkClick r:id="rId2" action="ppaction://hlinkfile"/>
                </a:rPr>
                <a:t>Preprocessing and Differential Expression</a:t>
              </a:r>
              <a:endParaRPr lang="en-US" sz="4400" b="0" i="0" dirty="0">
                <a:solidFill>
                  <a:srgbClr val="1A292C"/>
                </a:solidFill>
                <a:effectLst/>
                <a:latin typeface="Fira Sans" panose="020B05030500000200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8BF47EB-5D25-7980-17B5-9826F098B01D}"/>
              </a:ext>
            </a:extLst>
          </p:cNvPr>
          <p:cNvGrpSpPr/>
          <p:nvPr/>
        </p:nvGrpSpPr>
        <p:grpSpPr>
          <a:xfrm>
            <a:off x="6169152" y="270357"/>
            <a:ext cx="5946648" cy="4886416"/>
            <a:chOff x="624078" y="270357"/>
            <a:chExt cx="5869258" cy="488641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8F76C9-3560-34EE-B3A9-E22A7DC9FF7B}"/>
                </a:ext>
              </a:extLst>
            </p:cNvPr>
            <p:cNvSpPr txBox="1"/>
            <p:nvPr/>
          </p:nvSpPr>
          <p:spPr>
            <a:xfrm>
              <a:off x="624078" y="1369582"/>
              <a:ext cx="5869258" cy="37871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Today you learned: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solidFill>
                    <a:srgbClr val="212529"/>
                  </a:solidFill>
                  <a:latin typeface="Fira Sans" panose="020B0503050000020004" pitchFamily="34" charset="0"/>
                </a:rPr>
                <a:t>Apply different normalization methods to proteomic data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solidFill>
                    <a:srgbClr val="212529"/>
                  </a:solidFill>
                  <a:latin typeface="Fira Sans" panose="020B0503050000020004" pitchFamily="34" charset="0"/>
                </a:rPr>
                <a:t>Perform batch effect correction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solidFill>
                    <a:srgbClr val="212529"/>
                  </a:solidFill>
                  <a:latin typeface="Fira Sans" panose="020B0503050000020004" pitchFamily="34" charset="0"/>
                </a:rPr>
                <a:t>Conduct differential expression analysis using `</a:t>
              </a:r>
              <a:r>
                <a:rPr lang="en-US" dirty="0" err="1">
                  <a:solidFill>
                    <a:srgbClr val="212529"/>
                  </a:solidFill>
                  <a:latin typeface="Fira Sans" panose="020B0503050000020004" pitchFamily="34" charset="0"/>
                </a:rPr>
                <a:t>limma</a:t>
              </a:r>
              <a:r>
                <a:rPr lang="en-US" dirty="0">
                  <a:solidFill>
                    <a:srgbClr val="212529"/>
                  </a:solidFill>
                  <a:latin typeface="Fira Sans" panose="020B0503050000020004" pitchFamily="34" charset="0"/>
                </a:rPr>
                <a:t>`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solidFill>
                    <a:srgbClr val="212529"/>
                  </a:solidFill>
                  <a:latin typeface="Fira Sans" panose="020B0503050000020004" pitchFamily="34" charset="0"/>
                </a:rPr>
                <a:t>Interpret and visualize differential expression results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solidFill>
                    <a:srgbClr val="212529"/>
                  </a:solidFill>
                  <a:latin typeface="Fira Sans" panose="020B0503050000020004" pitchFamily="34" charset="0"/>
                </a:rPr>
                <a:t>Create volcano plots and MA plots</a:t>
              </a:r>
              <a:endParaRPr lang="en-US" dirty="0">
                <a:latin typeface="Fira Sans" panose="020B05030500000200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979BF9D-074F-C8EF-EDAF-419880F72D38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672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B0503050000020004" pitchFamily="34" charset="0"/>
                </a:rPr>
                <a:t>Day </a:t>
              </a:r>
              <a:r>
                <a:rPr lang="en-US" sz="2800" dirty="0">
                  <a:solidFill>
                    <a:srgbClr val="1A292C"/>
                  </a:solidFill>
                  <a:latin typeface="Fira Sans" panose="020B0503050000020004" pitchFamily="34" charset="0"/>
                </a:rPr>
                <a:t>3</a:t>
              </a: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B0503050000020004" pitchFamily="34" charset="0"/>
                </a:rPr>
                <a:t> 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909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15CF-E6DA-FCC8-5AFE-97D63C8A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EB5BCAA-00E9-2D81-592C-971F28D67D2A}"/>
              </a:ext>
            </a:extLst>
          </p:cNvPr>
          <p:cNvGrpSpPr/>
          <p:nvPr/>
        </p:nvGrpSpPr>
        <p:grpSpPr>
          <a:xfrm>
            <a:off x="493777" y="270357"/>
            <a:ext cx="5529072" cy="2810847"/>
            <a:chOff x="624078" y="270357"/>
            <a:chExt cx="5154930" cy="281084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11EBA82-F3AE-35F8-E43F-DB7CB82228C8}"/>
                </a:ext>
              </a:extLst>
            </p:cNvPr>
            <p:cNvSpPr txBox="1"/>
            <p:nvPr/>
          </p:nvSpPr>
          <p:spPr>
            <a:xfrm>
              <a:off x="624078" y="1369582"/>
              <a:ext cx="5154930" cy="17116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b="1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Learning Objectives:</a:t>
              </a:r>
            </a:p>
            <a:p>
              <a:pPr algn="l">
                <a:lnSpc>
                  <a:spcPct val="150000"/>
                </a:lnSpc>
                <a:buNone/>
              </a:pPr>
              <a:r>
                <a:rPr lang="en-US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By the end of Day 4, you will be able to perform: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Module 1: Functional Enrichment &amp; GSEA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dirty="0">
                  <a:latin typeface="Fira Sans" panose="020B0503050000020004" pitchFamily="34" charset="0"/>
                </a:rPr>
                <a:t>Module 2: Public Data integration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47D1AC-ED87-36D8-2225-32CE7A87D3E1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465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latin typeface="Fira Sans" panose="020B0503050000020004" pitchFamily="34" charset="0"/>
                  <a:hlinkClick r:id="rId2" action="ppaction://hlinkfile"/>
                </a:rPr>
                <a:t>Functional Analysis, Longitudinal &amp; Public Data</a:t>
              </a:r>
              <a:endParaRPr lang="en-US" sz="4400" b="0" i="0" dirty="0">
                <a:solidFill>
                  <a:srgbClr val="1A292C"/>
                </a:solidFill>
                <a:effectLst/>
                <a:latin typeface="Fira Sans" panose="020B05030500000200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B61908C-E107-33B9-0723-A58D5516E8DB}"/>
              </a:ext>
            </a:extLst>
          </p:cNvPr>
          <p:cNvGrpSpPr/>
          <p:nvPr/>
        </p:nvGrpSpPr>
        <p:grpSpPr>
          <a:xfrm>
            <a:off x="6169152" y="270357"/>
            <a:ext cx="5946648" cy="2811040"/>
            <a:chOff x="624078" y="270357"/>
            <a:chExt cx="5869258" cy="281104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5C63589-B290-AA70-03AA-45F8C2D4CDE3}"/>
                </a:ext>
              </a:extLst>
            </p:cNvPr>
            <p:cNvSpPr txBox="1"/>
            <p:nvPr/>
          </p:nvSpPr>
          <p:spPr>
            <a:xfrm>
              <a:off x="624078" y="1369582"/>
              <a:ext cx="5869258" cy="17118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Today you learned:</a:t>
              </a:r>
            </a:p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latin typeface="Fira Sans" panose="020B0503050000020004" pitchFamily="34" charset="0"/>
                </a:rPr>
                <a:t>Interpret DE results biologically</a:t>
              </a:r>
            </a:p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latin typeface="Fira Sans" panose="020B0503050000020004" pitchFamily="34" charset="0"/>
                </a:rPr>
                <a:t>Explore longitudinal trajectories</a:t>
              </a:r>
            </a:p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latin typeface="Fira Sans" panose="020B0503050000020004" pitchFamily="34" charset="0"/>
                </a:rPr>
                <a:t>Work with public datasets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AF0B2C5-393B-8A0D-E03C-9202C77693A7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672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B0503050000020004" pitchFamily="34" charset="0"/>
                </a:rPr>
                <a:t>Day 4 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383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3B58-32F8-5A8B-62B2-B2EA29E1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5856232-84D3-1727-8C54-CBB27D4D50E8}"/>
              </a:ext>
            </a:extLst>
          </p:cNvPr>
          <p:cNvGrpSpPr/>
          <p:nvPr/>
        </p:nvGrpSpPr>
        <p:grpSpPr>
          <a:xfrm>
            <a:off x="493777" y="270357"/>
            <a:ext cx="5529072" cy="5677914"/>
            <a:chOff x="624078" y="270357"/>
            <a:chExt cx="5154930" cy="56779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1A67873-3E2F-11B9-25B3-69B32E10E0AC}"/>
                </a:ext>
              </a:extLst>
            </p:cNvPr>
            <p:cNvSpPr txBox="1"/>
            <p:nvPr/>
          </p:nvSpPr>
          <p:spPr>
            <a:xfrm>
              <a:off x="624078" y="1369582"/>
              <a:ext cx="5154930" cy="45786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GB" b="1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Modules</a:t>
              </a: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GB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Full Analysis Pipeline</a:t>
              </a:r>
            </a:p>
            <a:p>
              <a:pPr marL="285750" indent="-18288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1600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From QC → normalization → DE → functional → longitudinal (if relevant).</a:t>
              </a:r>
              <a:br>
                <a:rPr lang="en-GB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</a:br>
              <a:r>
                <a:rPr lang="en-GB" sz="1200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Run through all steps on a provided dataset (or participants’ data).</a:t>
              </a: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GB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Group Discussion &amp; Interpretation</a:t>
              </a:r>
            </a:p>
            <a:p>
              <a:pPr marL="285750" indent="-18288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1600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Interpret results, compare across participants, discuss limitations, challenges, possible variations.</a:t>
              </a:r>
            </a:p>
            <a:p>
              <a:pPr marL="285750" indent="-285750" algn="l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en-GB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Presentation &amp; Reporting</a:t>
              </a:r>
            </a:p>
            <a:p>
              <a:pPr marL="285750" indent="-18288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GB" sz="1600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Generate basic report/graphics (ggplot2), integrate into R Markdown / html / PDF.</a:t>
              </a:r>
              <a:br>
                <a:rPr lang="en-GB" sz="1600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</a:br>
              <a:r>
                <a:rPr lang="en-GB" sz="1600" b="0" i="0" dirty="0">
                  <a:solidFill>
                    <a:srgbClr val="212529"/>
                  </a:solidFill>
                  <a:effectLst/>
                  <a:latin typeface="Fira Sans" panose="020B0503050000020004" pitchFamily="34" charset="0"/>
                </a:rPr>
                <a:t>Provide guidance for next steps.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82F423-B178-6D5E-07FE-6572830A50C3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4650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b="1" u="sng" dirty="0">
                  <a:latin typeface="Fira Sans" panose="020B0503050000020004" pitchFamily="34" charset="0"/>
                  <a:hlinkClick r:id="rId2" action="ppaction://hlinkfile"/>
                </a:rPr>
                <a:t>Application on Real Data</a:t>
              </a:r>
              <a:endParaRPr lang="en-US" sz="4400" b="0" i="0" dirty="0">
                <a:solidFill>
                  <a:srgbClr val="1A292C"/>
                </a:solidFill>
                <a:effectLst/>
                <a:latin typeface="Fira Sans" panose="020B05030500000200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5B53B61-64C3-6CF1-C7B7-04EA0D82DD1D}"/>
              </a:ext>
            </a:extLst>
          </p:cNvPr>
          <p:cNvGrpSpPr/>
          <p:nvPr/>
        </p:nvGrpSpPr>
        <p:grpSpPr>
          <a:xfrm>
            <a:off x="6169152" y="270357"/>
            <a:ext cx="5946648" cy="2808924"/>
            <a:chOff x="624078" y="270357"/>
            <a:chExt cx="5869258" cy="280892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A4D673-2AFB-8626-2E84-D6A4F1C1E624}"/>
                </a:ext>
              </a:extLst>
            </p:cNvPr>
            <p:cNvSpPr txBox="1"/>
            <p:nvPr/>
          </p:nvSpPr>
          <p:spPr>
            <a:xfrm>
              <a:off x="624078" y="1369582"/>
              <a:ext cx="5869258" cy="17096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Today you learned:</a:t>
              </a:r>
            </a:p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latin typeface="Fira Sans" panose="020B0503050000020004" pitchFamily="34" charset="0"/>
                </a:rPr>
                <a:t>Apply full workflow to real or internal dataset</a:t>
              </a:r>
            </a:p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latin typeface="Fira Sans" panose="020B0503050000020004" pitchFamily="34" charset="0"/>
                </a:rPr>
                <a:t>Interpret results in biological context</a:t>
              </a:r>
            </a:p>
            <a:p>
              <a:pPr>
                <a:lnSpc>
                  <a:spcPct val="150000"/>
                </a:lnSpc>
              </a:pPr>
              <a:r>
                <a:rPr lang="en-GB" dirty="0">
                  <a:latin typeface="Fira Sans" panose="020B0503050000020004" pitchFamily="34" charset="0"/>
                </a:rPr>
                <a:t>✓ </a:t>
              </a:r>
              <a:r>
                <a:rPr lang="en-US" dirty="0">
                  <a:latin typeface="Fira Sans" panose="020B0503050000020004" pitchFamily="34" charset="0"/>
                </a:rPr>
                <a:t>Troubleshoot and discuss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FB6393-4146-87E5-C61E-159BF2FED89A}"/>
                </a:ext>
              </a:extLst>
            </p:cNvPr>
            <p:cNvSpPr txBox="1"/>
            <p:nvPr/>
          </p:nvSpPr>
          <p:spPr>
            <a:xfrm>
              <a:off x="624078" y="270357"/>
              <a:ext cx="5154930" cy="6722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50000"/>
                </a:lnSpc>
                <a:buNone/>
              </a:pP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B0503050000020004" pitchFamily="34" charset="0"/>
                </a:rPr>
                <a:t>Day </a:t>
              </a:r>
              <a:r>
                <a:rPr lang="en-US" sz="2800" dirty="0">
                  <a:solidFill>
                    <a:srgbClr val="1A292C"/>
                  </a:solidFill>
                  <a:latin typeface="Fira Sans" panose="020B0503050000020004" pitchFamily="34" charset="0"/>
                </a:rPr>
                <a:t>5</a:t>
              </a:r>
              <a:r>
                <a:rPr lang="en-US" sz="2800" b="0" i="0" dirty="0">
                  <a:solidFill>
                    <a:srgbClr val="1A292C"/>
                  </a:solidFill>
                  <a:effectLst/>
                  <a:latin typeface="Fira Sans" panose="020B0503050000020004" pitchFamily="34" charset="0"/>
                </a:rPr>
                <a:t> Summary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768607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1689</Words>
  <Application>Microsoft Office PowerPoint</Application>
  <PresentationFormat>Widescreen</PresentationFormat>
  <Paragraphs>192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Fira Sans</vt:lpstr>
      <vt:lpstr>Wingdings</vt:lpstr>
      <vt:lpstr>Custom Design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Dany MUKESHA</dc:creator>
  <cp:lastModifiedBy>Kabandana Dany Mukesha</cp:lastModifiedBy>
  <cp:revision>51</cp:revision>
  <dcterms:created xsi:type="dcterms:W3CDTF">2025-10-20T08:43:40Z</dcterms:created>
  <dcterms:modified xsi:type="dcterms:W3CDTF">2025-11-20T15:20:40Z</dcterms:modified>
</cp:coreProperties>
</file>